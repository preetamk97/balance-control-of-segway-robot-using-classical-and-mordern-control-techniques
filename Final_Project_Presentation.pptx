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78" r:id="rId4"/>
    <p:sldId id="260" r:id="rId5"/>
    <p:sldId id="261" r:id="rId6"/>
    <p:sldId id="262" r:id="rId7"/>
    <p:sldId id="279" r:id="rId8"/>
    <p:sldId id="280" r:id="rId9"/>
    <p:sldId id="281" r:id="rId10"/>
    <p:sldId id="277" r:id="rId11"/>
    <p:sldId id="263" r:id="rId12"/>
    <p:sldId id="275" r:id="rId13"/>
    <p:sldId id="266" r:id="rId14"/>
    <p:sldId id="267" r:id="rId15"/>
    <p:sldId id="269" r:id="rId16"/>
    <p:sldId id="273" r:id="rId17"/>
    <p:sldId id="282" r:id="rId18"/>
    <p:sldId id="283" r:id="rId19"/>
    <p:sldId id="284" r:id="rId20"/>
    <p:sldId id="285" r:id="rId21"/>
    <p:sldId id="286" r:id="rId22"/>
    <p:sldId id="289" r:id="rId23"/>
    <p:sldId id="287" r:id="rId24"/>
    <p:sldId id="288" r:id="rId25"/>
    <p:sldId id="290" r:id="rId26"/>
    <p:sldId id="291" r:id="rId27"/>
    <p:sldId id="292" r:id="rId28"/>
    <p:sldId id="293" r:id="rId29"/>
    <p:sldId id="294" r:id="rId30"/>
    <p:sldId id="295" r:id="rId31"/>
    <p:sldId id="270" r:id="rId32"/>
    <p:sldId id="271" r:id="rId33"/>
    <p:sldId id="274" r:id="rId34"/>
    <p:sldId id="297" r:id="rId35"/>
    <p:sldId id="298" r:id="rId36"/>
    <p:sldId id="296" r:id="rId37"/>
    <p:sldId id="299" r:id="rId38"/>
    <p:sldId id="300" r:id="rId39"/>
    <p:sldId id="301" r:id="rId40"/>
    <p:sldId id="302" r:id="rId41"/>
    <p:sldId id="276" r:id="rId42"/>
    <p:sldId id="272" r:id="rId4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d5A+X196eC+JK+21E4LotMuD5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aa9b09be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5aa9b09be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5E98E3A-7347-A331-6274-CC2D620C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F6D34642-54F4-358B-7CEF-0884E78DF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3C8C16FF-5E90-1D53-6310-397FA2C98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572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51721B-35FE-55F0-B34D-7C49C398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95DB54DC-BBC6-AD9E-4B0E-D1C5FCD2A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5DF033E7-6C98-0E6D-6EB6-080972CF0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45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9F58611-3C3C-F1A4-FEF7-A9C1202D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FD5B7BF4-9C6B-4D1B-383F-9C187CD68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2851DA0F-4B5E-CD2F-4872-8AA5DAA35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296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7A4846-65D8-BCDE-9B31-AFB6BA83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959D1AD-2349-2CD2-03E1-37D20C261A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CE6F36F-B559-AF96-FB5C-C260698B3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748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FB7C04B-F204-2F39-BFAB-4FEC31E4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8BC3C727-FB50-B7C5-3C08-94CA40693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6B686E1-9016-2877-6658-4A6A71650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95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8809174-E145-0B82-0C4A-E4699DD2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47C195BE-BEB4-0355-0370-7B02D49A1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7A2FD5AF-0938-F118-A5C5-76F56AD58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48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64B74C7-4001-CF57-2A0C-617AEBC3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C6CA8945-8A74-40FA-188D-74FB68D0F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780A2D3-E9AB-753E-DBC3-84D625A41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06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D4F60B4-1553-B65C-1563-A9AB6205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7C57B770-FFC5-37D7-F780-81E2E2B23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DAFB1B28-0B0E-7311-6813-3F54EEA69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51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094F83-F489-5F3A-B6BD-4F0445C9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10080DBC-9CD8-C061-19A7-EFABE2E47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E2D6A3A-49FB-4D00-2F1C-F1FB6C4BB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7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850BB4-E413-F92A-8219-99FEF5B4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EFDF3191-1D71-7207-6529-579B8951C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50E0B4A-5E83-E4F7-BFBB-7F9C8D689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803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359AD7-F080-3FDC-0467-B68A7EB8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D0FF8D55-E5BE-3B3B-77E3-6AA0B9CDB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3BDF48C-B333-E714-934A-3655D4253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39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5A995C-0311-F72B-C2E5-328F369B9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76B9A733-3B92-8D13-9D44-D2A395999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6FA93346-F042-9337-C56A-EC89BC156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861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E217A7-4293-B37B-FD43-BE7CCCB2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E5BDE908-AAB7-93FA-097E-EEB98B5EA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4EA49BE4-AA46-C817-78C9-23AE78015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94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F8CEC1-C585-D3A5-3970-D765FA15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ABA6AD1D-A089-114F-402D-CFAEF4A8A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A4A0763-08E2-701E-4D7C-5949069BD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517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5B44596-8FAE-8E72-24D5-D4F37FF9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BE0CF8F8-46C2-753F-EE4F-44BF1200E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D02A787C-0E7C-99EB-3956-6168805E6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996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4E000B-463F-0C0F-B65A-AE8B28AD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0E1521F5-6219-29D9-8A20-F92A131C1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00E20ED-58E5-1FC8-4C70-0FAF1C8C7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51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451AA6F-ACB4-0986-2522-1541C41DF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E3A66505-D87C-621C-4B34-35446838E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E2C5253C-6C9A-EBB5-C4A8-27343894C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83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7FC1626-1BA0-0C18-9919-D23487F0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035EB2A4-37B6-8D08-3AEB-1075E662D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62D5BC9F-7953-4ED7-A60F-29B857B4CA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297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99B8272-1844-BB66-AC4D-A0712CF9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790A821B-9CE7-527B-1992-9CC68A992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954E641-33E5-0091-4ED3-DEC7A02D5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446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4F2929C-3123-EE29-597C-ADA47160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C6263F4E-128E-872F-41A3-ABCD08B6C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85FEE5E9-297E-327E-7253-D606F55CB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345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EB3CA2-5268-DBE8-57BE-23BE9C6D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2868137-02E8-4E90-090C-5A2F3FE89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03CD8A8-9313-0E41-E6A2-4080DC50D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409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06CB40D-2624-DDB5-BF55-B6B56929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6523B1AC-800A-18FE-EF3C-1A3887EE3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A64CE1BF-9021-66DE-6DFA-9E375DDD2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2644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BEC192E-E317-AA1B-0462-E9463DA0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AED7058-5CFF-81CB-2C73-340B2D491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6B4E43CE-05C3-6E32-9DAC-C391035FC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4464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AABBE1E-3C89-D4EC-3CA0-125483F5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22C50271-B257-CA45-4A17-C12B6D7CD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AFA5CA88-1890-082D-00F2-3EED8D0C6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0718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A2D34FE-AD89-687F-C39B-3971471E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6133450B-B55E-4E82-904D-CF313B5FB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D3E4E56-852F-AB00-262F-51AA5DE98A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49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DF1797D-0F25-8E6D-CB24-432EBF33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DE6190CB-6E61-EF63-865C-DCC9E7094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79B00D3E-1471-BA40-AD93-D090367C3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9501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9D70AE5-3A97-3E66-A198-F7A6D3E8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156E2DD3-C4D9-3145-A83D-6021B4BD5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CBAD868-68BD-3DB7-F891-D94DAD3972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9265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9C6E537-778C-70CD-C517-1D5B69A0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7A7CEAA3-2A42-FF4C-1B59-E64258996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A166B115-6281-4E73-733C-5D1E6D6897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849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AD87D4-720B-11B6-7A0E-7FB06508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0839B93-868D-A6B2-8D0C-E39FBC1F3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4622F6C-FB1F-A6E9-C488-AE3570D68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47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nstructables.com/Self-Balancing-Robot-Using-Arduino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6.png"/><Relationship Id="rId10" Type="http://schemas.openxmlformats.org/officeDocument/2006/relationships/hyperlink" Target="https://www.youtube.com/watch?v=nOHky2f58ME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gif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5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11.png"/><Relationship Id="rId10" Type="http://schemas.openxmlformats.org/officeDocument/2006/relationships/image" Target="../media/image27.png"/><Relationship Id="rId4" Type="http://schemas.openxmlformats.org/officeDocument/2006/relationships/image" Target="../media/image5.gif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8.png"/><Relationship Id="rId5" Type="http://schemas.openxmlformats.org/officeDocument/2006/relationships/image" Target="../media/image11.png"/><Relationship Id="rId10" Type="http://schemas.openxmlformats.org/officeDocument/2006/relationships/image" Target="../media/image39.png"/><Relationship Id="rId4" Type="http://schemas.openxmlformats.org/officeDocument/2006/relationships/image" Target="../media/image5.gif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jp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5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gif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jp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.gif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7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5.gif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2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jp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5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838200" y="3524250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389175" y="334099"/>
            <a:ext cx="9283800" cy="172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US" sz="3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Optimal Control of a Two-Wheeled Self-Balancing Robot Using LQR and Multi-Objective Genetic Algorithm</a:t>
            </a:r>
            <a:r>
              <a:rPr lang="en-US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745989" y="2114965"/>
            <a:ext cx="8926986" cy="98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(In Submission for Endsemester Research Project Evaluation)</a:t>
            </a:r>
            <a:endParaRPr sz="2600" i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508750" y="2910672"/>
            <a:ext cx="71745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 :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Pritam Ranjan Kalita</a:t>
            </a:r>
          </a:p>
          <a:p>
            <a:pPr lvl="0" algn="ctr"/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MTech Robotics Engineering (3</a:t>
            </a:r>
            <a:r>
              <a:rPr lang="en-IN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Semester)</a:t>
            </a:r>
          </a:p>
          <a:p>
            <a:pPr lvl="0" algn="ctr"/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Advanced Engineering</a:t>
            </a:r>
          </a:p>
        </p:txBody>
      </p:sp>
      <p:sp>
        <p:nvSpPr>
          <p:cNvPr id="97" name="Google Shape;97;p2"/>
          <p:cNvSpPr txBox="1"/>
          <p:nvPr/>
        </p:nvSpPr>
        <p:spPr>
          <a:xfrm>
            <a:off x="3121200" y="4419574"/>
            <a:ext cx="5949600" cy="1405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Supervisor: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Rahul Singhal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Electrical Cluster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Advanced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5aa9b09be0_0_4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79CC6FA-0103-6416-A5D1-269D95E3A75F}"/>
              </a:ext>
            </a:extLst>
          </p:cNvPr>
          <p:cNvGrpSpPr/>
          <p:nvPr/>
        </p:nvGrpSpPr>
        <p:grpSpPr>
          <a:xfrm>
            <a:off x="399268" y="727288"/>
            <a:ext cx="4694887" cy="5140945"/>
            <a:chOff x="76540" y="727288"/>
            <a:chExt cx="4694887" cy="514094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4AB6557-2331-6201-D5C9-F2773ED1B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6" t="1435" r="-2356" b="-1435"/>
            <a:stretch>
              <a:fillRect/>
            </a:stretch>
          </p:blipFill>
          <p:spPr>
            <a:xfrm>
              <a:off x="76540" y="727288"/>
              <a:ext cx="4694887" cy="412528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E456932-0C85-0D53-BFDA-DBAB593778A9}"/>
                </a:ext>
              </a:extLst>
            </p:cNvPr>
            <p:cNvSpPr txBox="1"/>
            <p:nvPr/>
          </p:nvSpPr>
          <p:spPr>
            <a:xfrm>
              <a:off x="397578" y="4852570"/>
              <a:ext cx="405280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Figure 1. A self-balancing Segway robot</a:t>
              </a:r>
              <a:r>
                <a:rPr lang="en-US" sz="1200" i="1" dirty="0"/>
                <a:t>. Adapted from "Self-Balancing Robot Using Arduino" by My Tech Studio, Instructables. Retrieved from </a:t>
              </a:r>
              <a:r>
                <a:rPr lang="en-US" sz="1200" b="1" i="1" dirty="0">
                  <a:hlinkClick r:id="rId5"/>
                </a:rPr>
                <a:t>https://www.instructables.com/Self-Balancing-Robot-Using-Arduino/</a:t>
              </a:r>
              <a:r>
                <a:rPr lang="en-US" sz="1200" i="1" dirty="0"/>
                <a:t>. Copyright by Instructables.</a:t>
              </a:r>
              <a:endParaRPr lang="en-IN" sz="1100" dirty="0"/>
            </a:p>
          </p:txBody>
        </p:sp>
      </p:grpSp>
      <p:sp>
        <p:nvSpPr>
          <p:cNvPr id="103" name="Google Shape;103;g35aa9b09be0_0_4"/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5aa9b09be0_0_4"/>
          <p:cNvSpPr txBox="1"/>
          <p:nvPr/>
        </p:nvSpPr>
        <p:spPr>
          <a:xfrm>
            <a:off x="4081429" y="95000"/>
            <a:ext cx="4029141" cy="6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3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2D61A-EC91-6A3F-4797-D24DA640B93F}"/>
              </a:ext>
            </a:extLst>
          </p:cNvPr>
          <p:cNvSpPr txBox="1"/>
          <p:nvPr/>
        </p:nvSpPr>
        <p:spPr>
          <a:xfrm>
            <a:off x="5094153" y="1066918"/>
            <a:ext cx="67689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Self Balancing Segway Robot </a:t>
            </a:r>
            <a:r>
              <a:rPr lang="en-US" sz="2000" dirty="0"/>
              <a:t>is inspired from the </a:t>
            </a:r>
            <a:r>
              <a:rPr lang="en-US" sz="2000" b="1" dirty="0"/>
              <a:t>Cart &amp; Inverted Pendulum (CIP)</a:t>
            </a:r>
            <a:r>
              <a:rPr lang="en-US" sz="2000" dirty="0"/>
              <a:t> model which is a classical problem studied in Control Engineering. The operational principles of CIP model also used in designing of </a:t>
            </a:r>
            <a:r>
              <a:rPr lang="en-US" sz="2000" b="1" dirty="0"/>
              <a:t>self-balancing hoverboards</a:t>
            </a:r>
            <a:r>
              <a:rPr lang="en-US" sz="2000" dirty="0"/>
              <a:t>, </a:t>
            </a:r>
            <a:r>
              <a:rPr lang="en-US" sz="2000" b="1" dirty="0"/>
              <a:t>Humanoid and Bipedal Robots</a:t>
            </a:r>
            <a:r>
              <a:rPr lang="en-US" sz="2000" dirty="0"/>
              <a:t>, </a:t>
            </a:r>
            <a:r>
              <a:rPr lang="en-US" sz="2000" b="1" dirty="0"/>
              <a:t>Rocket and Missile Guidance systems</a:t>
            </a:r>
            <a:r>
              <a:rPr lang="en-US" sz="2000" dirty="0"/>
              <a:t>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Segway-type robots </a:t>
            </a:r>
            <a:r>
              <a:rPr lang="en-US" sz="2000" dirty="0"/>
              <a:t>serve as a </a:t>
            </a:r>
            <a:r>
              <a:rPr lang="en-US" sz="2000" b="1" dirty="0"/>
              <a:t>platform</a:t>
            </a:r>
            <a:r>
              <a:rPr lang="en-US" sz="2000" dirty="0"/>
              <a:t> for </a:t>
            </a:r>
            <a:r>
              <a:rPr lang="en-US" sz="2000" b="1" dirty="0"/>
              <a:t>testing innovative control strategies</a:t>
            </a:r>
            <a:r>
              <a:rPr lang="en-US" sz="2000" dirty="0"/>
              <a:t> that can be then extended to more complex robotic systems and autonomous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5999C84-9C92-B681-01AA-2BC05D3B7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5BCFDDEC-69BC-8A42-4A95-BC1F1FF88A39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0" b="18005"/>
          <a:stretch>
            <a:fillRect/>
          </a:stretch>
        </p:blipFill>
        <p:spPr>
          <a:xfrm>
            <a:off x="0" y="1199"/>
            <a:ext cx="12192000" cy="68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0BF06F83-98A7-41AC-A519-69254D1F11A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0AB94A24-EB5E-674A-3AFB-80AFD98B49F7}"/>
              </a:ext>
            </a:extLst>
          </p:cNvPr>
          <p:cNvSpPr txBox="1"/>
          <p:nvPr/>
        </p:nvSpPr>
        <p:spPr>
          <a:xfrm>
            <a:off x="4512108" y="107698"/>
            <a:ext cx="353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44DE5-0EDD-2B9B-D078-E5958E27F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283476"/>
              </p:ext>
            </p:extLst>
          </p:nvPr>
        </p:nvGraphicFramePr>
        <p:xfrm>
          <a:off x="504720" y="934524"/>
          <a:ext cx="11546376" cy="55487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90">
                  <a:extLst>
                    <a:ext uri="{9D8B030D-6E8A-4147-A177-3AD203B41FA5}">
                      <a16:colId xmlns:a16="http://schemas.microsoft.com/office/drawing/2014/main" val="640866830"/>
                    </a:ext>
                  </a:extLst>
                </a:gridCol>
                <a:gridCol w="1712792">
                  <a:extLst>
                    <a:ext uri="{9D8B030D-6E8A-4147-A177-3AD203B41FA5}">
                      <a16:colId xmlns:a16="http://schemas.microsoft.com/office/drawing/2014/main" val="775391915"/>
                    </a:ext>
                  </a:extLst>
                </a:gridCol>
                <a:gridCol w="881340">
                  <a:extLst>
                    <a:ext uri="{9D8B030D-6E8A-4147-A177-3AD203B41FA5}">
                      <a16:colId xmlns:a16="http://schemas.microsoft.com/office/drawing/2014/main" val="585567452"/>
                    </a:ext>
                  </a:extLst>
                </a:gridCol>
                <a:gridCol w="8230454">
                  <a:extLst>
                    <a:ext uri="{9D8B030D-6E8A-4147-A177-3AD203B41FA5}">
                      <a16:colId xmlns:a16="http://schemas.microsoft.com/office/drawing/2014/main" val="2398190136"/>
                    </a:ext>
                  </a:extLst>
                </a:gridCol>
              </a:tblGrid>
              <a:tr h="41673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Sl. No</a:t>
                      </a:r>
                      <a:endParaRPr lang="en-IN" sz="1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Authors</a:t>
                      </a:r>
                      <a:endParaRPr lang="en-IN" sz="1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Year</a:t>
                      </a:r>
                      <a:endParaRPr lang="en-IN" sz="1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Remarks</a:t>
                      </a:r>
                      <a:endParaRPr lang="en-IN" sz="1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88797"/>
                  </a:ext>
                </a:extLst>
              </a:tr>
              <a:tr h="517315">
                <a:tc>
                  <a:txBody>
                    <a:bodyPr/>
                    <a:lstStyle/>
                    <a:p>
                      <a:r>
                        <a:rPr lang="en-US" sz="1500" dirty="0"/>
                        <a:t>[1]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Mudeng et al.</a:t>
                      </a:r>
                      <a:endParaRPr lang="en-IN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2020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PID controller 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design and simulation for two-wheeled balancing robot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Used </a:t>
                      </a:r>
                      <a:r>
                        <a:rPr lang="en-US" sz="1500" b="1" dirty="0"/>
                        <a:t>Ziegler–Nichol’s</a:t>
                      </a:r>
                      <a:r>
                        <a:rPr lang="en-US" sz="1500" dirty="0"/>
                        <a:t> method for tuning the PID gains.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500099"/>
                  </a:ext>
                </a:extLst>
              </a:tr>
              <a:tr h="377134">
                <a:tc>
                  <a:txBody>
                    <a:bodyPr/>
                    <a:lstStyle/>
                    <a:p>
                      <a:r>
                        <a:rPr lang="en-US" sz="1500" dirty="0"/>
                        <a:t>[2]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Putra et al.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2025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LQR controller </a:t>
                      </a:r>
                      <a:r>
                        <a:rPr lang="en-IN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implementation 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for two-wheeled balancing robot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365965"/>
                  </a:ext>
                </a:extLst>
              </a:tr>
              <a:tr h="765693">
                <a:tc>
                  <a:txBody>
                    <a:bodyPr/>
                    <a:lstStyle/>
                    <a:p>
                      <a:r>
                        <a:rPr lang="en-US" sz="1500" dirty="0"/>
                        <a:t>[3]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0" dirty="0"/>
                        <a:t>Mohammed and Abdulla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2020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LQR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gains optimization using </a:t>
                      </a: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Genetic Algorithm 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and </a:t>
                      </a: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Bacteria Foraging Optimization 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Algorithm.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Comparison revealed that the BFOA-LQR controller is faster and a more stable balancing system for the Segway vehicle.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050881"/>
                  </a:ext>
                </a:extLst>
              </a:tr>
              <a:tr h="517315">
                <a:tc>
                  <a:txBody>
                    <a:bodyPr/>
                    <a:lstStyle/>
                    <a:p>
                      <a:r>
                        <a:rPr lang="en-US" sz="1500" dirty="0"/>
                        <a:t>[4]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Feriyonika &amp; Hidayat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2020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Implemented </a:t>
                      </a:r>
                      <a:r>
                        <a:rPr lang="en-IN" sz="15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LQG </a:t>
                      </a:r>
                      <a:r>
                        <a:rPr lang="en-IN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(Linear Quadratic Gaussian) control 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for two-wheeled balancing robot.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Combined  </a:t>
                      </a:r>
                      <a:r>
                        <a:rPr lang="en-IN" sz="1500" b="1" dirty="0"/>
                        <a:t>Kalman filter </a:t>
                      </a:r>
                      <a:r>
                        <a:rPr lang="en-IN" sz="1500" dirty="0"/>
                        <a:t>with </a:t>
                      </a:r>
                      <a:r>
                        <a:rPr lang="en-IN" sz="1500" b="1" dirty="0"/>
                        <a:t>Linear Quadratic Regulator (LQR) </a:t>
                      </a:r>
                      <a:r>
                        <a:rPr lang="en-IN" sz="1500" dirty="0"/>
                        <a:t>to reduce sensor noise and optimize balance performance.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2096"/>
                  </a:ext>
                </a:extLst>
              </a:tr>
              <a:tr h="495462">
                <a:tc>
                  <a:txBody>
                    <a:bodyPr/>
                    <a:lstStyle/>
                    <a:p>
                      <a:r>
                        <a:rPr lang="en-US" sz="1500" dirty="0"/>
                        <a:t>[5]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Choudhry et al.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2023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EKF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-based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Sliding Mode Controller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(ESMC) with payload estimation.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Robust control handling unknown mass (up to 200 kg)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837356"/>
                  </a:ext>
                </a:extLst>
              </a:tr>
              <a:tr h="495462">
                <a:tc>
                  <a:txBody>
                    <a:bodyPr/>
                    <a:lstStyle/>
                    <a:p>
                      <a:r>
                        <a:rPr lang="en-US" sz="1500" dirty="0"/>
                        <a:t>[6]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Burkan &amp; </a:t>
                      </a:r>
                      <a:r>
                        <a:rPr lang="en-IN" sz="15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Özgüney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2017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Applied </a:t>
                      </a:r>
                      <a:r>
                        <a:rPr lang="en-US" sz="1500" b="1" dirty="0"/>
                        <a:t>adaptive-robust</a:t>
                      </a:r>
                      <a:r>
                        <a:rPr lang="en-US" sz="1500" dirty="0"/>
                        <a:t> and </a:t>
                      </a:r>
                      <a:r>
                        <a:rPr lang="en-US" sz="1500" b="1" dirty="0"/>
                        <a:t>fuzzy logic</a:t>
                      </a:r>
                      <a:r>
                        <a:rPr lang="en-US" sz="1500" dirty="0"/>
                        <a:t> controllers for balancing a two-wheeled Segway robot.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Addresses payload variations and parameter uncertainties.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350797"/>
                  </a:ext>
                </a:extLst>
              </a:tr>
              <a:tr h="495462">
                <a:tc>
                  <a:txBody>
                    <a:bodyPr/>
                    <a:lstStyle/>
                    <a:p>
                      <a:r>
                        <a:rPr lang="en-US" sz="1500" dirty="0"/>
                        <a:t>[7]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Su et al.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2020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Suggested a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nonlinear cascade controller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 combined balance and motion control.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Behavior of the robot is estimated using a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Kalman filtering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algorithm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030186"/>
                  </a:ext>
                </a:extLst>
              </a:tr>
              <a:tr h="495462">
                <a:tc>
                  <a:txBody>
                    <a:bodyPr/>
                    <a:lstStyle/>
                    <a:p>
                      <a:r>
                        <a:rPr lang="en-US" sz="1500" dirty="0"/>
                        <a:t>[8]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dirty="0">
                          <a:effectLst/>
                        </a:rPr>
                        <a:t>Chen et al.</a:t>
                      </a:r>
                    </a:p>
                  </a:txBody>
                  <a:tcPr marL="76200" marR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2025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Self-balancing robot with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reaction wheel mechanism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Used a </a:t>
                      </a:r>
                      <a:r>
                        <a:rPr lang="en-IN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Adaptive Double-Fuzzy Anti-Integral Saturation PID </a:t>
                      </a:r>
                      <a:r>
                        <a:rPr lang="en-IN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(ADFAS-PID) for stability.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559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92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C00947-4E35-F7E4-BA2D-08680A3C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9ACF6C0-C5F6-99B7-4730-F9A5CD5884C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1200"/>
            <a:ext cx="12192000" cy="6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4E588CE5-360C-8931-FFDC-E78FF776BD7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D0421AC3-8DC5-5002-F14B-5BA353753EA0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g35aa9b09be0_0_25">
            <a:extLst>
              <a:ext uri="{FF2B5EF4-FFF2-40B4-BE49-F238E27FC236}">
                <a16:creationId xmlns:a16="http://schemas.microsoft.com/office/drawing/2014/main" id="{4D328346-EC30-B1EC-441D-D7BD9C8F2D68}"/>
              </a:ext>
            </a:extLst>
          </p:cNvPr>
          <p:cNvSpPr txBox="1"/>
          <p:nvPr/>
        </p:nvSpPr>
        <p:spPr>
          <a:xfrm>
            <a:off x="431221" y="793498"/>
            <a:ext cx="11562855" cy="498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Study the mathematical model of the Segway Self-Balancing Robot and derive the </a:t>
            </a:r>
            <a:r>
              <a:rPr lang="en-US" sz="2000" b="1" dirty="0"/>
              <a:t>Transfer function and State-Space model equations for application in design of linear controllers – PID and LQR.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Implement a PID controller for controlling the system. </a:t>
            </a:r>
            <a:r>
              <a:rPr lang="en-US" sz="2000" b="1" dirty="0"/>
              <a:t>Simulate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results using MATLAB &amp; SIMULINK.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Implement a LQR controller for controlling the system. Simulate the results using MATLAB &amp; SIMULINK.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Implement Genetic Algorithm for tunning of the LQR Controller. Simulate the results using MATLAB &amp; SIMULINK.</a:t>
            </a:r>
          </a:p>
        </p:txBody>
      </p:sp>
    </p:spTree>
    <p:extLst>
      <p:ext uri="{BB962C8B-B14F-4D97-AF65-F5344CB8AC3E}">
        <p14:creationId xmlns:p14="http://schemas.microsoft.com/office/powerpoint/2010/main" val="139342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DAC01DF-35F4-0D20-050A-68CBB6FB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198F001-0DCB-E1CA-EB0F-224AB5567B4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1200"/>
            <a:ext cx="12192000" cy="6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A6C7681A-1A66-91FB-F316-32BBA13722DC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795E3A47-C789-4111-7612-DF66B12B69CA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751DD811-8E60-53B2-30A7-E9A4FB0E9BFE}"/>
              </a:ext>
            </a:extLst>
          </p:cNvPr>
          <p:cNvSpPr txBox="1"/>
          <p:nvPr/>
        </p:nvSpPr>
        <p:spPr>
          <a:xfrm>
            <a:off x="388293" y="675588"/>
            <a:ext cx="3286584" cy="511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Model Specifications :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4108DC-E88D-210A-6509-496992BE74EB}"/>
              </a:ext>
            </a:extLst>
          </p:cNvPr>
          <p:cNvGrpSpPr/>
          <p:nvPr/>
        </p:nvGrpSpPr>
        <p:grpSpPr>
          <a:xfrm>
            <a:off x="484692" y="1300074"/>
            <a:ext cx="4052809" cy="4752827"/>
            <a:chOff x="484692" y="1300074"/>
            <a:chExt cx="4052809" cy="47528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30FDF7-5F73-3549-0729-0A2754FBB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160" y="1300074"/>
              <a:ext cx="3569781" cy="425785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61A77AC-AA1A-6FCF-BBD3-CDBA46C7D682}"/>
                </a:ext>
              </a:extLst>
            </p:cNvPr>
            <p:cNvSpPr txBox="1"/>
            <p:nvPr/>
          </p:nvSpPr>
          <p:spPr>
            <a:xfrm>
              <a:off x="484692" y="5591236"/>
              <a:ext cx="40528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Figure 2. Model of the Self-Balancing Segway Robot as simulated in MATLAB-Simulink </a:t>
              </a:r>
              <a:endParaRPr lang="en-IN" sz="1100" b="1" dirty="0"/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057D64-0511-4289-596F-F98C55B45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16248"/>
              </p:ext>
            </p:extLst>
          </p:nvPr>
        </p:nvGraphicFramePr>
        <p:xfrm>
          <a:off x="4537501" y="1638463"/>
          <a:ext cx="6362626" cy="3319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6605">
                  <a:extLst>
                    <a:ext uri="{9D8B030D-6E8A-4147-A177-3AD203B41FA5}">
                      <a16:colId xmlns:a16="http://schemas.microsoft.com/office/drawing/2014/main" val="4053519062"/>
                    </a:ext>
                  </a:extLst>
                </a:gridCol>
                <a:gridCol w="1776021">
                  <a:extLst>
                    <a:ext uri="{9D8B030D-6E8A-4147-A177-3AD203B41FA5}">
                      <a16:colId xmlns:a16="http://schemas.microsoft.com/office/drawing/2014/main" val="1978569836"/>
                    </a:ext>
                  </a:extLst>
                </a:gridCol>
              </a:tblGrid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each plate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030629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Dimensions of each plate (cm)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 x 8 x 0.3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499952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each corner support rod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59129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Radius of each corner support rod (mm)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242528"/>
                  </a:ext>
                </a:extLst>
              </a:tr>
              <a:tr h="1373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Height of each corner support rod (cm)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178059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Dimensions of connecting rod between the wheels (cm)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x 1 x 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860708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connecting rod between the wheels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85081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Radius of each wheel (m)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72148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each wheel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02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031C5D-D51E-A743-9A7A-42FA9213D0D2}"/>
              </a:ext>
            </a:extLst>
          </p:cNvPr>
          <p:cNvSpPr txBox="1"/>
          <p:nvPr/>
        </p:nvSpPr>
        <p:spPr>
          <a:xfrm>
            <a:off x="4418593" y="5096261"/>
            <a:ext cx="6481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Table 1. Some Model Specifications of the Segway Robot as simulated in MATLAB-Simulink 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2765673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7ACB03E-8EB7-E9E9-4134-1260422C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5ABD1E6-AAC0-18D5-1B9D-B91891359465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0451FFC1-CD30-3FD6-9EAF-9D3BB50375AD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A108B7A-ACA6-242D-E44B-0DD51DEC97A8}"/>
              </a:ext>
            </a:extLst>
          </p:cNvPr>
          <p:cNvSpPr txBox="1"/>
          <p:nvPr/>
        </p:nvSpPr>
        <p:spPr>
          <a:xfrm>
            <a:off x="417257" y="793498"/>
            <a:ext cx="9789061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of Segway Robot: Defining Some Constants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5100A9-52B7-4BAD-F800-8436C90AE8DA}"/>
              </a:ext>
            </a:extLst>
          </p:cNvPr>
          <p:cNvGrpSpPr/>
          <p:nvPr/>
        </p:nvGrpSpPr>
        <p:grpSpPr>
          <a:xfrm>
            <a:off x="579695" y="1642527"/>
            <a:ext cx="4882716" cy="4284340"/>
            <a:chOff x="579695" y="1642527"/>
            <a:chExt cx="4882716" cy="4284340"/>
          </a:xfrm>
        </p:grpSpPr>
        <p:sp>
          <p:nvSpPr>
            <p:cNvPr id="111" name="Google Shape;111;g35aa9b09be0_0_25">
              <a:extLst>
                <a:ext uri="{FF2B5EF4-FFF2-40B4-BE49-F238E27FC236}">
                  <a16:creationId xmlns:a16="http://schemas.microsoft.com/office/drawing/2014/main" id="{DD7ADF7C-E0AF-F81B-6B1F-EBE594E2C5B9}"/>
                </a:ext>
              </a:extLst>
            </p:cNvPr>
            <p:cNvSpPr txBox="1"/>
            <p:nvPr/>
          </p:nvSpPr>
          <p:spPr>
            <a:xfrm>
              <a:off x="838200" y="3524250"/>
              <a:ext cx="196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343EDE0-FB2F-C15D-35E8-983381046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165" y="1763401"/>
              <a:ext cx="4152669" cy="274922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BDC3E4-9392-A05E-4E13-ED860C4BAFDC}"/>
                </a:ext>
              </a:extLst>
            </p:cNvPr>
            <p:cNvSpPr txBox="1"/>
            <p:nvPr/>
          </p:nvSpPr>
          <p:spPr>
            <a:xfrm>
              <a:off x="579695" y="4911204"/>
              <a:ext cx="429713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b="1" i="1" dirty="0"/>
                <a:t>Figure 3. Simplified Model of the Self-Balancing Segway Robot used for Mathematical Analysis</a:t>
              </a:r>
            </a:p>
            <a:p>
              <a:pPr algn="just"/>
              <a:r>
                <a:rPr lang="en-US" sz="1200" i="1" dirty="0"/>
                <a:t>Source: [4] Feriyonika, F. &amp; Hidayat, A. (2020). Balancing Control of Two-Wheeled Robot by Using Linear Quadratic Gaussian (LQG).</a:t>
              </a:r>
              <a:endParaRPr lang="en-IN" sz="105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418246F-1E66-34C9-54FE-396B9B6E2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3865" y="1822776"/>
              <a:ext cx="0" cy="201295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CF00157-890C-FFC8-B2B9-650C0335AF00}"/>
                </a:ext>
              </a:extLst>
            </p:cNvPr>
            <p:cNvSpPr/>
            <p:nvPr/>
          </p:nvSpPr>
          <p:spPr>
            <a:xfrm rot="20483349">
              <a:off x="3840432" y="2207027"/>
              <a:ext cx="914400" cy="914400"/>
            </a:xfrm>
            <a:prstGeom prst="arc">
              <a:avLst>
                <a:gd name="adj1" fmla="val 16730062"/>
                <a:gd name="adj2" fmla="val 191558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7B72DA4-38D8-FD44-BFDD-658DB7890CD8}"/>
                </a:ext>
              </a:extLst>
            </p:cNvPr>
            <p:cNvSpPr/>
            <p:nvPr/>
          </p:nvSpPr>
          <p:spPr>
            <a:xfrm flipH="1">
              <a:off x="4132613" y="3739076"/>
              <a:ext cx="142503" cy="1389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C92D1D-0581-531F-C8E7-8FCE660898A5}"/>
                </a:ext>
              </a:extLst>
            </p:cNvPr>
            <p:cNvSpPr txBox="1"/>
            <p:nvPr/>
          </p:nvSpPr>
          <p:spPr>
            <a:xfrm>
              <a:off x="4202510" y="1916611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θ</a:t>
              </a:r>
              <a:r>
                <a:rPr lang="en-US" dirty="0"/>
                <a:t>c</a:t>
              </a:r>
              <a:endParaRPr lang="en-IN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532C3A9-AE69-F555-D72C-76385CFB30E1}"/>
                </a:ext>
              </a:extLst>
            </p:cNvPr>
            <p:cNvSpPr/>
            <p:nvPr/>
          </p:nvSpPr>
          <p:spPr>
            <a:xfrm>
              <a:off x="4540350" y="1815584"/>
              <a:ext cx="388914" cy="3077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ABCA48-2BEC-E378-00DF-E3662525C9FA}"/>
                </a:ext>
              </a:extLst>
            </p:cNvPr>
            <p:cNvSpPr txBox="1"/>
            <p:nvPr/>
          </p:nvSpPr>
          <p:spPr>
            <a:xfrm>
              <a:off x="4824402" y="1642527"/>
              <a:ext cx="6030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COM</a:t>
              </a:r>
              <a:endParaRPr lang="en-IN" b="1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B4FDF0-5141-55FB-F684-67E11E1EF78C}"/>
                </a:ext>
              </a:extLst>
            </p:cNvPr>
            <p:cNvGrpSpPr/>
            <p:nvPr/>
          </p:nvGrpSpPr>
          <p:grpSpPr>
            <a:xfrm>
              <a:off x="2970145" y="3016321"/>
              <a:ext cx="707290" cy="846467"/>
              <a:chOff x="2970145" y="3016321"/>
              <a:chExt cx="707290" cy="846467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C76963A-CBD2-7222-8B75-D50554C94AC5}"/>
                  </a:ext>
                </a:extLst>
              </p:cNvPr>
              <p:cNvGrpSpPr/>
              <p:nvPr/>
            </p:nvGrpSpPr>
            <p:grpSpPr>
              <a:xfrm>
                <a:off x="3012187" y="3217391"/>
                <a:ext cx="665248" cy="613718"/>
                <a:chOff x="724165" y="3708900"/>
                <a:chExt cx="665248" cy="613718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C68F3A03-07B9-CA12-AA11-14892AFFC4CD}"/>
                    </a:ext>
                  </a:extLst>
                </p:cNvPr>
                <p:cNvCxnSpPr/>
                <p:nvPr/>
              </p:nvCxnSpPr>
              <p:spPr>
                <a:xfrm flipV="1">
                  <a:off x="724165" y="3708900"/>
                  <a:ext cx="0" cy="613718"/>
                </a:xfrm>
                <a:prstGeom prst="straightConnector1">
                  <a:avLst/>
                </a:prstGeom>
                <a:ln w="28575"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A96FC9C0-0504-85CB-198E-3D1E2B26E720}"/>
                    </a:ext>
                  </a:extLst>
                </p:cNvPr>
                <p:cNvCxnSpPr/>
                <p:nvPr/>
              </p:nvCxnSpPr>
              <p:spPr>
                <a:xfrm>
                  <a:off x="724165" y="4322618"/>
                  <a:ext cx="665248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FC86A95-6A63-F770-FF0A-75D84C5EFA65}"/>
                  </a:ext>
                </a:extLst>
              </p:cNvPr>
              <p:cNvSpPr txBox="1"/>
              <p:nvPr/>
            </p:nvSpPr>
            <p:spPr>
              <a:xfrm>
                <a:off x="3372219" y="3555011"/>
                <a:ext cx="304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DCB8A3-F2BC-9167-C739-DDCC1763BE21}"/>
                  </a:ext>
                </a:extLst>
              </p:cNvPr>
              <p:cNvSpPr txBox="1"/>
              <p:nvPr/>
            </p:nvSpPr>
            <p:spPr>
              <a:xfrm>
                <a:off x="2970145" y="3016321"/>
                <a:ext cx="304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  <a:endParaRPr lang="en-IN" dirty="0"/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1A9F40E-B205-04C0-AE25-1C59E35C26DE}"/>
                </a:ext>
              </a:extLst>
            </p:cNvPr>
            <p:cNvCxnSpPr>
              <a:cxnSpLocks/>
            </p:cNvCxnSpPr>
            <p:nvPr/>
          </p:nvCxnSpPr>
          <p:spPr>
            <a:xfrm>
              <a:off x="4203864" y="3808551"/>
              <a:ext cx="725400" cy="23915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D7AEAB-1423-2984-71A7-57BFEFAB60D2}"/>
                </a:ext>
              </a:extLst>
            </p:cNvPr>
            <p:cNvCxnSpPr>
              <a:cxnSpLocks/>
            </p:cNvCxnSpPr>
            <p:nvPr/>
          </p:nvCxnSpPr>
          <p:spPr>
            <a:xfrm>
              <a:off x="4708380" y="1953678"/>
              <a:ext cx="754031" cy="22068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B287410-0FED-6393-EE24-823FED5C3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0552" y="2126735"/>
              <a:ext cx="559674" cy="188275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42D20F4-0C25-6B0B-D381-19264B2D7B7D}"/>
              </a:ext>
            </a:extLst>
          </p:cNvPr>
          <p:cNvSpPr txBox="1"/>
          <p:nvPr/>
        </p:nvSpPr>
        <p:spPr>
          <a:xfrm>
            <a:off x="5160886" y="2829252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</a:t>
            </a:r>
            <a:r>
              <a:rPr lang="en-US" b="1" baseline="-25000" dirty="0"/>
              <a:t>c</a:t>
            </a:r>
            <a:endParaRPr lang="en-IN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ACC65D-D021-6F9E-C719-3F49E9C5F3ED}"/>
                  </a:ext>
                </a:extLst>
              </p:cNvPr>
              <p:cNvSpPr txBox="1"/>
              <p:nvPr/>
            </p:nvSpPr>
            <p:spPr>
              <a:xfrm>
                <a:off x="5711503" y="1265650"/>
                <a:ext cx="6409813" cy="4475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From our model specifications (last slide), we set some constants which we will need later for finding the Transfer Function and State Space Model equations of the robot :</a:t>
                </a:r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b </a:t>
                </a:r>
                <a:r>
                  <a:rPr lang="en-US" sz="1800" dirty="0"/>
                  <a:t>=</a:t>
                </a:r>
                <a:r>
                  <a:rPr lang="en-US" sz="1800" b="1" dirty="0"/>
                  <a:t> </a:t>
                </a:r>
                <a:r>
                  <a:rPr lang="en-US" sz="1800" dirty="0"/>
                  <a:t>Viscous Friction Constant = 0.1 N/m/sec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M</a:t>
                </a:r>
                <a:r>
                  <a:rPr lang="en-US" sz="1800" b="1" baseline="-25000" dirty="0"/>
                  <a:t>c</a:t>
                </a:r>
                <a:r>
                  <a:rPr lang="en-US" sz="1800" dirty="0"/>
                  <a:t>  = Mass of Chassis = 1 kg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M</a:t>
                </a:r>
                <a:r>
                  <a:rPr lang="en-IN" sz="1800" b="1" baseline="-25000" dirty="0"/>
                  <a:t>w</a:t>
                </a:r>
                <a:r>
                  <a:rPr lang="en-IN" sz="1800" dirty="0"/>
                  <a:t> = Mass of each Wheel = 0.1 kg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L</a:t>
                </a:r>
                <a:r>
                  <a:rPr lang="en-IN" sz="1800" b="1" baseline="-25000" dirty="0"/>
                  <a:t>c</a:t>
                </a:r>
                <a:r>
                  <a:rPr lang="en-IN" sz="1800" dirty="0"/>
                  <a:t> = Distance of COM of the chassis from the axis of rotation of wheels</a:t>
                </a:r>
              </a:p>
              <a:p>
                <a:r>
                  <a:rPr lang="en-IN" sz="1800" dirty="0"/>
                  <a:t>          = 0.129 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R</a:t>
                </a:r>
                <a:r>
                  <a:rPr lang="en-IN" sz="1800" b="1" baseline="-25000" dirty="0"/>
                  <a:t>w</a:t>
                </a:r>
                <a:r>
                  <a:rPr lang="en-IN" sz="1800" dirty="0"/>
                  <a:t> = Radius of each wheel = 0.0325 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dirty="0"/>
                  <a:t>I</a:t>
                </a:r>
                <a:r>
                  <a:rPr lang="en-IN" sz="1800" baseline="-25000" dirty="0"/>
                  <a:t>c</a:t>
                </a:r>
                <a:r>
                  <a:rPr lang="en-IN" sz="1800" dirty="0"/>
                  <a:t> = Moment of Inertia of Chassis rotating abt. Wheel axis </a:t>
                </a:r>
              </a:p>
              <a:p>
                <a:r>
                  <a:rPr lang="en-IN" sz="1800" dirty="0"/>
                  <a:t>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.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.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I</a:t>
                </a:r>
                <a:r>
                  <a:rPr lang="en-IN" sz="1800" b="1" baseline="-25000" dirty="0"/>
                  <a:t>w</a:t>
                </a:r>
                <a:r>
                  <a:rPr lang="en-IN" sz="1800" dirty="0"/>
                  <a:t> = Moment of Inertia of Wheel rotating abt. Wheel axis</a:t>
                </a:r>
              </a:p>
              <a:p>
                <a:r>
                  <a:rPr lang="en-IN" sz="1800" dirty="0"/>
                  <a:t>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ACC65D-D021-6F9E-C719-3F49E9C5F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503" y="1265650"/>
                <a:ext cx="6409813" cy="4475584"/>
              </a:xfrm>
              <a:prstGeom prst="rect">
                <a:avLst/>
              </a:prstGeom>
              <a:blipFill>
                <a:blip r:embed="rId5"/>
                <a:stretch>
                  <a:fillRect l="-856" t="-8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44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A21B146B-4AD7-EDBC-5603-59E717E835EF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350A2D3E-8B00-616D-0049-D01849190812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01925-0BB0-6540-65BB-ECEA68DEF6BA}"/>
              </a:ext>
            </a:extLst>
          </p:cNvPr>
          <p:cNvSpPr txBox="1"/>
          <p:nvPr/>
        </p:nvSpPr>
        <p:spPr>
          <a:xfrm>
            <a:off x="1140757" y="1331259"/>
            <a:ext cx="99104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i="1" dirty="0"/>
              <a:t>Before Proceeding Further…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There a two ways to approach the </a:t>
            </a:r>
            <a:r>
              <a:rPr lang="en-US" sz="3200" i="1" dirty="0"/>
              <a:t>Control Problem of the Two-Wheeled Self Balancing Segway Robot</a:t>
            </a:r>
            <a:r>
              <a:rPr lang="en-US" sz="3200" dirty="0"/>
              <a:t>:</a:t>
            </a:r>
          </a:p>
          <a:p>
            <a:pPr algn="just"/>
            <a:endParaRPr lang="en-US" sz="32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3200" dirty="0"/>
              <a:t>The Torque Approach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3200" dirty="0"/>
              <a:t>The Force Approach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4842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E0560-F144-29D6-4020-14022594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72F94237-C33B-7934-7AE4-510D482A9296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4E3D0A1D-65FE-4383-234A-84E8438BC652}"/>
              </a:ext>
            </a:extLst>
          </p:cNvPr>
          <p:cNvSpPr txBox="1"/>
          <p:nvPr/>
        </p:nvSpPr>
        <p:spPr>
          <a:xfrm>
            <a:off x="4023325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A09DC-B7F2-3044-4BCB-03E084A3BA48}"/>
                  </a:ext>
                </a:extLst>
              </p:cNvPr>
              <p:cNvSpPr txBox="1"/>
              <p:nvPr/>
            </p:nvSpPr>
            <p:spPr>
              <a:xfrm>
                <a:off x="551327" y="793498"/>
                <a:ext cx="11389659" cy="5271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Before Proceeding Further…</a:t>
                </a:r>
              </a:p>
              <a:p>
                <a:pPr marL="514350" indent="-514350" algn="just">
                  <a:lnSpc>
                    <a:spcPct val="250000"/>
                  </a:lnSpc>
                  <a:buAutoNum type="arabicPeriod"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 Approach : </a:t>
                </a:r>
              </a:p>
              <a:p>
                <a:pPr marL="342900" lvl="8" indent="-342900" algn="just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 directly outputs the torque that the motor needs to apply to keep the robot balanced.</a:t>
                </a:r>
              </a:p>
              <a:p>
                <a:pPr marL="342900" lvl="8" indent="-342900" algn="just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Harder to simulate; uses more computation power.</a:t>
                </a:r>
              </a:p>
              <a:p>
                <a:pPr marL="342900" lvl="8" indent="-342900" algn="just">
                  <a:buFont typeface="Wingdings" panose="05000000000000000000" pitchFamily="2" charset="2"/>
                  <a:buChar char="Ø"/>
                </a:pPr>
                <a:r>
                  <a:rPr lang="en-US" sz="1800" i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for PID Controller implementation here.</a:t>
                </a:r>
              </a:p>
              <a:p>
                <a:pPr marL="457200" lvl="3" indent="-457200" algn="just">
                  <a:lnSpc>
                    <a:spcPct val="200000"/>
                  </a:lnSpc>
                  <a:buAutoNum type="arabicPeriod" startAt="2"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 Approach :</a:t>
                </a:r>
              </a:p>
              <a:p>
                <a:pPr marL="457200" lvl="3" indent="-457200" algn="just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 outputs the horizontal push force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which if the robot base is supposedly pushed, will keep the system balanced. </a:t>
                </a:r>
              </a:p>
              <a:p>
                <a:pPr marL="457200" lvl="3" indent="-457200" algn="just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push force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then converted to required 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1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𝒎𝒐𝒕𝒐𝒓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the following relation:</a:t>
                </a:r>
              </a:p>
              <a:p>
                <a:pPr marL="457200" lvl="3" indent="-457200" algn="just">
                  <a:buFont typeface="Wingdings" panose="05000000000000000000" pitchFamily="2" charset="2"/>
                  <a:buChar char="Ø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i="1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𝑚𝑜𝑡𝑜𝑟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𝑤ℎ𝑒𝑒𝑙</m:t>
                              </m:r>
                            </m:sub>
                          </m:sSub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 algn="just"/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3" indent="-457200" algn="just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 popular approach in books and papers.</a:t>
                </a:r>
              </a:p>
              <a:p>
                <a:pPr marL="457200" lvl="3" indent="-457200" algn="just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Harder to simulate; uses more computation power.</a:t>
                </a:r>
              </a:p>
              <a:p>
                <a:pPr marL="457200" lvl="3" indent="-457200" algn="just">
                  <a:buFont typeface="Wingdings" panose="05000000000000000000" pitchFamily="2" charset="2"/>
                  <a:buChar char="Ø"/>
                </a:pPr>
                <a:r>
                  <a:rPr lang="en-US" sz="1800" i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for LQR and GA-Optimized LQR implementation here.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A09DC-B7F2-3044-4BCB-03E084A3B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27" y="793498"/>
                <a:ext cx="11389659" cy="5271892"/>
              </a:xfrm>
              <a:prstGeom prst="rect">
                <a:avLst/>
              </a:prstGeom>
              <a:blipFill>
                <a:blip r:embed="rId3"/>
                <a:stretch>
                  <a:fillRect l="-803" t="-925" r="-910" b="-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56E9FA2-0542-5043-FE8E-55D201261DDC}"/>
              </a:ext>
            </a:extLst>
          </p:cNvPr>
          <p:cNvSpPr txBox="1"/>
          <p:nvPr/>
        </p:nvSpPr>
        <p:spPr>
          <a:xfrm>
            <a:off x="7516906" y="4224651"/>
            <a:ext cx="4244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i="1" dirty="0"/>
              <a:t>(Source: Adapted from H. Hellman and H. Sunnerman, “Two-Wheeled Self-Balancing Robot: Design and Control Based on the Concept of an Inverted Pendulum,” B.Sc. thesis, KTH Royal Institute of Technology, Stockholm, Sweden, 2015)</a:t>
            </a:r>
            <a:endParaRPr lang="en-IN" sz="1100" i="1" dirty="0"/>
          </a:p>
        </p:txBody>
      </p:sp>
    </p:spTree>
    <p:extLst>
      <p:ext uri="{BB962C8B-B14F-4D97-AF65-F5344CB8AC3E}">
        <p14:creationId xmlns:p14="http://schemas.microsoft.com/office/powerpoint/2010/main" val="407039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56C02C34-C3AA-13B9-3062-F2F081B3EE3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AE89531B-F908-62EE-65CA-6B8D4A7E1069}"/>
              </a:ext>
            </a:extLst>
          </p:cNvPr>
          <p:cNvSpPr txBox="1"/>
          <p:nvPr/>
        </p:nvSpPr>
        <p:spPr>
          <a:xfrm>
            <a:off x="4023325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4CB39-9518-9EAA-32F7-9B46160E2B76}"/>
              </a:ext>
            </a:extLst>
          </p:cNvPr>
          <p:cNvSpPr txBox="1"/>
          <p:nvPr/>
        </p:nvSpPr>
        <p:spPr>
          <a:xfrm>
            <a:off x="1986016" y="2782669"/>
            <a:ext cx="8520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Part 1 : PID Controller Implementation</a:t>
            </a:r>
            <a:endParaRPr lang="en-IN" sz="3600" b="1" i="1" dirty="0"/>
          </a:p>
        </p:txBody>
      </p:sp>
    </p:spTree>
    <p:extLst>
      <p:ext uri="{BB962C8B-B14F-4D97-AF65-F5344CB8AC3E}">
        <p14:creationId xmlns:p14="http://schemas.microsoft.com/office/powerpoint/2010/main" val="400578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FFA700-1A41-FDF7-EB02-B4093EC7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F30B7898-BE71-EEDC-C8FD-868E30EEC3B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-4467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57F80012-ECD8-B164-44F0-F9617B45841F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851DCB7D-C1C9-0B54-83EF-6E7629B8F545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D6DF1BBB-8121-B0F3-65F1-A23687175D06}"/>
              </a:ext>
            </a:extLst>
          </p:cNvPr>
          <p:cNvSpPr txBox="1"/>
          <p:nvPr/>
        </p:nvSpPr>
        <p:spPr>
          <a:xfrm>
            <a:off x="417257" y="793498"/>
            <a:ext cx="9540386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Model of Segway Robot: The Torque Approach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024D00-7140-1B5C-EB6E-1D5145FB7711}"/>
              </a:ext>
            </a:extLst>
          </p:cNvPr>
          <p:cNvSpPr/>
          <p:nvPr/>
        </p:nvSpPr>
        <p:spPr>
          <a:xfrm flipH="1">
            <a:off x="2233461" y="3571015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DB3638-7D84-33D0-330C-582DC9D79393}"/>
              </a:ext>
            </a:extLst>
          </p:cNvPr>
          <p:cNvSpPr/>
          <p:nvPr/>
        </p:nvSpPr>
        <p:spPr>
          <a:xfrm>
            <a:off x="2611266" y="1644902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7F983-A149-29F8-3DAF-8C5D1CBAB23B}"/>
              </a:ext>
            </a:extLst>
          </p:cNvPr>
          <p:cNvSpPr txBox="1"/>
          <p:nvPr/>
        </p:nvSpPr>
        <p:spPr>
          <a:xfrm>
            <a:off x="487474" y="4572783"/>
            <a:ext cx="31989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4. Simplified Model of the Self-Balancing Segway Robot used for Mathematical Analysis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[4] Feriyonika, F. &amp; Hidayat, A. (2020). Balancing Control of Two-Wheeled Robot by Using Linear Quadratic Gaussian (LQG).</a:t>
            </a:r>
            <a:endParaRPr kumimoji="0" lang="en-IN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8F4CD9-BCF4-8BDB-2D89-C4CAD09E76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46"/>
          <a:stretch>
            <a:fillRect/>
          </a:stretch>
        </p:blipFill>
        <p:spPr>
          <a:xfrm>
            <a:off x="1039446" y="1592719"/>
            <a:ext cx="1908304" cy="27492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D4EF84-09D8-1133-D88A-126757B34D7E}"/>
              </a:ext>
            </a:extLst>
          </p:cNvPr>
          <p:cNvCxnSpPr>
            <a:cxnSpLocks/>
          </p:cNvCxnSpPr>
          <p:nvPr/>
        </p:nvCxnSpPr>
        <p:spPr>
          <a:xfrm flipV="1">
            <a:off x="2274781" y="1652094"/>
            <a:ext cx="0" cy="20129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3352E2FD-A444-9E11-A6B1-C0130EB8C2B0}"/>
              </a:ext>
            </a:extLst>
          </p:cNvPr>
          <p:cNvSpPr/>
          <p:nvPr/>
        </p:nvSpPr>
        <p:spPr>
          <a:xfrm rot="20483349">
            <a:off x="1911347" y="2136555"/>
            <a:ext cx="914400" cy="914400"/>
          </a:xfrm>
          <a:prstGeom prst="arc">
            <a:avLst>
              <a:gd name="adj1" fmla="val 16730062"/>
              <a:gd name="adj2" fmla="val 191558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08334D-0A64-DAEA-2B8B-462038EB9D66}"/>
              </a:ext>
            </a:extLst>
          </p:cNvPr>
          <p:cNvSpPr txBox="1"/>
          <p:nvPr/>
        </p:nvSpPr>
        <p:spPr>
          <a:xfrm>
            <a:off x="2263291" y="180966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θ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D253FA-3929-0415-23E9-D4FE573DA5A9}"/>
              </a:ext>
            </a:extLst>
          </p:cNvPr>
          <p:cNvSpPr txBox="1"/>
          <p:nvPr/>
        </p:nvSpPr>
        <p:spPr>
          <a:xfrm>
            <a:off x="2895318" y="1471845"/>
            <a:ext cx="60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FD8E5D-DF91-1184-BD37-0DEB668369FB}"/>
              </a:ext>
            </a:extLst>
          </p:cNvPr>
          <p:cNvGrpSpPr/>
          <p:nvPr/>
        </p:nvGrpSpPr>
        <p:grpSpPr>
          <a:xfrm>
            <a:off x="1041061" y="2845639"/>
            <a:ext cx="707290" cy="846467"/>
            <a:chOff x="2970145" y="3016321"/>
            <a:chExt cx="707290" cy="846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46D401-70FB-6BC1-2AB3-FF6B568093A5}"/>
                </a:ext>
              </a:extLst>
            </p:cNvPr>
            <p:cNvGrpSpPr/>
            <p:nvPr/>
          </p:nvGrpSpPr>
          <p:grpSpPr>
            <a:xfrm>
              <a:off x="3012187" y="3217391"/>
              <a:ext cx="665248" cy="613718"/>
              <a:chOff x="724165" y="3708900"/>
              <a:chExt cx="665248" cy="61371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20A26FD-6085-03E2-F4BD-E1261D30BB05}"/>
                  </a:ext>
                </a:extLst>
              </p:cNvPr>
              <p:cNvCxnSpPr/>
              <p:nvPr/>
            </p:nvCxnSpPr>
            <p:spPr>
              <a:xfrm flipV="1">
                <a:off x="724165" y="3708900"/>
                <a:ext cx="0" cy="61371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39E93AB2-8E00-83DD-8AB5-0772A0CA810F}"/>
                  </a:ext>
                </a:extLst>
              </p:cNvPr>
              <p:cNvCxnSpPr/>
              <p:nvPr/>
            </p:nvCxnSpPr>
            <p:spPr>
              <a:xfrm>
                <a:off x="724165" y="4322618"/>
                <a:ext cx="66524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6624D8-0D79-4B3C-FB92-B68FC7BFCFF2}"/>
                </a:ext>
              </a:extLst>
            </p:cNvPr>
            <p:cNvSpPr txBox="1"/>
            <p:nvPr/>
          </p:nvSpPr>
          <p:spPr>
            <a:xfrm>
              <a:off x="3372219" y="355501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X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871B93-162D-6466-F877-FF3173661452}"/>
                </a:ext>
              </a:extLst>
            </p:cNvPr>
            <p:cNvSpPr txBox="1"/>
            <p:nvPr/>
          </p:nvSpPr>
          <p:spPr>
            <a:xfrm>
              <a:off x="2970145" y="301632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Y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C16C9C-ACD6-3599-FA79-10E9DD42BDAA}"/>
              </a:ext>
            </a:extLst>
          </p:cNvPr>
          <p:cNvCxnSpPr>
            <a:cxnSpLocks/>
          </p:cNvCxnSpPr>
          <p:nvPr/>
        </p:nvCxnSpPr>
        <p:spPr>
          <a:xfrm>
            <a:off x="2274780" y="3637869"/>
            <a:ext cx="725400" cy="23915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11A5D4-A4C6-6BDE-1BEE-2CBEFCB354D7}"/>
              </a:ext>
            </a:extLst>
          </p:cNvPr>
          <p:cNvCxnSpPr>
            <a:cxnSpLocks/>
          </p:cNvCxnSpPr>
          <p:nvPr/>
        </p:nvCxnSpPr>
        <p:spPr>
          <a:xfrm>
            <a:off x="2779296" y="1782996"/>
            <a:ext cx="754031" cy="2206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E6A523-99F6-9A6A-D69A-E3EF59346FDD}"/>
              </a:ext>
            </a:extLst>
          </p:cNvPr>
          <p:cNvCxnSpPr>
            <a:cxnSpLocks/>
          </p:cNvCxnSpPr>
          <p:nvPr/>
        </p:nvCxnSpPr>
        <p:spPr>
          <a:xfrm flipV="1">
            <a:off x="2831468" y="1956053"/>
            <a:ext cx="559674" cy="18827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CFDF275-F4E2-6321-910B-D54018C51590}"/>
              </a:ext>
            </a:extLst>
          </p:cNvPr>
          <p:cNvSpPr txBox="1"/>
          <p:nvPr/>
        </p:nvSpPr>
        <p:spPr>
          <a:xfrm>
            <a:off x="3120372" y="2830234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E29B0-4BA1-98DD-4381-DE2A73B322FC}"/>
              </a:ext>
            </a:extLst>
          </p:cNvPr>
          <p:cNvSpPr txBox="1"/>
          <p:nvPr/>
        </p:nvSpPr>
        <p:spPr>
          <a:xfrm>
            <a:off x="3964752" y="1364631"/>
            <a:ext cx="4728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Non-Linearized Model Equations:</a:t>
            </a:r>
            <a:endParaRPr lang="en-IN" sz="1600" b="1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F91D44-C19F-B790-F8E1-23590622CBDA}"/>
              </a:ext>
            </a:extLst>
          </p:cNvPr>
          <p:cNvGrpSpPr/>
          <p:nvPr/>
        </p:nvGrpSpPr>
        <p:grpSpPr>
          <a:xfrm>
            <a:off x="4002943" y="1838485"/>
            <a:ext cx="8273072" cy="977113"/>
            <a:chOff x="3979019" y="1985087"/>
            <a:chExt cx="8273072" cy="9771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12D363E-A3A6-8052-F55F-2DE9D56F8CD1}"/>
                    </a:ext>
                  </a:extLst>
                </p:cNvPr>
                <p:cNvSpPr txBox="1"/>
                <p:nvPr/>
              </p:nvSpPr>
              <p:spPr>
                <a:xfrm>
                  <a:off x="4033623" y="1985087"/>
                  <a:ext cx="8218468" cy="7031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=2.</m:t>
                      </m:r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IN" sz="2000" dirty="0"/>
                    <a:t> 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sz="20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l-GR" sz="200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i="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i="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l-GR" sz="2000" i="0" dirty="0"/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000" i="0" dirty="0"/>
                                    <m:t>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l-GR" sz="200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i="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i="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en-IN" sz="2000" dirty="0"/>
                    <a:t> </a:t>
                  </a:r>
                </a:p>
                <a:p>
                  <a:endParaRPr lang="en-IN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12D363E-A3A6-8052-F55F-2DE9D56F8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3623" y="1985087"/>
                  <a:ext cx="8218468" cy="703141"/>
                </a:xfrm>
                <a:prstGeom prst="rect">
                  <a:avLst/>
                </a:prstGeom>
                <a:blipFill>
                  <a:blip r:embed="rId5"/>
                  <a:stretch>
                    <a:fillRect l="-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0DFFCD5-676F-3301-1EC1-F63038F10A65}"/>
                    </a:ext>
                  </a:extLst>
                </p:cNvPr>
                <p:cNvSpPr txBox="1"/>
                <p:nvPr/>
              </p:nvSpPr>
              <p:spPr>
                <a:xfrm>
                  <a:off x="3979019" y="2654423"/>
                  <a:ext cx="673832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l-GR" sz="20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l-GR" sz="200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i="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i="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l-GR" sz="200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i="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i="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0DFFCD5-676F-3301-1EC1-F63038F10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9019" y="2654423"/>
                  <a:ext cx="6738320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724" t="-5882" b="-274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469C611-CDDF-82BC-42E4-C7BA5FC3991D}"/>
                  </a:ext>
                </a:extLst>
              </p:cNvPr>
              <p:cNvSpPr txBox="1"/>
              <p:nvPr/>
            </p:nvSpPr>
            <p:spPr>
              <a:xfrm>
                <a:off x="3981664" y="3021015"/>
                <a:ext cx="6098240" cy="139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Linearized Model Equations:</a:t>
                </a:r>
              </a:p>
              <a:p>
                <a:endParaRPr lang="en-US" sz="1600" b="1" dirty="0"/>
              </a:p>
              <a:p>
                <a:r>
                  <a:rPr lang="en-US" sz="1600" b="1" dirty="0"/>
                  <a:t>Assumptions: 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l-GR" sz="1600" i="0" dirty="0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i="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i="0" dirty="0"/>
                              <m:t> 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1600" i="0"/>
                          <m:t>≈</m:t>
                        </m:r>
                        <m:r>
                          <m:rPr>
                            <m:nor/>
                          </m:rPr>
                          <a:rPr lang="en-US" sz="1600" i="0" smtClean="0"/>
                          <m:t> </m:t>
                        </m:r>
                        <m:r>
                          <m:rPr>
                            <m:nor/>
                          </m:rPr>
                          <a:rPr lang="en-US" sz="1600" b="0" i="0" smtClean="0"/>
                          <m:t>0 </m:t>
                        </m:r>
                        <m:r>
                          <m:rPr>
                            <m:nor/>
                          </m:rPr>
                          <a:rPr lang="en-IN" i="0"/>
                          <m:t>⇒</m:t>
                        </m:r>
                        <m:r>
                          <m:rPr>
                            <m:nor/>
                          </m:rPr>
                          <a:rPr lang="en-US" b="0" i="0" smtClean="0"/>
                          <m:t>  </m:t>
                        </m:r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𝑠𝑖𝑛</m:t>
                        </m:r>
                      </m:fName>
                      <m:e>
                        <m:sSub>
                          <m:sSubPr>
                            <m:ctrlPr>
                              <a:rPr lang="el-GR" sz="1600" i="0" dirty="0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i="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i="0" dirty="0"/>
                              <m:t> 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  <m:r>
                      <m:rPr>
                        <m:nor/>
                      </m:rPr>
                      <a:rPr lang="en-IN" i="0"/>
                      <m:t>≈</m:t>
                    </m:r>
                    <m:r>
                      <m:rPr>
                        <m:nor/>
                      </m:rPr>
                      <a:rPr lang="en-US" i="0" smtClean="0"/>
                      <m:t> </m:t>
                    </m:r>
                    <m:sSub>
                      <m:sSubPr>
                        <m:ctrlPr>
                          <a:rPr lang="el-GR" sz="1600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i="0" dirty="0"/>
                          <m:t>θ</m:t>
                        </m:r>
                        <m:r>
                          <m:rPr>
                            <m:nor/>
                          </m:rPr>
                          <a:rPr lang="en-IN" sz="1600" i="0" dirty="0"/>
                          <m:t> 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600" dirty="0"/>
                  <a:t> 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l-GR" sz="1600" i="0" dirty="0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i="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i="0" dirty="0"/>
                              <m:t> 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  <m:r>
                      <m:rPr>
                        <m:nor/>
                      </m:rPr>
                      <a:rPr lang="en-IN" sz="1600" i="0"/>
                      <m:t>≈</m:t>
                    </m:r>
                    <m:r>
                      <m:rPr>
                        <m:nor/>
                      </m:rPr>
                      <a:rPr lang="en-US" sz="1600" i="0" smtClean="0"/>
                      <m:t> 1</m:t>
                    </m:r>
                  </m:oMath>
                </a14:m>
                <a:endParaRPr lang="en-US" sz="1600" i="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l-GR" sz="1600" i="0" dirty="0"/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l-GR" sz="1600" i="0" dirty="0"/>
                                  <m:t>θ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l-GR" sz="1600" i="0" dirty="0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i="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i="0" dirty="0"/>
                              <m:t> 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i="0"/>
                      <m:t>≈</m:t>
                    </m:r>
                  </m:oMath>
                </a14:m>
                <a:r>
                  <a:rPr lang="en-IN" sz="1600" dirty="0"/>
                  <a:t> 0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469C611-CDDF-82BC-42E4-C7BA5FC39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664" y="3021015"/>
                <a:ext cx="6098240" cy="1392432"/>
              </a:xfrm>
              <a:prstGeom prst="rect">
                <a:avLst/>
              </a:prstGeom>
              <a:blipFill>
                <a:blip r:embed="rId7"/>
                <a:stretch>
                  <a:fillRect l="-500" t="-1316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106A8A93-08C7-07BC-188A-9A2EB10DDBAE}"/>
              </a:ext>
            </a:extLst>
          </p:cNvPr>
          <p:cNvGrpSpPr/>
          <p:nvPr/>
        </p:nvGrpSpPr>
        <p:grpSpPr>
          <a:xfrm>
            <a:off x="3944884" y="4552412"/>
            <a:ext cx="6012759" cy="976506"/>
            <a:chOff x="6003591" y="4508039"/>
            <a:chExt cx="6012759" cy="9765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682025-5E80-EE88-1F73-56DB820D24B5}"/>
                    </a:ext>
                  </a:extLst>
                </p:cNvPr>
                <p:cNvSpPr txBox="1"/>
                <p:nvPr/>
              </p:nvSpPr>
              <p:spPr>
                <a:xfrm>
                  <a:off x="6095999" y="4508039"/>
                  <a:ext cx="5920351" cy="7031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=2.</m:t>
                      </m:r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IN" sz="2000" dirty="0"/>
                    <a:t> 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N" sz="2000" dirty="0"/>
                    <a:t> </a:t>
                  </a:r>
                </a:p>
                <a:p>
                  <a:endParaRPr lang="en-IN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682025-5E80-EE88-1F73-56DB820D2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999" y="4508039"/>
                  <a:ext cx="5920351" cy="7031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08710B3-0646-F706-AF46-27C94AB1A677}"/>
                    </a:ext>
                  </a:extLst>
                </p:cNvPr>
                <p:cNvSpPr txBox="1"/>
                <p:nvPr/>
              </p:nvSpPr>
              <p:spPr>
                <a:xfrm>
                  <a:off x="6003591" y="5176768"/>
                  <a:ext cx="57608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l-GR" sz="20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az-Cyrl-AZ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l-GR" sz="2000" i="0" dirty="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2000" i="0" dirty="0"/>
                            <m:t>θ</m:t>
                          </m:r>
                          <m:r>
                            <m:rPr>
                              <m:nor/>
                            </m:rPr>
                            <a:rPr lang="en-IN" sz="2000" i="0" dirty="0"/>
                            <m:t>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08710B3-0646-F706-AF46-27C94AB1A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591" y="5176768"/>
                  <a:ext cx="5760808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741" t="-23529" b="-5098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4B40066-8FD6-E58A-2E78-D510A02A9663}"/>
              </a:ext>
            </a:extLst>
          </p:cNvPr>
          <p:cNvSpPr txBox="1"/>
          <p:nvPr/>
        </p:nvSpPr>
        <p:spPr>
          <a:xfrm>
            <a:off x="8009057" y="3186771"/>
            <a:ext cx="4141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(Source: </a:t>
            </a:r>
            <a:r>
              <a:rPr lang="en-IN" sz="1200" i="1" dirty="0"/>
              <a:t>Avinash Dubey and Avijit Pandey, “Technical Session on Basics of Self Balancing Robot,” e-Yantra, YouTube video, 2:16:10, Aug. 9, 2022. Available: </a:t>
            </a:r>
            <a:r>
              <a:rPr lang="en-IN" sz="1200" b="1" i="1" dirty="0">
                <a:hlinkClick r:id="rId10"/>
              </a:rPr>
              <a:t>https://www.youtube.com/watch?v=nOHky2f58ME</a:t>
            </a:r>
            <a:r>
              <a:rPr lang="en-IN" sz="1200" b="1" i="1" dirty="0">
                <a:solidFill>
                  <a:schemeClr val="tx1"/>
                </a:solidFill>
              </a:rPr>
              <a:t>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AECA1C-5360-0377-10D1-EC04888AA44E}"/>
              </a:ext>
            </a:extLst>
          </p:cNvPr>
          <p:cNvSpPr/>
          <p:nvPr/>
        </p:nvSpPr>
        <p:spPr>
          <a:xfrm>
            <a:off x="2611266" y="1638706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C12896-B384-3B4B-FEDF-9AAA83623233}"/>
              </a:ext>
            </a:extLst>
          </p:cNvPr>
          <p:cNvSpPr/>
          <p:nvPr/>
        </p:nvSpPr>
        <p:spPr>
          <a:xfrm flipH="1">
            <a:off x="2205867" y="3590952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641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34FF00C-35C8-72A9-9C3E-2BC730EA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A5476842-41DF-C636-01A6-4450C2D7150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89EA17EF-51A2-1E86-4A3B-A94DCCD67B99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C48E5E7-75F9-27B3-9E60-538C14FAD31C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DCFEF7A6-20B5-694B-B5A1-D1CA6F0B7113}"/>
              </a:ext>
            </a:extLst>
          </p:cNvPr>
          <p:cNvSpPr txBox="1"/>
          <p:nvPr/>
        </p:nvSpPr>
        <p:spPr>
          <a:xfrm>
            <a:off x="417257" y="793498"/>
            <a:ext cx="977561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of Segway Robot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Torque Approach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D453E-8A74-FF50-4475-C6FB886CD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65" y="1763401"/>
            <a:ext cx="4152669" cy="2749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4C838A-1122-9C74-A612-97DE1F73C8D2}"/>
              </a:ext>
            </a:extLst>
          </p:cNvPr>
          <p:cNvSpPr txBox="1"/>
          <p:nvPr/>
        </p:nvSpPr>
        <p:spPr>
          <a:xfrm>
            <a:off x="579695" y="4911204"/>
            <a:ext cx="4297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5. Simplified Model of the Self-Balancing Segway Robot used for Mathematical Analysis</a:t>
            </a:r>
          </a:p>
          <a:p>
            <a:pPr lvl="0" algn="just"/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</a:t>
            </a:r>
            <a:r>
              <a:rPr lang="en-US" sz="1200" i="1" dirty="0"/>
              <a:t>[4]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Feriyonika, F. &amp; Hidayat, A. (2020). Balancing Control of Two-Wheeled Robot by Using Linear Quadratic Gaussian (LQG).</a:t>
            </a:r>
            <a:endParaRPr kumimoji="0" lang="en-IN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C77E2C-4B34-E149-27BA-D62D37582363}"/>
              </a:ext>
            </a:extLst>
          </p:cNvPr>
          <p:cNvCxnSpPr>
            <a:cxnSpLocks/>
          </p:cNvCxnSpPr>
          <p:nvPr/>
        </p:nvCxnSpPr>
        <p:spPr>
          <a:xfrm flipV="1">
            <a:off x="4203865" y="1822776"/>
            <a:ext cx="0" cy="20129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1180B564-FDB5-DD3F-50CF-8A0314CDD88C}"/>
              </a:ext>
            </a:extLst>
          </p:cNvPr>
          <p:cNvSpPr/>
          <p:nvPr/>
        </p:nvSpPr>
        <p:spPr>
          <a:xfrm rot="20483349">
            <a:off x="3840432" y="2207027"/>
            <a:ext cx="914400" cy="914400"/>
          </a:xfrm>
          <a:prstGeom prst="arc">
            <a:avLst>
              <a:gd name="adj1" fmla="val 16730062"/>
              <a:gd name="adj2" fmla="val 191558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560B36-740F-438F-6496-6C6621C7357A}"/>
              </a:ext>
            </a:extLst>
          </p:cNvPr>
          <p:cNvSpPr/>
          <p:nvPr/>
        </p:nvSpPr>
        <p:spPr>
          <a:xfrm flipH="1">
            <a:off x="4132613" y="3739076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E964E-DF5E-61C6-A146-7DDEDE6BD83A}"/>
              </a:ext>
            </a:extLst>
          </p:cNvPr>
          <p:cNvSpPr txBox="1"/>
          <p:nvPr/>
        </p:nvSpPr>
        <p:spPr>
          <a:xfrm>
            <a:off x="4196986" y="1910131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θ</a:t>
            </a:r>
            <a:r>
              <a: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7ECE26-5D0C-54DC-7FC9-432620822282}"/>
              </a:ext>
            </a:extLst>
          </p:cNvPr>
          <p:cNvSpPr/>
          <p:nvPr/>
        </p:nvSpPr>
        <p:spPr>
          <a:xfrm>
            <a:off x="4540350" y="1815584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A2AD83-8522-E968-A5DA-99D0E5C58873}"/>
              </a:ext>
            </a:extLst>
          </p:cNvPr>
          <p:cNvSpPr txBox="1"/>
          <p:nvPr/>
        </p:nvSpPr>
        <p:spPr>
          <a:xfrm>
            <a:off x="4824402" y="1642527"/>
            <a:ext cx="60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BA8BF8-F746-68D5-F979-1613224BF075}"/>
              </a:ext>
            </a:extLst>
          </p:cNvPr>
          <p:cNvGrpSpPr/>
          <p:nvPr/>
        </p:nvGrpSpPr>
        <p:grpSpPr>
          <a:xfrm>
            <a:off x="2970145" y="3016321"/>
            <a:ext cx="707290" cy="846467"/>
            <a:chOff x="2970145" y="3016321"/>
            <a:chExt cx="707290" cy="846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52C777F-A1D3-320C-5390-E121FE998155}"/>
                </a:ext>
              </a:extLst>
            </p:cNvPr>
            <p:cNvGrpSpPr/>
            <p:nvPr/>
          </p:nvGrpSpPr>
          <p:grpSpPr>
            <a:xfrm>
              <a:off x="3012187" y="3217391"/>
              <a:ext cx="665248" cy="613718"/>
              <a:chOff x="724165" y="3708900"/>
              <a:chExt cx="665248" cy="61371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39D1AF2-0F41-AE38-A87B-6F907A96EE72}"/>
                  </a:ext>
                </a:extLst>
              </p:cNvPr>
              <p:cNvCxnSpPr/>
              <p:nvPr/>
            </p:nvCxnSpPr>
            <p:spPr>
              <a:xfrm flipV="1">
                <a:off x="724165" y="3708900"/>
                <a:ext cx="0" cy="61371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D8C888B-5810-F635-70ED-D0F1792364AB}"/>
                  </a:ext>
                </a:extLst>
              </p:cNvPr>
              <p:cNvCxnSpPr/>
              <p:nvPr/>
            </p:nvCxnSpPr>
            <p:spPr>
              <a:xfrm>
                <a:off x="724165" y="4322618"/>
                <a:ext cx="66524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F0DC34-D686-F951-BF7E-73810EB10CDF}"/>
                </a:ext>
              </a:extLst>
            </p:cNvPr>
            <p:cNvSpPr txBox="1"/>
            <p:nvPr/>
          </p:nvSpPr>
          <p:spPr>
            <a:xfrm>
              <a:off x="3372219" y="355501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X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DF2D76-C3C7-54EB-4B77-C8F8B211C6BD}"/>
                </a:ext>
              </a:extLst>
            </p:cNvPr>
            <p:cNvSpPr txBox="1"/>
            <p:nvPr/>
          </p:nvSpPr>
          <p:spPr>
            <a:xfrm>
              <a:off x="2970145" y="301632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Y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D9C9FE-2E26-775B-8419-C9053CDDD6DF}"/>
              </a:ext>
            </a:extLst>
          </p:cNvPr>
          <p:cNvCxnSpPr>
            <a:cxnSpLocks/>
          </p:cNvCxnSpPr>
          <p:nvPr/>
        </p:nvCxnSpPr>
        <p:spPr>
          <a:xfrm>
            <a:off x="4203864" y="3808551"/>
            <a:ext cx="725400" cy="23915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3E2E41-ABEF-1445-BC4E-B730B645E503}"/>
              </a:ext>
            </a:extLst>
          </p:cNvPr>
          <p:cNvCxnSpPr>
            <a:cxnSpLocks/>
          </p:cNvCxnSpPr>
          <p:nvPr/>
        </p:nvCxnSpPr>
        <p:spPr>
          <a:xfrm>
            <a:off x="4708380" y="1953678"/>
            <a:ext cx="754031" cy="2206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0ED5D1-8B36-C51E-1BF1-1315F6B35252}"/>
              </a:ext>
            </a:extLst>
          </p:cNvPr>
          <p:cNvCxnSpPr>
            <a:cxnSpLocks/>
          </p:cNvCxnSpPr>
          <p:nvPr/>
        </p:nvCxnSpPr>
        <p:spPr>
          <a:xfrm flipV="1">
            <a:off x="4760552" y="2126735"/>
            <a:ext cx="559674" cy="18827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80FB20D-D108-B7CB-94FA-3C95D614D0A4}"/>
              </a:ext>
            </a:extLst>
          </p:cNvPr>
          <p:cNvSpPr txBox="1"/>
          <p:nvPr/>
        </p:nvSpPr>
        <p:spPr>
          <a:xfrm>
            <a:off x="5160886" y="2829252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E5DC8-D8D2-929A-80F8-57EED79C1323}"/>
              </a:ext>
            </a:extLst>
          </p:cNvPr>
          <p:cNvSpPr txBox="1"/>
          <p:nvPr/>
        </p:nvSpPr>
        <p:spPr>
          <a:xfrm>
            <a:off x="5805662" y="1377138"/>
            <a:ext cx="5413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Transfer Function of the Segway Robot Plant:</a:t>
            </a:r>
            <a:endParaRPr lang="en-I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A3E9BF-F3A9-4260-519D-0517F1E15E7A}"/>
                  </a:ext>
                </a:extLst>
              </p:cNvPr>
              <p:cNvSpPr txBox="1"/>
              <p:nvPr/>
            </p:nvSpPr>
            <p:spPr>
              <a:xfrm>
                <a:off x="7140295" y="1797926"/>
                <a:ext cx="3808754" cy="11505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l-GR" sz="200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i="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i="0" dirty="0"/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</a:rPr>
                            <m:t>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A3E9BF-F3A9-4260-519D-0517F1E1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295" y="1797926"/>
                <a:ext cx="3808754" cy="11505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C2527CD-13E1-5579-70F5-EBB0410A07EC}"/>
              </a:ext>
            </a:extLst>
          </p:cNvPr>
          <p:cNvGrpSpPr/>
          <p:nvPr/>
        </p:nvGrpSpPr>
        <p:grpSpPr>
          <a:xfrm>
            <a:off x="5441095" y="3266359"/>
            <a:ext cx="6864939" cy="2510239"/>
            <a:chOff x="5300210" y="3317162"/>
            <a:chExt cx="6791194" cy="2510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A23A96B-17E9-87F0-54A1-72153B65893B}"/>
                    </a:ext>
                  </a:extLst>
                </p:cNvPr>
                <p:cNvSpPr txBox="1"/>
                <p:nvPr/>
              </p:nvSpPr>
              <p:spPr>
                <a:xfrm>
                  <a:off x="5300210" y="3317162"/>
                  <a:ext cx="6791194" cy="25102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l-GR" sz="1500" b="0" i="0" dirty="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1500" b="0" i="0" dirty="0"/>
                            <m:t>θ</m:t>
                          </m:r>
                          <m:r>
                            <m:rPr>
                              <m:nor/>
                            </m:rPr>
                            <a:rPr lang="en-IN" sz="1500" b="0" i="0" dirty="0"/>
                            <m:t> 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r>
                    <a:rPr lang="en-IN" sz="1500" b="1" dirty="0"/>
                    <a:t> </a:t>
                  </a:r>
                  <a:r>
                    <a:rPr lang="en-IN" sz="1500" dirty="0"/>
                    <a:t>= </a:t>
                  </a:r>
                  <a:r>
                    <a:rPr lang="en-IN" dirty="0"/>
                    <a:t>Chassis Tilt Angle               Plant Output (Feedback)</a:t>
                  </a:r>
                  <a:endParaRPr lang="en-IN" sz="1500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l-GR" sz="15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IN" sz="1500" dirty="0"/>
                    <a:t>  = </a:t>
                  </a:r>
                  <a:r>
                    <a:rPr lang="en-IN" dirty="0"/>
                    <a:t>Torque applied to each individual wheel              Plant Input (Control Signal)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5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IN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5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a14:m>
                  <a:endParaRPr lang="en-IN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US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a14:m>
                  <a:endParaRPr lang="en-US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a14:m>
                  <a:endParaRPr lang="en-IN" sz="1500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A23A96B-17E9-87F0-54A1-72153B658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0210" y="3317162"/>
                  <a:ext cx="6791194" cy="2510239"/>
                </a:xfrm>
                <a:prstGeom prst="rect">
                  <a:avLst/>
                </a:prstGeom>
                <a:blipFill>
                  <a:blip r:embed="rId6"/>
                  <a:stretch>
                    <a:fillRect l="-266" b="-12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DEFF210-9B2C-DE50-8EFF-95BB7D4DB1FE}"/>
                </a:ext>
              </a:extLst>
            </p:cNvPr>
            <p:cNvSpPr/>
            <p:nvPr/>
          </p:nvSpPr>
          <p:spPr>
            <a:xfrm>
              <a:off x="7617278" y="3414737"/>
              <a:ext cx="529755" cy="32063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9887957-FC8F-B425-8D45-CB452957786E}"/>
                </a:ext>
              </a:extLst>
            </p:cNvPr>
            <p:cNvSpPr/>
            <p:nvPr/>
          </p:nvSpPr>
          <p:spPr>
            <a:xfrm>
              <a:off x="9188451" y="3744763"/>
              <a:ext cx="540931" cy="32063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2902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5DD83A7-29E4-BA39-6FF3-ACF3BE30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2C441C05-1974-79E6-214E-9D727A301A2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6A0DE14B-F716-D34F-0F4C-F70A0EBEC5B2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538D081D-7A2E-1CED-5072-CD9C48A08320}"/>
              </a:ext>
            </a:extLst>
          </p:cNvPr>
          <p:cNvSpPr txBox="1"/>
          <p:nvPr/>
        </p:nvSpPr>
        <p:spPr>
          <a:xfrm>
            <a:off x="417257" y="793498"/>
            <a:ext cx="8198810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Implementation: Basic Block Diagram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9100297F-1176-0DEE-14CB-20E9D8E9F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B973EB17-E71F-CA70-0EFC-F07A86404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3715F58-3A3B-8BE3-7157-6332796E8E62}"/>
              </a:ext>
            </a:extLst>
          </p:cNvPr>
          <p:cNvGrpSpPr/>
          <p:nvPr/>
        </p:nvGrpSpPr>
        <p:grpSpPr>
          <a:xfrm>
            <a:off x="774953" y="1701140"/>
            <a:ext cx="10346807" cy="3421599"/>
            <a:chOff x="774953" y="1701140"/>
            <a:chExt cx="10346807" cy="34215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67B2A4B-05D6-79C6-448F-011F910FE2B2}"/>
                </a:ext>
              </a:extLst>
            </p:cNvPr>
            <p:cNvGrpSpPr/>
            <p:nvPr/>
          </p:nvGrpSpPr>
          <p:grpSpPr>
            <a:xfrm>
              <a:off x="8616067" y="1701140"/>
              <a:ext cx="2505693" cy="2814452"/>
              <a:chOff x="5019938" y="1687999"/>
              <a:chExt cx="2152121" cy="3434347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74454DB7-E3CA-1E1B-944C-8314B00D206C}"/>
                  </a:ext>
                </a:extLst>
              </p:cNvPr>
              <p:cNvSpPr/>
              <p:nvPr/>
            </p:nvSpPr>
            <p:spPr>
              <a:xfrm>
                <a:off x="5019938" y="1687999"/>
                <a:ext cx="2152121" cy="2423410"/>
              </a:xfrm>
              <a:prstGeom prst="roundRect">
                <a:avLst/>
              </a:pr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CC1A71-167B-1F3A-DDF7-BDE83E3DEA24}"/>
                  </a:ext>
                </a:extLst>
              </p:cNvPr>
              <p:cNvSpPr txBox="1"/>
              <p:nvPr/>
            </p:nvSpPr>
            <p:spPr>
              <a:xfrm>
                <a:off x="5260769" y="4168239"/>
                <a:ext cx="171526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Plant </a:t>
                </a:r>
              </a:p>
              <a:p>
                <a:pPr algn="ctr"/>
                <a:r>
                  <a:rPr lang="en-US" b="1" dirty="0"/>
                  <a:t>(Physical Model / Transfer Function)</a:t>
                </a:r>
                <a:endParaRPr lang="en-IN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BCA248D-14F1-9E36-1EE4-5C96F420AD8D}"/>
                    </a:ext>
                  </a:extLst>
                </p:cNvPr>
                <p:cNvSpPr/>
                <p:nvPr/>
              </p:nvSpPr>
              <p:spPr>
                <a:xfrm>
                  <a:off x="3825629" y="2210213"/>
                  <a:ext cx="2850611" cy="967553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PID Controller</a:t>
                  </a:r>
                </a:p>
                <a:p>
                  <a:pPr algn="ctr"/>
                  <a:endParaRPr lang="en-US" b="1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𝒅𝒕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</m:e>
                        </m:nary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𝒅𝒆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BCA248D-14F1-9E36-1EE4-5C96F420AD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629" y="2210213"/>
                  <a:ext cx="2850611" cy="967553"/>
                </a:xfrm>
                <a:prstGeom prst="rect">
                  <a:avLst/>
                </a:prstGeom>
                <a:blipFill>
                  <a:blip r:embed="rId6"/>
                  <a:stretch>
                    <a:fillRect t="-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1ABC00C-DEE9-C3F8-3BE8-5699D7790652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6676240" y="2693990"/>
              <a:ext cx="1939827" cy="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D87228-81F7-5A0A-F9F4-480306D79EE1}"/>
                </a:ext>
              </a:extLst>
            </p:cNvPr>
            <p:cNvSpPr txBox="1"/>
            <p:nvPr/>
          </p:nvSpPr>
          <p:spPr>
            <a:xfrm>
              <a:off x="6882586" y="2169099"/>
              <a:ext cx="1484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Control Signal</a:t>
              </a:r>
            </a:p>
            <a:p>
              <a:pPr algn="ctr"/>
              <a:r>
                <a:rPr lang="en-US" b="1" dirty="0"/>
                <a:t>(Wheel Torque)</a:t>
              </a:r>
              <a:endParaRPr lang="en-IN" b="1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A20E4C6-A817-7780-EF8A-F58CE7CC6D79}"/>
                </a:ext>
              </a:extLst>
            </p:cNvPr>
            <p:cNvGrpSpPr/>
            <p:nvPr/>
          </p:nvGrpSpPr>
          <p:grpSpPr>
            <a:xfrm>
              <a:off x="774953" y="2220729"/>
              <a:ext cx="2102122" cy="946810"/>
              <a:chOff x="417257" y="2220729"/>
              <a:chExt cx="2102122" cy="94681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81430BD-0D80-9391-0EEC-5BAFB74191F5}"/>
                  </a:ext>
                </a:extLst>
              </p:cNvPr>
              <p:cNvSpPr/>
              <p:nvPr/>
            </p:nvSpPr>
            <p:spPr>
              <a:xfrm>
                <a:off x="1533727" y="2220729"/>
                <a:ext cx="985652" cy="94681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41D4FBD-921B-47A0-9031-FBD21A295C3C}"/>
                  </a:ext>
                </a:extLst>
              </p:cNvPr>
              <p:cNvCxnSpPr>
                <a:stCxn id="33" idx="1"/>
                <a:endCxn id="33" idx="5"/>
              </p:cNvCxnSpPr>
              <p:nvPr/>
            </p:nvCxnSpPr>
            <p:spPr>
              <a:xfrm>
                <a:off x="1678072" y="2359386"/>
                <a:ext cx="696962" cy="6694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736C891-D355-FA09-4D0B-B3A8D31D546F}"/>
                  </a:ext>
                </a:extLst>
              </p:cNvPr>
              <p:cNvCxnSpPr>
                <a:cxnSpLocks/>
                <a:stCxn id="33" idx="3"/>
                <a:endCxn id="33" idx="7"/>
              </p:cNvCxnSpPr>
              <p:nvPr/>
            </p:nvCxnSpPr>
            <p:spPr>
              <a:xfrm flipV="1">
                <a:off x="1678072" y="2359386"/>
                <a:ext cx="696962" cy="6694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ABAA54-38A5-1590-2DC2-7AD7205D6009}"/>
                  </a:ext>
                </a:extLst>
              </p:cNvPr>
              <p:cNvSpPr txBox="1"/>
              <p:nvPr/>
            </p:nvSpPr>
            <p:spPr>
              <a:xfrm>
                <a:off x="1577569" y="2539266"/>
                <a:ext cx="366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+</a:t>
                </a:r>
                <a:endParaRPr lang="en-IN" b="1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E00FC65-599F-4D25-2526-6BDCC92E2C72}"/>
                  </a:ext>
                </a:extLst>
              </p:cNvPr>
              <p:cNvSpPr txBox="1"/>
              <p:nvPr/>
            </p:nvSpPr>
            <p:spPr>
              <a:xfrm>
                <a:off x="1843390" y="2816605"/>
                <a:ext cx="366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-</a:t>
                </a:r>
                <a:endParaRPr lang="en-IN" b="1" dirty="0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D850E8B1-5F75-E923-4555-B5E2F299E6E3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417257" y="2694134"/>
                <a:ext cx="11164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0504983-FBF4-D003-5271-1ED204FAF3FA}"/>
                    </a:ext>
                  </a:extLst>
                </p:cNvPr>
                <p:cNvSpPr txBox="1"/>
                <p:nvPr/>
              </p:nvSpPr>
              <p:spPr>
                <a:xfrm>
                  <a:off x="914524" y="2376753"/>
                  <a:ext cx="801109" cy="325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0504983-FBF4-D003-5271-1ED204FAF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524" y="2376753"/>
                  <a:ext cx="801109" cy="325025"/>
                </a:xfrm>
                <a:prstGeom prst="rect">
                  <a:avLst/>
                </a:prstGeom>
                <a:blipFill>
                  <a:blip r:embed="rId7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1CBBCB7-D670-54F4-B8B4-9B69F2406D3D}"/>
                </a:ext>
              </a:extLst>
            </p:cNvPr>
            <p:cNvCxnSpPr>
              <a:cxnSpLocks/>
              <a:stCxn id="33" idx="6"/>
              <a:endCxn id="7" idx="1"/>
            </p:cNvCxnSpPr>
            <p:nvPr/>
          </p:nvCxnSpPr>
          <p:spPr>
            <a:xfrm flipV="1">
              <a:off x="2877075" y="2693990"/>
              <a:ext cx="948554" cy="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7F92152-89B7-FD12-24C5-9BED9CCDC86D}"/>
                    </a:ext>
                  </a:extLst>
                </p:cNvPr>
                <p:cNvSpPr txBox="1"/>
                <p:nvPr/>
              </p:nvSpPr>
              <p:spPr>
                <a:xfrm>
                  <a:off x="2992934" y="2419927"/>
                  <a:ext cx="2560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7F92152-89B7-FD12-24C5-9BED9CCDC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2934" y="2419927"/>
                  <a:ext cx="256086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239F8180-4514-2997-E531-8DB9DC0FC184}"/>
                </a:ext>
              </a:extLst>
            </p:cNvPr>
            <p:cNvCxnSpPr>
              <a:stCxn id="4" idx="3"/>
              <a:endCxn id="33" idx="4"/>
            </p:cNvCxnSpPr>
            <p:nvPr/>
          </p:nvCxnSpPr>
          <p:spPr>
            <a:xfrm flipH="1">
              <a:off x="2384249" y="2694134"/>
              <a:ext cx="8737511" cy="473405"/>
            </a:xfrm>
            <a:prstGeom prst="bentConnector4">
              <a:avLst>
                <a:gd name="adj1" fmla="val -2616"/>
                <a:gd name="adj2" fmla="val 44618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C99662B-FB64-CCCD-00A1-F090643B30A3}"/>
                </a:ext>
              </a:extLst>
            </p:cNvPr>
            <p:cNvSpPr txBox="1"/>
            <p:nvPr/>
          </p:nvSpPr>
          <p:spPr>
            <a:xfrm>
              <a:off x="5218035" y="4814962"/>
              <a:ext cx="30699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Feedback (Chassis Tilt Angle)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72853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DA3E305-96CE-2886-1632-3E3D970C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B3A7FB67-ED28-0B1E-A2C9-96C3CFCCA687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FAFEEDD5-1F2E-4510-7D8C-07EBD4B3A159}"/>
              </a:ext>
            </a:extLst>
          </p:cNvPr>
          <p:cNvSpPr txBox="1"/>
          <p:nvPr/>
        </p:nvSpPr>
        <p:spPr>
          <a:xfrm>
            <a:off x="3877929" y="-60354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F8DD1351-E4C8-DA82-FDE4-EE877CE7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6A5E6689-7729-1FE7-D1D3-E55AAAA8F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36A490F8-D6B6-BECD-8393-CD39773508D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t="20" b="16520"/>
          <a:stretch>
            <a:fillRect/>
          </a:stretch>
        </p:blipFill>
        <p:spPr>
          <a:xfrm>
            <a:off x="-1" y="-1"/>
            <a:ext cx="12163425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B226D2D-64B0-F2EC-EB9B-BF6E6DED21E2}"/>
              </a:ext>
            </a:extLst>
          </p:cNvPr>
          <p:cNvGrpSpPr/>
          <p:nvPr/>
        </p:nvGrpSpPr>
        <p:grpSpPr>
          <a:xfrm>
            <a:off x="428596" y="281371"/>
            <a:ext cx="11609024" cy="6368636"/>
            <a:chOff x="87444" y="510683"/>
            <a:chExt cx="11609024" cy="6368636"/>
          </a:xfrm>
        </p:grpSpPr>
        <p:sp>
          <p:nvSpPr>
            <p:cNvPr id="2" name="Google Shape;112;g35aa9b09be0_0_25">
              <a:extLst>
                <a:ext uri="{FF2B5EF4-FFF2-40B4-BE49-F238E27FC236}">
                  <a16:creationId xmlns:a16="http://schemas.microsoft.com/office/drawing/2014/main" id="{B307BB15-5799-3ABE-8BDB-88712F56AFAC}"/>
                </a:ext>
              </a:extLst>
            </p:cNvPr>
            <p:cNvSpPr txBox="1"/>
            <p:nvPr/>
          </p:nvSpPr>
          <p:spPr>
            <a:xfrm>
              <a:off x="194319" y="510683"/>
              <a:ext cx="9439799" cy="571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Times New Roman"/>
                  <a:cs typeface="Times New Roman"/>
                  <a:sym typeface="Times New Roman"/>
                </a:rPr>
                <a:t>PID Controller Implementation: Tuning of PID Gains</a:t>
              </a:r>
              <a:endPara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10C8AB0-E39B-0DEE-AD7D-AF05ABE747D4}"/>
                    </a:ext>
                  </a:extLst>
                </p:cNvPr>
                <p:cNvSpPr txBox="1"/>
                <p:nvPr/>
              </p:nvSpPr>
              <p:spPr>
                <a:xfrm>
                  <a:off x="161926" y="1513703"/>
                  <a:ext cx="6108246" cy="2208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b="1" dirty="0"/>
                    <a:t>M</a:t>
                  </a:r>
                  <a:r>
                    <a:rPr lang="en-US" b="1" baseline="-25000" dirty="0"/>
                    <a:t>c</a:t>
                  </a:r>
                  <a:r>
                    <a:rPr lang="en-US" dirty="0"/>
                    <a:t>  = Mass of Chassis = 1 kg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M</a:t>
                  </a:r>
                  <a:r>
                    <a:rPr lang="en-IN" b="1" baseline="-25000" dirty="0"/>
                    <a:t>w</a:t>
                  </a:r>
                  <a:r>
                    <a:rPr lang="en-IN" dirty="0"/>
                    <a:t> = Mass of each Wheel = 0.1 kg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L</a:t>
                  </a:r>
                  <a:r>
                    <a:rPr lang="en-IN" b="1" baseline="-25000" dirty="0"/>
                    <a:t>c</a:t>
                  </a:r>
                  <a:r>
                    <a:rPr lang="en-IN" dirty="0"/>
                    <a:t> = Distance of COM of the chassis from the axis of rotation of wheels</a:t>
                  </a:r>
                </a:p>
                <a:p>
                  <a:r>
                    <a:rPr lang="en-IN" dirty="0"/>
                    <a:t>          = 0.129 m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R</a:t>
                  </a:r>
                  <a:r>
                    <a:rPr lang="en-IN" b="1" baseline="-25000" dirty="0"/>
                    <a:t>w</a:t>
                  </a:r>
                  <a:r>
                    <a:rPr lang="en-IN" dirty="0"/>
                    <a:t> = Radius of each wheel = 0.0325 m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dirty="0"/>
                    <a:t>I</a:t>
                  </a:r>
                  <a:r>
                    <a:rPr lang="en-IN" baseline="-25000" dirty="0"/>
                    <a:t>c</a:t>
                  </a:r>
                  <a:r>
                    <a:rPr lang="en-IN" dirty="0"/>
                    <a:t> = Moment of Inertia of Chassis rotating abt. Wheel axis </a:t>
                  </a:r>
                </a:p>
                <a:p>
                  <a:r>
                    <a:rPr lang="en-IN" dirty="0"/>
                    <a:t>       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en-I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I</a:t>
                  </a:r>
                  <a:r>
                    <a:rPr lang="en-IN" b="1" baseline="-25000" dirty="0"/>
                    <a:t>w</a:t>
                  </a:r>
                  <a:r>
                    <a:rPr lang="en-IN" dirty="0"/>
                    <a:t> = Moment of Inertia of Wheel rotating abt. Wheel axis</a:t>
                  </a:r>
                </a:p>
                <a:p>
                  <a:r>
                    <a:rPr lang="en-IN" dirty="0"/>
                    <a:t>       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10C8AB0-E39B-0DEE-AD7D-AF05ABE74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26" y="1513703"/>
                  <a:ext cx="6108246" cy="2208810"/>
                </a:xfrm>
                <a:prstGeom prst="rect">
                  <a:avLst/>
                </a:prstGeom>
                <a:blipFill>
                  <a:blip r:embed="rId5"/>
                  <a:stretch>
                    <a:fillRect l="-299" t="-55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8DEEEB-0C20-F958-CA3E-1CF65BE8A190}"/>
                </a:ext>
              </a:extLst>
            </p:cNvPr>
            <p:cNvSpPr txBox="1"/>
            <p:nvPr/>
          </p:nvSpPr>
          <p:spPr>
            <a:xfrm>
              <a:off x="152400" y="3718930"/>
              <a:ext cx="54133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Transfer Function of the Segway Robot Plant:</a:t>
              </a:r>
              <a:endParaRPr lang="en-IN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5A6C5B-7AD5-984F-841F-50C8D05A3241}"/>
                    </a:ext>
                  </a:extLst>
                </p:cNvPr>
                <p:cNvSpPr txBox="1"/>
                <p:nvPr/>
              </p:nvSpPr>
              <p:spPr>
                <a:xfrm>
                  <a:off x="1628735" y="4128906"/>
                  <a:ext cx="1696353" cy="6904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l-GR" sz="1200" i="0" dirty="0"/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200" i="0" dirty="0"/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IN" sz="1200" i="0" dirty="0"/>
                                  <m:t>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120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</m:num>
                          <m:den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5A6C5B-7AD5-984F-841F-50C8D05A3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735" y="4128906"/>
                  <a:ext cx="1696353" cy="69044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446152-EA7B-F4C9-6C73-9207AB4F3B21}"/>
                    </a:ext>
                  </a:extLst>
                </p:cNvPr>
                <p:cNvSpPr txBox="1"/>
                <p:nvPr/>
              </p:nvSpPr>
              <p:spPr>
                <a:xfrm>
                  <a:off x="87444" y="4852674"/>
                  <a:ext cx="6864939" cy="20266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l-GR" sz="1200" b="0" i="0" dirty="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1200" b="0" i="0" dirty="0"/>
                            <m:t>θ</m:t>
                          </m:r>
                          <m:r>
                            <m:rPr>
                              <m:nor/>
                            </m:rPr>
                            <a:rPr lang="en-IN" sz="1200" b="0" i="0" dirty="0"/>
                            <m:t> 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r>
                    <a:rPr lang="en-IN" sz="1200" b="1" dirty="0"/>
                    <a:t> </a:t>
                  </a:r>
                  <a:r>
                    <a:rPr lang="en-IN" sz="1200" dirty="0"/>
                    <a:t>= </a:t>
                  </a:r>
                  <a:r>
                    <a:rPr lang="en-IN" sz="1100" dirty="0"/>
                    <a:t>Chassis Tilt Angle               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l-GR" sz="12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IN" sz="1200" dirty="0"/>
                    <a:t>  = </a:t>
                  </a:r>
                  <a:r>
                    <a:rPr lang="en-IN" sz="1100" dirty="0"/>
                    <a:t>Torque applied to each individual wheel              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IN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a14:m>
                  <a:endParaRPr lang="en-IN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US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a14:m>
                  <a:endParaRPr lang="en-US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a14:m>
                  <a:endParaRPr lang="en-IN" sz="1200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446152-EA7B-F4C9-6C73-9207AB4F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44" y="4852674"/>
                  <a:ext cx="6864939" cy="2026645"/>
                </a:xfrm>
                <a:prstGeom prst="rect">
                  <a:avLst/>
                </a:prstGeom>
                <a:blipFill>
                  <a:blip r:embed="rId7"/>
                  <a:stretch>
                    <a:fillRect b="-60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8196A8D-3652-1C3F-3B2F-6E4855B1A137}"/>
                </a:ext>
              </a:extLst>
            </p:cNvPr>
            <p:cNvCxnSpPr/>
            <p:nvPr/>
          </p:nvCxnSpPr>
          <p:spPr>
            <a:xfrm>
              <a:off x="6270172" y="1364819"/>
              <a:ext cx="0" cy="5404116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6390158-5581-7408-658F-1D03F98DD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34044" y="1364819"/>
              <a:ext cx="4962424" cy="5363948"/>
            </a:xfrm>
            <a:prstGeom prst="rect">
              <a:avLst/>
            </a:prstGeom>
          </p:spPr>
        </p:pic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17841553-74DB-8234-631E-07F1A0267D32}"/>
                </a:ext>
              </a:extLst>
            </p:cNvPr>
            <p:cNvSpPr/>
            <p:nvPr/>
          </p:nvSpPr>
          <p:spPr>
            <a:xfrm>
              <a:off x="5263652" y="3888207"/>
              <a:ext cx="978408" cy="484632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088B02-1272-D7CC-8460-A83888043235}"/>
                </a:ext>
              </a:extLst>
            </p:cNvPr>
            <p:cNvSpPr txBox="1"/>
            <p:nvPr/>
          </p:nvSpPr>
          <p:spPr>
            <a:xfrm>
              <a:off x="6646217" y="997527"/>
              <a:ext cx="462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MATLAB Code For Getting Tuned PID Parameters: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237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55F4EF-7207-4CB7-6526-17609853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4A78F1C2-D763-0351-388A-B30E6364069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AA1B6C46-A5D2-976C-800C-E4280BFF1BEE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2E12548-9847-6660-A94D-8BFB1638607F}"/>
              </a:ext>
            </a:extLst>
          </p:cNvPr>
          <p:cNvSpPr txBox="1"/>
          <p:nvPr/>
        </p:nvSpPr>
        <p:spPr>
          <a:xfrm>
            <a:off x="3877930" y="-51189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10702D0-60F4-0D0E-7F15-45222152E843}"/>
              </a:ext>
            </a:extLst>
          </p:cNvPr>
          <p:cNvSpPr txBox="1"/>
          <p:nvPr/>
        </p:nvSpPr>
        <p:spPr>
          <a:xfrm>
            <a:off x="718454" y="467768"/>
            <a:ext cx="10107875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Implementation: Tuning of PID Gains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DD795BC9-E22F-00D8-BF3F-3B7E5C9A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3C6981E5-E3AE-8325-F1A2-D41C9B57E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7C6595-1F66-4C0B-B264-FCAE5BBD5C4A}"/>
              </a:ext>
            </a:extLst>
          </p:cNvPr>
          <p:cNvCxnSpPr>
            <a:cxnSpLocks/>
          </p:cNvCxnSpPr>
          <p:nvPr/>
        </p:nvCxnSpPr>
        <p:spPr>
          <a:xfrm>
            <a:off x="6836226" y="1420759"/>
            <a:ext cx="0" cy="460267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01D5369-A67F-5EF4-F550-43EBAEA84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54" y="1266570"/>
            <a:ext cx="4962424" cy="5363948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AEE9860A-82DF-93E7-0A79-17C26C400942}"/>
              </a:ext>
            </a:extLst>
          </p:cNvPr>
          <p:cNvSpPr/>
          <p:nvPr/>
        </p:nvSpPr>
        <p:spPr>
          <a:xfrm>
            <a:off x="5829706" y="3888207"/>
            <a:ext cx="978408" cy="48463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0BBECE-4B20-2302-B600-A4C73ABE4A09}"/>
              </a:ext>
            </a:extLst>
          </p:cNvPr>
          <p:cNvSpPr txBox="1"/>
          <p:nvPr/>
        </p:nvSpPr>
        <p:spPr>
          <a:xfrm>
            <a:off x="718454" y="1003793"/>
            <a:ext cx="4623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Code For Getting Tuned PID Parameters: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43944-26A0-B426-D7D0-5A9D1DF8B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390" y="2403294"/>
            <a:ext cx="3408942" cy="296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CE52D20-7521-46AE-394C-BA3B3EA0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35ED0B6-80FF-60E5-57F6-1C84F03511DC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D38A188C-CC04-C8A6-DF4C-35E59503BB95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43ABD8DB-90B2-C8B6-0577-2683498870C1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7F578847-7A81-12BB-4A6E-83AB74B8F8B5}"/>
              </a:ext>
            </a:extLst>
          </p:cNvPr>
          <p:cNvSpPr txBox="1"/>
          <p:nvPr/>
        </p:nvSpPr>
        <p:spPr>
          <a:xfrm>
            <a:off x="407763" y="777145"/>
            <a:ext cx="1080254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: Simulink Block Diagram of PID Controller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CDE2385B-8C17-9DC2-74F0-D88611A69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91212D1D-A870-6C15-2801-5DCDE20C8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7A82F4-7A0B-8C7E-C8BB-3C688D8C170B}"/>
              </a:ext>
            </a:extLst>
          </p:cNvPr>
          <p:cNvSpPr txBox="1"/>
          <p:nvPr/>
        </p:nvSpPr>
        <p:spPr>
          <a:xfrm>
            <a:off x="1440872" y="5738159"/>
            <a:ext cx="9310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</a:t>
            </a:r>
            <a:r>
              <a:rPr lang="en-US" b="1" i="1" dirty="0"/>
              <a:t>4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Block Diagram of PID Controller as implemented in Simulink</a:t>
            </a:r>
            <a:endParaRPr kumimoji="0" lang="en-IN" sz="1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6" descr="A diagram of a machine&#10;&#10;AI-generated content may be incorrect.">
            <a:extLst>
              <a:ext uri="{FF2B5EF4-FFF2-40B4-BE49-F238E27FC236}">
                <a16:creationId xmlns:a16="http://schemas.microsoft.com/office/drawing/2014/main" id="{7AB5341F-016F-6B30-27E2-4D12C6229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338" y="1348466"/>
            <a:ext cx="8911321" cy="429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70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FE46124-0C23-0B0F-EA45-E533D01A331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2;g35aa9b09be0_0_25">
            <a:extLst>
              <a:ext uri="{FF2B5EF4-FFF2-40B4-BE49-F238E27FC236}">
                <a16:creationId xmlns:a16="http://schemas.microsoft.com/office/drawing/2014/main" id="{AB63D598-22A8-7C1E-1898-BDC9C1B41F08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112;g35aa9b09be0_0_25">
            <a:extLst>
              <a:ext uri="{FF2B5EF4-FFF2-40B4-BE49-F238E27FC236}">
                <a16:creationId xmlns:a16="http://schemas.microsoft.com/office/drawing/2014/main" id="{0612BD9C-B566-AC9E-806B-8DBA442107AF}"/>
              </a:ext>
            </a:extLst>
          </p:cNvPr>
          <p:cNvSpPr txBox="1"/>
          <p:nvPr/>
        </p:nvSpPr>
        <p:spPr>
          <a:xfrm>
            <a:off x="419638" y="1099093"/>
            <a:ext cx="1080254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: Simulink Block Diagram of Complete Project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93AA50D-CDFB-6D0C-3169-ACE8A64F0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47766"/>
            <a:ext cx="12191999" cy="384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0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862C-04B9-0295-F66E-BEACF83D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EB80EFDB-8EB3-2DAA-D789-D9DB049C5A28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B41D621E-34E6-508C-3FB7-24B63BB17D48}"/>
              </a:ext>
            </a:extLst>
          </p:cNvPr>
          <p:cNvSpPr txBox="1"/>
          <p:nvPr/>
        </p:nvSpPr>
        <p:spPr>
          <a:xfrm>
            <a:off x="4023325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9FCB8-9049-798C-6436-DD16FB577ABC}"/>
              </a:ext>
            </a:extLst>
          </p:cNvPr>
          <p:cNvSpPr txBox="1"/>
          <p:nvPr/>
        </p:nvSpPr>
        <p:spPr>
          <a:xfrm>
            <a:off x="1986016" y="2782669"/>
            <a:ext cx="8725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Part 2 : LQR Controller Implementation</a:t>
            </a:r>
            <a:endParaRPr lang="en-IN" sz="3600" b="1" i="1" dirty="0"/>
          </a:p>
        </p:txBody>
      </p:sp>
    </p:spTree>
    <p:extLst>
      <p:ext uri="{BB962C8B-B14F-4D97-AF65-F5344CB8AC3E}">
        <p14:creationId xmlns:p14="http://schemas.microsoft.com/office/powerpoint/2010/main" val="4241558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47CFF-573B-1DDD-D260-4AF2D524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36F5EE7C-4FF1-7B7D-03D3-41BDE7ABD8D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1DEF9FDE-C204-4F49-AECE-436921A32E35}"/>
              </a:ext>
            </a:extLst>
          </p:cNvPr>
          <p:cNvSpPr txBox="1"/>
          <p:nvPr/>
        </p:nvSpPr>
        <p:spPr>
          <a:xfrm>
            <a:off x="4023325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3AF7AF7C-C0DC-5091-DD70-255E26BF992D}"/>
              </a:ext>
            </a:extLst>
          </p:cNvPr>
          <p:cNvSpPr txBox="1"/>
          <p:nvPr/>
        </p:nvSpPr>
        <p:spPr>
          <a:xfrm>
            <a:off x="444152" y="866791"/>
            <a:ext cx="9540386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Model of Segway Robot: The Force Approach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951A41-B4B1-A663-7D80-00AD85B9AB8F}"/>
              </a:ext>
            </a:extLst>
          </p:cNvPr>
          <p:cNvGrpSpPr/>
          <p:nvPr/>
        </p:nvGrpSpPr>
        <p:grpSpPr>
          <a:xfrm>
            <a:off x="444152" y="1438112"/>
            <a:ext cx="3198929" cy="4485933"/>
            <a:chOff x="487474" y="1471845"/>
            <a:chExt cx="3198929" cy="44859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38F49E-FAC4-02BB-7327-A21EE2D2343E}"/>
                </a:ext>
              </a:extLst>
            </p:cNvPr>
            <p:cNvSpPr txBox="1"/>
            <p:nvPr/>
          </p:nvSpPr>
          <p:spPr>
            <a:xfrm>
              <a:off x="487474" y="4572783"/>
              <a:ext cx="319892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Figure </a:t>
              </a:r>
              <a:r>
                <a:rPr lang="en-US" sz="1200" b="1" i="1" dirty="0"/>
                <a:t>6</a:t>
              </a:r>
              <a:r>
                <a:rPr kumimoji="0" lang="en-US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. Simplified Model of the Self-Balancing Segway Robot used for Mathematical Analysis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Source: [4] Feriyonika, F. &amp; Hidayat, A. (2020). Balancing Control of Two-Wheeled Robot by Using Linear Quadratic Gaussian (LQG).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D12E38D-8E8D-4367-3CC3-4B1B29D53526}"/>
                </a:ext>
              </a:extLst>
            </p:cNvPr>
            <p:cNvGrpSpPr/>
            <p:nvPr/>
          </p:nvGrpSpPr>
          <p:grpSpPr>
            <a:xfrm>
              <a:off x="1039446" y="1471845"/>
              <a:ext cx="2493881" cy="2985970"/>
              <a:chOff x="1039446" y="1471845"/>
              <a:chExt cx="2493881" cy="298597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A9DF596-50E5-29DC-E87D-3CF3F57254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046"/>
              <a:stretch>
                <a:fillRect/>
              </a:stretch>
            </p:blipFill>
            <p:spPr>
              <a:xfrm>
                <a:off x="1039446" y="1592719"/>
                <a:ext cx="1908304" cy="2749221"/>
              </a:xfrm>
              <a:prstGeom prst="rect">
                <a:avLst/>
              </a:prstGeom>
            </p:spPr>
          </p:pic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CB517E9-6FDE-EAD7-00DD-B8652BB43B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74781" y="1652094"/>
                <a:ext cx="0" cy="280572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B2C65227-289B-2C85-F2EE-95813392BA7A}"/>
                  </a:ext>
                </a:extLst>
              </p:cNvPr>
              <p:cNvSpPr/>
              <p:nvPr/>
            </p:nvSpPr>
            <p:spPr>
              <a:xfrm rot="20483349">
                <a:off x="1911347" y="2136555"/>
                <a:ext cx="914400" cy="914400"/>
              </a:xfrm>
              <a:prstGeom prst="arc">
                <a:avLst>
                  <a:gd name="adj1" fmla="val 16730062"/>
                  <a:gd name="adj2" fmla="val 1915580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A0B71-CBA3-955A-BCAF-285AF5E11E45}"/>
                  </a:ext>
                </a:extLst>
              </p:cNvPr>
              <p:cNvSpPr txBox="1"/>
              <p:nvPr/>
            </p:nvSpPr>
            <p:spPr>
              <a:xfrm>
                <a:off x="2263291" y="1830117"/>
                <a:ext cx="373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l-GR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θ</a:t>
                </a: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</a:t>
                </a:r>
                <a:endPara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032403-5D73-EFDE-56CA-51182D1A3D39}"/>
                  </a:ext>
                </a:extLst>
              </p:cNvPr>
              <p:cNvSpPr txBox="1"/>
              <p:nvPr/>
            </p:nvSpPr>
            <p:spPr>
              <a:xfrm>
                <a:off x="2895318" y="1471845"/>
                <a:ext cx="603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COM</a:t>
                </a:r>
                <a:endParaRPr kumimoji="0" lang="en-I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766ECB0-1BF6-0BC0-2C67-803A91E8F821}"/>
                  </a:ext>
                </a:extLst>
              </p:cNvPr>
              <p:cNvGrpSpPr/>
              <p:nvPr/>
            </p:nvGrpSpPr>
            <p:grpSpPr>
              <a:xfrm>
                <a:off x="1041061" y="2845639"/>
                <a:ext cx="707290" cy="846467"/>
                <a:chOff x="2970145" y="3016321"/>
                <a:chExt cx="707290" cy="846467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84C87714-DA8E-5875-D11B-47F61F15298C}"/>
                    </a:ext>
                  </a:extLst>
                </p:cNvPr>
                <p:cNvGrpSpPr/>
                <p:nvPr/>
              </p:nvGrpSpPr>
              <p:grpSpPr>
                <a:xfrm>
                  <a:off x="3012187" y="3217391"/>
                  <a:ext cx="665248" cy="613718"/>
                  <a:chOff x="724165" y="3708900"/>
                  <a:chExt cx="665248" cy="613718"/>
                </a:xfrm>
              </p:grpSpPr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46C7F562-4700-B5E3-643E-F7AD5D4F41C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24165" y="3708900"/>
                    <a:ext cx="0" cy="613718"/>
                  </a:xfrm>
                  <a:prstGeom prst="straightConnector1">
                    <a:avLst/>
                  </a:prstGeom>
                  <a:ln w="28575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413275F4-BC77-B577-494B-D6307058438A}"/>
                      </a:ext>
                    </a:extLst>
                  </p:cNvPr>
                  <p:cNvCxnSpPr/>
                  <p:nvPr/>
                </p:nvCxnSpPr>
                <p:spPr>
                  <a:xfrm>
                    <a:off x="724165" y="4322618"/>
                    <a:ext cx="665248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ECAA722-E250-72DB-8918-79502175926F}"/>
                    </a:ext>
                  </a:extLst>
                </p:cNvPr>
                <p:cNvSpPr txBox="1"/>
                <p:nvPr/>
              </p:nvSpPr>
              <p:spPr>
                <a:xfrm>
                  <a:off x="3372219" y="3555011"/>
                  <a:ext cx="304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X</a:t>
                  </a:r>
                  <a:endPara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D9584F5-6880-FDF0-6B06-1B1082AC3459}"/>
                    </a:ext>
                  </a:extLst>
                </p:cNvPr>
                <p:cNvSpPr txBox="1"/>
                <p:nvPr/>
              </p:nvSpPr>
              <p:spPr>
                <a:xfrm>
                  <a:off x="2970145" y="3016321"/>
                  <a:ext cx="304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Y</a:t>
                  </a:r>
                  <a:endPara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1D9A566-F936-DC35-3FEC-BE2613D56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4780" y="3637869"/>
                <a:ext cx="725400" cy="2391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3323BDF-6A6F-5C30-BF7C-B855241B7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9296" y="1782996"/>
                <a:ext cx="754031" cy="22068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6893FFD7-94C4-9ADF-AD70-17F081609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1468" y="1956053"/>
                <a:ext cx="559674" cy="1882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2CC671A7-FEFD-5E23-CDB9-DFFBF3E97C28}"/>
              </a:ext>
            </a:extLst>
          </p:cNvPr>
          <p:cNvSpPr/>
          <p:nvPr/>
        </p:nvSpPr>
        <p:spPr>
          <a:xfrm flipH="1">
            <a:off x="2159882" y="3550966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42F8B8-7764-C423-20DE-D384E19CAC74}"/>
              </a:ext>
            </a:extLst>
          </p:cNvPr>
          <p:cNvSpPr/>
          <p:nvPr/>
        </p:nvSpPr>
        <p:spPr>
          <a:xfrm flipH="1">
            <a:off x="2597795" y="1604726"/>
            <a:ext cx="332848" cy="3240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259EB3-6576-82A0-37B3-7DC1AFC859C7}"/>
              </a:ext>
            </a:extLst>
          </p:cNvPr>
          <p:cNvSpPr txBox="1"/>
          <p:nvPr/>
        </p:nvSpPr>
        <p:spPr>
          <a:xfrm>
            <a:off x="4023325" y="1796384"/>
            <a:ext cx="4728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Linearized Model Equations:</a:t>
            </a:r>
            <a:endParaRPr lang="en-IN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F3EFBE-0D2B-DDB0-2364-FCFD4AD6294C}"/>
                  </a:ext>
                </a:extLst>
              </p:cNvPr>
              <p:cNvSpPr txBox="1"/>
              <p:nvPr/>
            </p:nvSpPr>
            <p:spPr>
              <a:xfrm>
                <a:off x="4894397" y="2444229"/>
                <a:ext cx="7149185" cy="331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𝑐𝑎𝑟𝑡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𝑐ℎ𝑎𝑠𝑠𝑖𝑠</m:t>
                        </m:r>
                      </m:sub>
                    </m:sSub>
                  </m:oMath>
                </a14:m>
                <a:r>
                  <a:rPr lang="en-IN" sz="2000" dirty="0"/>
                  <a:t>).ẍ + b.ẋ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𝑐ℎ𝑎𝑠𝑠𝑖𝑠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z-Cyrl-AZ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z-Cyrl-AZ" sz="2000" i="1">
                            <a:latin typeface="Cambria Math" panose="02040503050406030204" pitchFamily="18" charset="0"/>
                          </a:rPr>
                          <m:t>Ӫ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F3EFBE-0D2B-DDB0-2364-FCFD4AD62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397" y="2444229"/>
                <a:ext cx="7149185" cy="331437"/>
              </a:xfrm>
              <a:prstGeom prst="rect">
                <a:avLst/>
              </a:prstGeom>
              <a:blipFill>
                <a:blip r:embed="rId4"/>
                <a:stretch>
                  <a:fillRect l="-1279" t="-24074" b="-3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3836C1-D4E8-0597-6F5B-84DC81BDF429}"/>
                  </a:ext>
                </a:extLst>
              </p:cNvPr>
              <p:cNvSpPr txBox="1"/>
              <p:nvPr/>
            </p:nvSpPr>
            <p:spPr>
              <a:xfrm>
                <a:off x="4346774" y="3218564"/>
                <a:ext cx="7075848" cy="3509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𝑐ℎ𝑎𝑠𝑠𝑖𝑠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𝑐ℎ𝑎𝑠𝑠𝑖𝑠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z-Cyrl-AZ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z-Cyrl-AZ" sz="2000" i="1">
                            <a:latin typeface="Cambria Math" panose="02040503050406030204" pitchFamily="18" charset="0"/>
                          </a:rPr>
                          <m:t>Ӫ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𝑐ℎ𝑎𝑠𝑠𝑖𝑠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l-GR" sz="2000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i="0" dirty="0"/>
                          <m:t>θ</m:t>
                        </m:r>
                        <m:r>
                          <m:rPr>
                            <m:nor/>
                          </m:rPr>
                          <a:rPr lang="en-IN" sz="2000" i="0" dirty="0"/>
                          <m:t>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𝑐ℎ𝑎𝑠𝑠𝑖𝑠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IN" sz="2000" i="0" dirty="0"/>
                      <m:t>ẍ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3836C1-D4E8-0597-6F5B-84DC81BDF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774" y="3218564"/>
                <a:ext cx="7075848" cy="350930"/>
              </a:xfrm>
              <a:prstGeom prst="rect">
                <a:avLst/>
              </a:prstGeom>
              <a:blipFill>
                <a:blip r:embed="rId5"/>
                <a:stretch>
                  <a:fillRect t="-15517" r="-345" b="-36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92B6DC-4CC5-4492-2738-13E77DC717D5}"/>
              </a:ext>
            </a:extLst>
          </p:cNvPr>
          <p:cNvCxnSpPr/>
          <p:nvPr/>
        </p:nvCxnSpPr>
        <p:spPr>
          <a:xfrm>
            <a:off x="2956858" y="3647335"/>
            <a:ext cx="6862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59DFDA4-B011-9A22-C419-342B877A4AD8}"/>
                  </a:ext>
                </a:extLst>
              </p:cNvPr>
              <p:cNvSpPr txBox="1"/>
              <p:nvPr/>
            </p:nvSpPr>
            <p:spPr>
              <a:xfrm>
                <a:off x="2962830" y="3301352"/>
                <a:ext cx="690574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59DFDA4-B011-9A22-C419-342B877A4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830" y="3301352"/>
                <a:ext cx="690574" cy="324384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36B2587-91DA-6CF3-7A48-2AF782FEC6D0}"/>
              </a:ext>
            </a:extLst>
          </p:cNvPr>
          <p:cNvSpPr txBox="1"/>
          <p:nvPr/>
        </p:nvSpPr>
        <p:spPr>
          <a:xfrm>
            <a:off x="3089845" y="2615627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230E21-4B7C-81E0-671C-720AC3D506AE}"/>
              </a:ext>
            </a:extLst>
          </p:cNvPr>
          <p:cNvSpPr txBox="1"/>
          <p:nvPr/>
        </p:nvSpPr>
        <p:spPr>
          <a:xfrm>
            <a:off x="4834758" y="3923517"/>
            <a:ext cx="6098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i="1" dirty="0"/>
              <a:t>(Source: Adapted from H. Hellman and H. Sunnerman, “Two-Wheeled Self-Balancing Robot: Design and Control Based on the Concept of an Inverted Pendulum,” B.Sc. thesis, KTH Royal Institute of Technology, Stockholm, Sweden, 2015)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563233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13AA-1193-1E26-1C73-793CB3C5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66A02E53-82C1-9A1E-9CE6-E9D81C0CC3C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 b="1639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DC2D1875-B8FA-1138-A262-EF015776C9AF}"/>
              </a:ext>
            </a:extLst>
          </p:cNvPr>
          <p:cNvSpPr txBox="1"/>
          <p:nvPr/>
        </p:nvSpPr>
        <p:spPr>
          <a:xfrm>
            <a:off x="4023325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448CAAC1-000C-5CEA-00E8-83CB24380E0A}"/>
              </a:ext>
            </a:extLst>
          </p:cNvPr>
          <p:cNvSpPr txBox="1"/>
          <p:nvPr/>
        </p:nvSpPr>
        <p:spPr>
          <a:xfrm>
            <a:off x="444152" y="866791"/>
            <a:ext cx="9540386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Model of Segway Robot: The Force Approach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088326-EE09-3934-FBC5-E8D40101725E}"/>
              </a:ext>
            </a:extLst>
          </p:cNvPr>
          <p:cNvGrpSpPr/>
          <p:nvPr/>
        </p:nvGrpSpPr>
        <p:grpSpPr>
          <a:xfrm>
            <a:off x="444152" y="1438112"/>
            <a:ext cx="3198929" cy="4485933"/>
            <a:chOff x="487474" y="1471845"/>
            <a:chExt cx="3198929" cy="44859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77DA12-3F4C-D394-E2A6-3D7E67B977B1}"/>
                </a:ext>
              </a:extLst>
            </p:cNvPr>
            <p:cNvSpPr txBox="1"/>
            <p:nvPr/>
          </p:nvSpPr>
          <p:spPr>
            <a:xfrm>
              <a:off x="487474" y="4572783"/>
              <a:ext cx="319892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Figure 7. Simplified Model of the Self-Balancing Segway Robot used for Mathematical Analysis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Source: [4] Feriyonika, F. &amp; Hidayat, A. (2020). Balancing Control of Two-Wheeled Robot by Using Linear Quadratic Gaussian (LQG).</a:t>
              </a:r>
              <a:endPara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3570FD-46F9-FB8F-3D4F-37F19A5489F8}"/>
                </a:ext>
              </a:extLst>
            </p:cNvPr>
            <p:cNvGrpSpPr/>
            <p:nvPr/>
          </p:nvGrpSpPr>
          <p:grpSpPr>
            <a:xfrm>
              <a:off x="1039446" y="1471845"/>
              <a:ext cx="2493881" cy="2985970"/>
              <a:chOff x="1039446" y="1471845"/>
              <a:chExt cx="2493881" cy="298597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321D649-C2D7-F7ED-E75E-37B984861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046"/>
              <a:stretch>
                <a:fillRect/>
              </a:stretch>
            </p:blipFill>
            <p:spPr>
              <a:xfrm>
                <a:off x="1039446" y="1592719"/>
                <a:ext cx="1908304" cy="2749221"/>
              </a:xfrm>
              <a:prstGeom prst="rect">
                <a:avLst/>
              </a:prstGeom>
            </p:spPr>
          </p:pic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0383D97-B39D-F0BC-D594-12FB4A3B68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74781" y="1652094"/>
                <a:ext cx="0" cy="280572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D1328D68-D26A-E3B3-2EF4-277F1C309DBE}"/>
                  </a:ext>
                </a:extLst>
              </p:cNvPr>
              <p:cNvSpPr/>
              <p:nvPr/>
            </p:nvSpPr>
            <p:spPr>
              <a:xfrm rot="20483349">
                <a:off x="1911347" y="2136555"/>
                <a:ext cx="914400" cy="914400"/>
              </a:xfrm>
              <a:prstGeom prst="arc">
                <a:avLst>
                  <a:gd name="adj1" fmla="val 16730062"/>
                  <a:gd name="adj2" fmla="val 1915580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CA183-49E8-C6EF-95BF-0A95FC586028}"/>
                  </a:ext>
                </a:extLst>
              </p:cNvPr>
              <p:cNvSpPr txBox="1"/>
              <p:nvPr/>
            </p:nvSpPr>
            <p:spPr>
              <a:xfrm>
                <a:off x="2263291" y="1830117"/>
                <a:ext cx="373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l-GR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θ</a:t>
                </a: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</a:t>
                </a:r>
                <a:endPara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765D0A-1A4A-9EA3-8509-412E975D7FC2}"/>
                  </a:ext>
                </a:extLst>
              </p:cNvPr>
              <p:cNvSpPr txBox="1"/>
              <p:nvPr/>
            </p:nvSpPr>
            <p:spPr>
              <a:xfrm>
                <a:off x="2895318" y="1471845"/>
                <a:ext cx="603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COM</a:t>
                </a:r>
                <a:endParaRPr kumimoji="0" lang="en-I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57E0B56-D1C3-B1C0-1C86-5225EA375D90}"/>
                  </a:ext>
                </a:extLst>
              </p:cNvPr>
              <p:cNvGrpSpPr/>
              <p:nvPr/>
            </p:nvGrpSpPr>
            <p:grpSpPr>
              <a:xfrm>
                <a:off x="1041061" y="2845639"/>
                <a:ext cx="707290" cy="846467"/>
                <a:chOff x="2970145" y="3016321"/>
                <a:chExt cx="707290" cy="846467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B1E9FF96-35E1-3C76-F0BF-F2DE43AFAAFB}"/>
                    </a:ext>
                  </a:extLst>
                </p:cNvPr>
                <p:cNvGrpSpPr/>
                <p:nvPr/>
              </p:nvGrpSpPr>
              <p:grpSpPr>
                <a:xfrm>
                  <a:off x="3012187" y="3217391"/>
                  <a:ext cx="665248" cy="613718"/>
                  <a:chOff x="724165" y="3708900"/>
                  <a:chExt cx="665248" cy="613718"/>
                </a:xfrm>
              </p:grpSpPr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EA95A792-1ED9-D91D-2A06-67A8E3E0359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24165" y="3708900"/>
                    <a:ext cx="0" cy="613718"/>
                  </a:xfrm>
                  <a:prstGeom prst="straightConnector1">
                    <a:avLst/>
                  </a:prstGeom>
                  <a:ln w="28575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CC0C942F-9517-1212-237F-7DA1EA7E70DF}"/>
                      </a:ext>
                    </a:extLst>
                  </p:cNvPr>
                  <p:cNvCxnSpPr/>
                  <p:nvPr/>
                </p:nvCxnSpPr>
                <p:spPr>
                  <a:xfrm>
                    <a:off x="724165" y="4322618"/>
                    <a:ext cx="665248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4BF2DE1-598A-047F-3A67-F7538C4C2E19}"/>
                    </a:ext>
                  </a:extLst>
                </p:cNvPr>
                <p:cNvSpPr txBox="1"/>
                <p:nvPr/>
              </p:nvSpPr>
              <p:spPr>
                <a:xfrm>
                  <a:off x="3372219" y="3555011"/>
                  <a:ext cx="304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X</a:t>
                  </a:r>
                  <a:endPara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13DEBA-5CA1-3F04-C71F-D01B3E2E071B}"/>
                    </a:ext>
                  </a:extLst>
                </p:cNvPr>
                <p:cNvSpPr txBox="1"/>
                <p:nvPr/>
              </p:nvSpPr>
              <p:spPr>
                <a:xfrm>
                  <a:off x="2970145" y="3016321"/>
                  <a:ext cx="304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rPr>
                    <a:t>Y</a:t>
                  </a:r>
                  <a:endPara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9B0D4C2-5BC1-5755-1698-B027196EF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4780" y="3637869"/>
                <a:ext cx="725400" cy="2391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8A3C1CB-B521-52F0-E570-76E036911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9296" y="1782996"/>
                <a:ext cx="754031" cy="22068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7882A01-7D90-DE2B-720E-B34E94BD2B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1468" y="1956053"/>
                <a:ext cx="559674" cy="1882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5FA6429C-8F1F-E3E8-3C68-0E4509F995B7}"/>
              </a:ext>
            </a:extLst>
          </p:cNvPr>
          <p:cNvSpPr/>
          <p:nvPr/>
        </p:nvSpPr>
        <p:spPr>
          <a:xfrm flipH="1">
            <a:off x="2159882" y="3550966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BF2155-BD9D-F053-D05F-5403ECCE6914}"/>
              </a:ext>
            </a:extLst>
          </p:cNvPr>
          <p:cNvSpPr/>
          <p:nvPr/>
        </p:nvSpPr>
        <p:spPr>
          <a:xfrm flipH="1">
            <a:off x="2597795" y="1604726"/>
            <a:ext cx="332848" cy="3240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5D4F25-3BE7-E029-A435-F85022D9474B}"/>
              </a:ext>
            </a:extLst>
          </p:cNvPr>
          <p:cNvSpPr txBox="1"/>
          <p:nvPr/>
        </p:nvSpPr>
        <p:spPr>
          <a:xfrm>
            <a:off x="3829124" y="1457830"/>
            <a:ext cx="4728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State-Space Model Equation:</a:t>
            </a:r>
            <a:endParaRPr lang="en-IN" sz="16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E408FBC-C238-3BC5-1318-A1D0460D0FDC}"/>
              </a:ext>
            </a:extLst>
          </p:cNvPr>
          <p:cNvCxnSpPr/>
          <p:nvPr/>
        </p:nvCxnSpPr>
        <p:spPr>
          <a:xfrm>
            <a:off x="2956858" y="3647335"/>
            <a:ext cx="6862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6EA45E-66D3-1A03-58D7-B12CE5E6380A}"/>
                  </a:ext>
                </a:extLst>
              </p:cNvPr>
              <p:cNvSpPr txBox="1"/>
              <p:nvPr/>
            </p:nvSpPr>
            <p:spPr>
              <a:xfrm>
                <a:off x="2962830" y="3301352"/>
                <a:ext cx="690574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6EA45E-66D3-1A03-58D7-B12CE5E63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830" y="3301352"/>
                <a:ext cx="690574" cy="324384"/>
              </a:xfrm>
              <a:prstGeom prst="rect">
                <a:avLst/>
              </a:prstGeom>
              <a:blipFill>
                <a:blip r:embed="rId4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E87256EB-3E31-400C-8AD2-1AC32C900EDF}"/>
              </a:ext>
            </a:extLst>
          </p:cNvPr>
          <p:cNvSpPr txBox="1"/>
          <p:nvPr/>
        </p:nvSpPr>
        <p:spPr>
          <a:xfrm>
            <a:off x="3089845" y="2615627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EB4F28-3228-B743-A4F9-279C40470E90}"/>
              </a:ext>
            </a:extLst>
          </p:cNvPr>
          <p:cNvSpPr txBox="1"/>
          <p:nvPr/>
        </p:nvSpPr>
        <p:spPr>
          <a:xfrm>
            <a:off x="4961034" y="5813940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i="1" dirty="0"/>
              <a:t>(Source: Adapted from H. Hellman and H. Sunnerman, “Two-Wheeled Self-Balancing Robot: Design and Control Based on the Concept of an Inverted Pendulum,” B.Sc. thesis, KTH Royal Institute of Technology, Stockholm, Sweden, 2015)</a:t>
            </a:r>
            <a:endParaRPr lang="en-IN" sz="1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51F9895-A9F5-8C29-2653-164C2C4AD81C}"/>
                  </a:ext>
                </a:extLst>
              </p:cNvPr>
              <p:cNvSpPr txBox="1"/>
              <p:nvPr/>
            </p:nvSpPr>
            <p:spPr>
              <a:xfrm>
                <a:off x="3708186" y="2589993"/>
                <a:ext cx="8603936" cy="35774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IN" i="0" baseline="-250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ẋ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i="0" dirty="0"/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i="0" dirty="0"/>
                                      <m:t>θ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i="0" dirty="0"/>
                                      <m:t>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𝑐ℎ𝑎𝑠𝑠𝑖𝑠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𝑐ℎ𝑎𝑠𝑠𝑖𝑠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𝐿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𝑐ℎ𝑎𝑠𝑠𝑖𝑠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𝑐ℎ𝑎𝑠𝑠𝑖𝑠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𝑐ℎ𝑎𝑠𝑠𝑖𝑠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g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𝑐𝑎𝑟𝑡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𝑐ℎ𝑎𝑠𝑠𝑖𝑠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𝑐ℎ𝑎𝑠𝑠𝑖𝑠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𝑐ℎ𝑎𝑠𝑠𝑖𝑠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𝑐ℎ𝑎𝑠𝑠𝑖𝑠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IN" i="0" baseline="-250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ẋ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i="0" dirty="0"/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i="0" dirty="0"/>
                                      <m:t>θ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i="0" dirty="0"/>
                                      <m:t>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𝑖𝑛𝑝𝑢𝑡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𝑐ℎ𝑎𝑠𝑠𝑖𝑠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𝑐𝑎𝑟𝑡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𝑐ℎ𝑎𝑠𝑠𝑖𝑠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𝑐ℎ𝑎𝑠𝑠𝑖𝑠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51F9895-A9F5-8C29-2653-164C2C4AD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186" y="2589993"/>
                <a:ext cx="8603936" cy="3577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A607B4-0922-ADE5-B434-BB8BE1B33C65}"/>
                  </a:ext>
                </a:extLst>
              </p:cNvPr>
              <p:cNvSpPr txBox="1"/>
              <p:nvPr/>
            </p:nvSpPr>
            <p:spPr>
              <a:xfrm>
                <a:off x="6246157" y="1866282"/>
                <a:ext cx="34805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    -- </a:t>
                </a:r>
                <a:r>
                  <a:rPr lang="en-US" b="1" dirty="0"/>
                  <a:t>State Equation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    -- </a:t>
                </a:r>
                <a:r>
                  <a:rPr lang="en-US" b="1" dirty="0"/>
                  <a:t>Output Equation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A607B4-0922-ADE5-B434-BB8BE1B33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157" y="1866282"/>
                <a:ext cx="3480505" cy="430887"/>
              </a:xfrm>
              <a:prstGeom prst="rect">
                <a:avLst/>
              </a:prstGeom>
              <a:blipFill>
                <a:blip r:embed="rId6"/>
                <a:stretch>
                  <a:fillRect l="-1926" t="-12676" r="-2277" b="-23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3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E2AC59E-D992-D9DA-8157-C286AC27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5C3FB6A8-133D-EC6A-3F94-FAA8AC8A482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E0B2EF67-3EF2-4FAF-0B1A-C2290FB4DEFA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D832732C-2592-7F1F-5B3E-AEF1F6254EA6}"/>
              </a:ext>
            </a:extLst>
          </p:cNvPr>
          <p:cNvSpPr txBox="1"/>
          <p:nvPr/>
        </p:nvSpPr>
        <p:spPr>
          <a:xfrm>
            <a:off x="417257" y="944603"/>
            <a:ext cx="8198810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LQR Controller Implementation: Basic Block Diagram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BED9526C-40DF-7C6A-C073-19BBE460D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8A39B7F3-9455-B56D-65D9-BC8A388E1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79FDE03-02F2-7863-AC61-04D9AEA645B0}"/>
              </a:ext>
            </a:extLst>
          </p:cNvPr>
          <p:cNvGrpSpPr/>
          <p:nvPr/>
        </p:nvGrpSpPr>
        <p:grpSpPr>
          <a:xfrm>
            <a:off x="774953" y="1701140"/>
            <a:ext cx="10346807" cy="3479785"/>
            <a:chOff x="774953" y="1701140"/>
            <a:chExt cx="10346807" cy="34797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D557B50-17DE-7DED-F5FC-EB3E0A7D0ED6}"/>
                </a:ext>
              </a:extLst>
            </p:cNvPr>
            <p:cNvGrpSpPr/>
            <p:nvPr/>
          </p:nvGrpSpPr>
          <p:grpSpPr>
            <a:xfrm>
              <a:off x="8616067" y="1701140"/>
              <a:ext cx="2505693" cy="2814452"/>
              <a:chOff x="5019938" y="1687999"/>
              <a:chExt cx="2152121" cy="3434347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BC87942-D82A-1806-EF03-D47A98C76A9E}"/>
                  </a:ext>
                </a:extLst>
              </p:cNvPr>
              <p:cNvSpPr/>
              <p:nvPr/>
            </p:nvSpPr>
            <p:spPr>
              <a:xfrm>
                <a:off x="5019938" y="1687999"/>
                <a:ext cx="2152121" cy="2423410"/>
              </a:xfrm>
              <a:prstGeom prst="roundRect">
                <a:avLst/>
              </a:pr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AD65EC-059C-B080-7B33-DF99B1F870B5}"/>
                  </a:ext>
                </a:extLst>
              </p:cNvPr>
              <p:cNvSpPr txBox="1"/>
              <p:nvPr/>
            </p:nvSpPr>
            <p:spPr>
              <a:xfrm>
                <a:off x="5260769" y="4168239"/>
                <a:ext cx="171526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Plant </a:t>
                </a:r>
              </a:p>
              <a:p>
                <a:pPr algn="ctr"/>
                <a:r>
                  <a:rPr lang="en-US" b="1" dirty="0"/>
                  <a:t>(Physical Model / Transfer Function)</a:t>
                </a:r>
                <a:endParaRPr lang="en-IN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CBF624FB-B772-A8BA-0493-B0E2D5DB2049}"/>
                    </a:ext>
                  </a:extLst>
                </p:cNvPr>
                <p:cNvSpPr/>
                <p:nvPr/>
              </p:nvSpPr>
              <p:spPr>
                <a:xfrm>
                  <a:off x="3825629" y="2210213"/>
                  <a:ext cx="2850611" cy="967553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LQR Controller: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r>
                    <a:rPr lang="en-US" b="1" dirty="0"/>
                    <a:t>-K.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IN" dirty="0"/>
                    <a:t>(t)</a:t>
                  </a:r>
                  <a:endParaRPr lang="en-US" b="1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CBF624FB-B772-A8BA-0493-B0E2D5DB20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629" y="2210213"/>
                  <a:ext cx="2850611" cy="96755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8DFB7E2-410E-41C7-A1E3-2AC4187D587C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6676240" y="2693990"/>
              <a:ext cx="1939827" cy="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0066D09-AB6F-C24B-D7A6-0787B39C6534}"/>
                    </a:ext>
                  </a:extLst>
                </p:cNvPr>
                <p:cNvSpPr txBox="1"/>
                <p:nvPr/>
              </p:nvSpPr>
              <p:spPr>
                <a:xfrm>
                  <a:off x="6882586" y="2169099"/>
                  <a:ext cx="1484415" cy="5425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Control Signal</a:t>
                  </a:r>
                </a:p>
                <a:p>
                  <a:pPr algn="ctr"/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</m:sub>
                      </m:sSub>
                    </m:oMath>
                  </a14:m>
                  <a:r>
                    <a:rPr lang="en-US" b="1" dirty="0"/>
                    <a:t>)</a:t>
                  </a:r>
                  <a:endParaRPr lang="en-IN" b="1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0066D09-AB6F-C24B-D7A6-0787B39C6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2586" y="2169099"/>
                  <a:ext cx="1484415" cy="542521"/>
                </a:xfrm>
                <a:prstGeom prst="rect">
                  <a:avLst/>
                </a:prstGeom>
                <a:blipFill>
                  <a:blip r:embed="rId7"/>
                  <a:stretch>
                    <a:fillRect t="-2247" b="-674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FAE55D7-28A0-9612-C019-F37941905DF9}"/>
                </a:ext>
              </a:extLst>
            </p:cNvPr>
            <p:cNvGrpSpPr/>
            <p:nvPr/>
          </p:nvGrpSpPr>
          <p:grpSpPr>
            <a:xfrm>
              <a:off x="774953" y="2220729"/>
              <a:ext cx="2102122" cy="946810"/>
              <a:chOff x="417257" y="2220729"/>
              <a:chExt cx="2102122" cy="94681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DA703C6-DEC5-1A55-2E07-2F2318709B8A}"/>
                  </a:ext>
                </a:extLst>
              </p:cNvPr>
              <p:cNvSpPr/>
              <p:nvPr/>
            </p:nvSpPr>
            <p:spPr>
              <a:xfrm>
                <a:off x="1533727" y="2220729"/>
                <a:ext cx="985652" cy="94681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924CD1B-C25B-F66F-784C-08B93561B974}"/>
                  </a:ext>
                </a:extLst>
              </p:cNvPr>
              <p:cNvCxnSpPr>
                <a:stCxn id="33" idx="1"/>
                <a:endCxn id="33" idx="5"/>
              </p:cNvCxnSpPr>
              <p:nvPr/>
            </p:nvCxnSpPr>
            <p:spPr>
              <a:xfrm>
                <a:off x="1678072" y="2359386"/>
                <a:ext cx="696962" cy="6694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8EF7C81-B7D6-E106-993F-FF1A276AB4EC}"/>
                  </a:ext>
                </a:extLst>
              </p:cNvPr>
              <p:cNvCxnSpPr>
                <a:cxnSpLocks/>
                <a:stCxn id="33" idx="3"/>
                <a:endCxn id="33" idx="7"/>
              </p:cNvCxnSpPr>
              <p:nvPr/>
            </p:nvCxnSpPr>
            <p:spPr>
              <a:xfrm flipV="1">
                <a:off x="1678072" y="2359386"/>
                <a:ext cx="696962" cy="6694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2441F-F396-FD13-1DD7-0703F700CCAD}"/>
                  </a:ext>
                </a:extLst>
              </p:cNvPr>
              <p:cNvSpPr txBox="1"/>
              <p:nvPr/>
            </p:nvSpPr>
            <p:spPr>
              <a:xfrm>
                <a:off x="1577569" y="2539266"/>
                <a:ext cx="366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+</a:t>
                </a:r>
                <a:endParaRPr lang="en-IN" b="1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5106223-2227-B29E-9DC2-9DC114215933}"/>
                  </a:ext>
                </a:extLst>
              </p:cNvPr>
              <p:cNvSpPr txBox="1"/>
              <p:nvPr/>
            </p:nvSpPr>
            <p:spPr>
              <a:xfrm>
                <a:off x="1843390" y="2816605"/>
                <a:ext cx="366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-</a:t>
                </a:r>
                <a:endParaRPr lang="en-IN" b="1" dirty="0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425DCE7-5EDE-B0C4-DAA4-42B1D3752C25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417257" y="2694134"/>
                <a:ext cx="11164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F193BB-1BBA-F30E-6925-32E9A12A9CD5}"/>
                    </a:ext>
                  </a:extLst>
                </p:cNvPr>
                <p:cNvSpPr txBox="1"/>
                <p:nvPr/>
              </p:nvSpPr>
              <p:spPr>
                <a:xfrm>
                  <a:off x="914524" y="2376753"/>
                  <a:ext cx="801109" cy="325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0504983-FBF4-D003-5271-1ED204FAF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524" y="2376753"/>
                  <a:ext cx="801109" cy="325025"/>
                </a:xfrm>
                <a:prstGeom prst="rect">
                  <a:avLst/>
                </a:prstGeom>
                <a:blipFill>
                  <a:blip r:embed="rId8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07FA19C-1E08-EE8A-ECB8-5591CABAC9F9}"/>
                </a:ext>
              </a:extLst>
            </p:cNvPr>
            <p:cNvCxnSpPr>
              <a:cxnSpLocks/>
              <a:stCxn id="33" idx="6"/>
              <a:endCxn id="7" idx="1"/>
            </p:cNvCxnSpPr>
            <p:nvPr/>
          </p:nvCxnSpPr>
          <p:spPr>
            <a:xfrm flipV="1">
              <a:off x="2877075" y="2693990"/>
              <a:ext cx="948554" cy="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C5FD92B2-DBC7-8FE5-9221-52853360F14C}"/>
                </a:ext>
              </a:extLst>
            </p:cNvPr>
            <p:cNvCxnSpPr>
              <a:stCxn id="4" idx="3"/>
              <a:endCxn id="33" idx="4"/>
            </p:cNvCxnSpPr>
            <p:nvPr/>
          </p:nvCxnSpPr>
          <p:spPr>
            <a:xfrm flipH="1">
              <a:off x="2384249" y="2694134"/>
              <a:ext cx="8737511" cy="473405"/>
            </a:xfrm>
            <a:prstGeom prst="bentConnector4">
              <a:avLst>
                <a:gd name="adj1" fmla="val -2616"/>
                <a:gd name="adj2" fmla="val 44618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0A3006C-63EE-67D4-3952-1EF70C20FDBF}"/>
                    </a:ext>
                  </a:extLst>
                </p:cNvPr>
                <p:cNvSpPr txBox="1"/>
                <p:nvPr/>
              </p:nvSpPr>
              <p:spPr>
                <a:xfrm>
                  <a:off x="4621933" y="4869108"/>
                  <a:ext cx="4262141" cy="3118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State Feedback :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ẋ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l-GR" b="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b="0" i="0" dirty="0"/>
                                <m:t>θ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̇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0A3006C-63EE-67D4-3952-1EF70C20FD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933" y="4869108"/>
                  <a:ext cx="4262141" cy="311817"/>
                </a:xfrm>
                <a:prstGeom prst="rect">
                  <a:avLst/>
                </a:prstGeom>
                <a:blipFill>
                  <a:blip r:embed="rId9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7D51ED-683D-C8E9-2296-78FCD25BC34D}"/>
                  </a:ext>
                </a:extLst>
              </p:cNvPr>
              <p:cNvSpPr txBox="1"/>
              <p:nvPr/>
            </p:nvSpPr>
            <p:spPr>
              <a:xfrm>
                <a:off x="444422" y="2896945"/>
                <a:ext cx="1680098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−0.5, 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7D51ED-683D-C8E9-2296-78FCD25BC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22" y="2896945"/>
                <a:ext cx="1680098" cy="311817"/>
              </a:xfrm>
              <a:prstGeom prst="rect">
                <a:avLst/>
              </a:prstGeom>
              <a:blipFill>
                <a:blip r:embed="rId10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977CAF-7CDF-23CC-4611-B3B6E92CB245}"/>
                  </a:ext>
                </a:extLst>
              </p:cNvPr>
              <p:cNvSpPr txBox="1"/>
              <p:nvPr/>
            </p:nvSpPr>
            <p:spPr>
              <a:xfrm>
                <a:off x="3171347" y="2418894"/>
                <a:ext cx="2821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IN" b="1" dirty="0"/>
                  <a:t>(t)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977CAF-7CDF-23CC-4611-B3B6E92CB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347" y="2418894"/>
                <a:ext cx="282129" cy="215444"/>
              </a:xfrm>
              <a:prstGeom prst="rect">
                <a:avLst/>
              </a:prstGeom>
              <a:blipFill>
                <a:blip r:embed="rId11"/>
                <a:stretch>
                  <a:fillRect l="-14894" t="-25714" r="-38298" b="-5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A971562-6E01-0433-6655-B66A1B8BCF33}"/>
              </a:ext>
            </a:extLst>
          </p:cNvPr>
          <p:cNvSpPr txBox="1"/>
          <p:nvPr/>
        </p:nvSpPr>
        <p:spPr>
          <a:xfrm>
            <a:off x="3004685" y="2729043"/>
            <a:ext cx="948554" cy="31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74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7180A40-7945-B782-F146-9411705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AD7FBC3A-5975-38BF-44CC-705999AB9C94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B497C7ED-0072-6B74-51A3-9ABB3E5B157D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ADDCA50-67BD-3B94-F6DF-4780DC377E7C}"/>
              </a:ext>
            </a:extLst>
          </p:cNvPr>
          <p:cNvSpPr txBox="1"/>
          <p:nvPr/>
        </p:nvSpPr>
        <p:spPr>
          <a:xfrm>
            <a:off x="444150" y="793498"/>
            <a:ext cx="9036025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LQR Controller Implementation: Calculation of K Gain Matrix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3CDD170D-0336-70A6-046B-A8B33E3E3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18F165A3-8541-F287-FF73-837925A63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BD9A0-3594-6BBE-7139-207EFC87709D}"/>
                  </a:ext>
                </a:extLst>
              </p:cNvPr>
              <p:cNvSpPr txBox="1"/>
              <p:nvPr/>
            </p:nvSpPr>
            <p:spPr>
              <a:xfrm>
                <a:off x="444150" y="1586996"/>
                <a:ext cx="565185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400" dirty="0"/>
                  <a:t>Given A and B (from Plant).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Choose Q and R.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Solve Algebraic-</a:t>
                </a:r>
                <a:r>
                  <a:rPr lang="en-US" sz="2400" dirty="0" err="1"/>
                  <a:t>Riccati</a:t>
                </a:r>
                <a:r>
                  <a:rPr lang="en-US" sz="2400" dirty="0"/>
                  <a:t> Equation for S (yields multiple solutions for S)</a:t>
                </a:r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𝑆𝐵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i="1" dirty="0"/>
              </a:p>
              <a:p>
                <a:r>
                  <a:rPr lang="en-US" sz="2400" dirty="0"/>
                  <a:t>4.  Compute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 </a:t>
                </a:r>
                <a:r>
                  <a:rPr lang="en-US" sz="2400" dirty="0"/>
                  <a:t>(yields multiple solutions for K)</a:t>
                </a:r>
              </a:p>
              <a:p>
                <a:r>
                  <a:rPr lang="en-US" sz="2400" dirty="0"/>
                  <a:t>5.  Calculate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the K’s.</a:t>
                </a:r>
              </a:p>
              <a:p>
                <a:r>
                  <a:rPr lang="en-US" sz="2400" dirty="0"/>
                  <a:t>6.  Choose K that yields the most stable system (most negative eigen values).</a:t>
                </a:r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BD9A0-3594-6BBE-7139-207EFC877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50" y="1586996"/>
                <a:ext cx="5651850" cy="4154984"/>
              </a:xfrm>
              <a:prstGeom prst="rect">
                <a:avLst/>
              </a:prstGeom>
              <a:blipFill>
                <a:blip r:embed="rId5"/>
                <a:stretch>
                  <a:fillRect l="-1726" t="-1026" r="-1402" b="-2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B8309-53D0-2DD8-8671-6BFD86F8B683}"/>
              </a:ext>
            </a:extLst>
          </p:cNvPr>
          <p:cNvCxnSpPr/>
          <p:nvPr/>
        </p:nvCxnSpPr>
        <p:spPr>
          <a:xfrm>
            <a:off x="7261197" y="1533086"/>
            <a:ext cx="0" cy="4262804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A98CA52-CDF6-ADC6-5A99-9553C68EC79E}"/>
              </a:ext>
            </a:extLst>
          </p:cNvPr>
          <p:cNvSpPr/>
          <p:nvPr/>
        </p:nvSpPr>
        <p:spPr>
          <a:xfrm>
            <a:off x="6189394" y="3384461"/>
            <a:ext cx="978408" cy="48463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9" name="Picture 18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D41464A4-A5A8-EB0C-EE70-FA5B034F97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223" y="1320390"/>
            <a:ext cx="3467584" cy="47441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70F915-A6CA-C7A4-0F70-0496B6415B0C}"/>
              </a:ext>
            </a:extLst>
          </p:cNvPr>
          <p:cNvSpPr txBox="1"/>
          <p:nvPr/>
        </p:nvSpPr>
        <p:spPr>
          <a:xfrm>
            <a:off x="9298230" y="1103209"/>
            <a:ext cx="242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MATLAB Code for calculating K Gain Matrix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7553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FCEDE5-3C8E-BFFE-9CDE-AE88CC5E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F13893D-09E7-D827-805A-1732009F6554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6DE12BF7-F3A9-46F1-5073-E2B58B9BB67B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68069F7A-57DA-806A-4FAB-0AFA94596A3B}"/>
              </a:ext>
            </a:extLst>
          </p:cNvPr>
          <p:cNvSpPr txBox="1"/>
          <p:nvPr/>
        </p:nvSpPr>
        <p:spPr>
          <a:xfrm>
            <a:off x="444150" y="793498"/>
            <a:ext cx="9036025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LQR Controller Implementation: Calculation of K Gain Matrix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1E826DB8-A508-CED6-EB36-F5C7DD3FF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A56CB87B-8A2F-0C15-AD7E-C76020D8E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D16BA1-E8F6-AE97-CA5B-56EA7D9E19BB}"/>
              </a:ext>
            </a:extLst>
          </p:cNvPr>
          <p:cNvSpPr txBox="1"/>
          <p:nvPr/>
        </p:nvSpPr>
        <p:spPr>
          <a:xfrm>
            <a:off x="444150" y="1586996"/>
            <a:ext cx="7306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Selected Values of Q and R Matrices:</a:t>
            </a:r>
            <a:endParaRPr lang="en-I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C183D0-9040-05B7-E568-E39E43BB1BDE}"/>
                  </a:ext>
                </a:extLst>
              </p:cNvPr>
              <p:cNvSpPr txBox="1"/>
              <p:nvPr/>
            </p:nvSpPr>
            <p:spPr>
              <a:xfrm>
                <a:off x="936171" y="2371798"/>
                <a:ext cx="4396525" cy="952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C183D0-9040-05B7-E568-E39E43BB1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2371798"/>
                <a:ext cx="4396525" cy="9523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FA0818-45F6-1EBE-A505-9507B85F5E60}"/>
                  </a:ext>
                </a:extLst>
              </p:cNvPr>
              <p:cNvSpPr txBox="1"/>
              <p:nvPr/>
            </p:nvSpPr>
            <p:spPr>
              <a:xfrm>
                <a:off x="936171" y="3692544"/>
                <a:ext cx="12529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[0.1]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FA0818-45F6-1EBE-A505-9507B85F5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3692544"/>
                <a:ext cx="1252971" cy="215444"/>
              </a:xfrm>
              <a:prstGeom prst="rect">
                <a:avLst/>
              </a:prstGeom>
              <a:blipFill>
                <a:blip r:embed="rId6"/>
                <a:stretch>
                  <a:fillRect l="-2439" t="-2857" r="-4390" b="-3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number and a number&#10;&#10;AI-generated content may be incorrect.">
            <a:extLst>
              <a:ext uri="{FF2B5EF4-FFF2-40B4-BE49-F238E27FC236}">
                <a16:creationId xmlns:a16="http://schemas.microsoft.com/office/drawing/2014/main" id="{E0B55CF8-27D9-B4C8-E7A0-FD01DB5F8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6086" y="4122536"/>
            <a:ext cx="6439827" cy="149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9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A4E4C-0DD9-EB4B-5FB6-DB1515442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C8B42B61-0A36-AAF9-C4CB-62D4D21EF39F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2;g35aa9b09be0_0_25">
            <a:extLst>
              <a:ext uri="{FF2B5EF4-FFF2-40B4-BE49-F238E27FC236}">
                <a16:creationId xmlns:a16="http://schemas.microsoft.com/office/drawing/2014/main" id="{29702F37-E2DE-078C-DDAE-4C80E0C6304D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112;g35aa9b09be0_0_25">
            <a:extLst>
              <a:ext uri="{FF2B5EF4-FFF2-40B4-BE49-F238E27FC236}">
                <a16:creationId xmlns:a16="http://schemas.microsoft.com/office/drawing/2014/main" id="{15E945C7-35FB-FC4C-5450-564BC54962EC}"/>
              </a:ext>
            </a:extLst>
          </p:cNvPr>
          <p:cNvSpPr txBox="1"/>
          <p:nvPr/>
        </p:nvSpPr>
        <p:spPr>
          <a:xfrm>
            <a:off x="419638" y="923884"/>
            <a:ext cx="1080254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LQR Controller Implementation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: Simulink Block Diagram of Controller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0BC573AA-EA26-4A69-BA35-165438550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358" y="1495205"/>
            <a:ext cx="5574130" cy="44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69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91BE7-86A1-84CC-EB58-25F9539A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CFC7CB3D-45F8-8D6D-E511-D764D2FD975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2;g35aa9b09be0_0_25">
            <a:extLst>
              <a:ext uri="{FF2B5EF4-FFF2-40B4-BE49-F238E27FC236}">
                <a16:creationId xmlns:a16="http://schemas.microsoft.com/office/drawing/2014/main" id="{872E8DCD-FE59-A00C-FE96-58CD84F0DCDD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112;g35aa9b09be0_0_25">
            <a:extLst>
              <a:ext uri="{FF2B5EF4-FFF2-40B4-BE49-F238E27FC236}">
                <a16:creationId xmlns:a16="http://schemas.microsoft.com/office/drawing/2014/main" id="{9546A6D1-3E22-4AD1-8EB6-F72ECE990673}"/>
              </a:ext>
            </a:extLst>
          </p:cNvPr>
          <p:cNvSpPr txBox="1"/>
          <p:nvPr/>
        </p:nvSpPr>
        <p:spPr>
          <a:xfrm>
            <a:off x="473426" y="836279"/>
            <a:ext cx="1080254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LQR Controller Implementation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: Simulink Block Diagram of Complete Project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ECF94FA-E4AC-59C8-2CC9-00019CA12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350" y="1495205"/>
            <a:ext cx="8433299" cy="43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00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DE38-51D3-51D4-3A6E-AD4FAFD9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">
            <a:extLst>
              <a:ext uri="{FF2B5EF4-FFF2-40B4-BE49-F238E27FC236}">
                <a16:creationId xmlns:a16="http://schemas.microsoft.com/office/drawing/2014/main" id="{80C1B38A-CD09-E238-C6CE-9B424DD785F3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2;g35aa9b09be0_0_25">
            <a:extLst>
              <a:ext uri="{FF2B5EF4-FFF2-40B4-BE49-F238E27FC236}">
                <a16:creationId xmlns:a16="http://schemas.microsoft.com/office/drawing/2014/main" id="{07E534AC-A23A-4FD7-5A2D-A50A6FB80D43}"/>
              </a:ext>
            </a:extLst>
          </p:cNvPr>
          <p:cNvSpPr txBox="1"/>
          <p:nvPr/>
        </p:nvSpPr>
        <p:spPr>
          <a:xfrm>
            <a:off x="4023325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45EAD-96E2-6975-3999-0F888AEC8EFF}"/>
              </a:ext>
            </a:extLst>
          </p:cNvPr>
          <p:cNvSpPr txBox="1"/>
          <p:nvPr/>
        </p:nvSpPr>
        <p:spPr>
          <a:xfrm>
            <a:off x="1986016" y="2782669"/>
            <a:ext cx="8392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Part 3 : GA-Optimized LQR Controller</a:t>
            </a:r>
            <a:endParaRPr lang="en-IN" sz="3600" b="1" i="1" dirty="0"/>
          </a:p>
        </p:txBody>
      </p:sp>
    </p:spTree>
    <p:extLst>
      <p:ext uri="{BB962C8B-B14F-4D97-AF65-F5344CB8AC3E}">
        <p14:creationId xmlns:p14="http://schemas.microsoft.com/office/powerpoint/2010/main" val="1840887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D114A31-B403-B4E2-AED9-52F61032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277EF98F-0722-9309-30B3-711034BFB48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924FFDF4-7BEA-1705-8037-22DBE1F3079F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2F2147BD-1779-5C04-B606-4A9DBDAC7815}"/>
              </a:ext>
            </a:extLst>
          </p:cNvPr>
          <p:cNvSpPr txBox="1"/>
          <p:nvPr/>
        </p:nvSpPr>
        <p:spPr>
          <a:xfrm>
            <a:off x="417257" y="944603"/>
            <a:ext cx="8198810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GA-LQR Controller Implementation: Basic Block Diagram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92FB2DF1-AEEF-B04D-483C-5F51FEF77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668D5403-C652-E47D-45C7-EFCA77E1F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DA8744C-1198-5D30-151B-2DFA33420194}"/>
              </a:ext>
            </a:extLst>
          </p:cNvPr>
          <p:cNvGrpSpPr/>
          <p:nvPr/>
        </p:nvGrpSpPr>
        <p:grpSpPr>
          <a:xfrm>
            <a:off x="922595" y="2410007"/>
            <a:ext cx="10346807" cy="3479785"/>
            <a:chOff x="774953" y="1701140"/>
            <a:chExt cx="10346807" cy="34797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03D034-AFA9-831F-EC7B-B1849789E95C}"/>
                </a:ext>
              </a:extLst>
            </p:cNvPr>
            <p:cNvGrpSpPr/>
            <p:nvPr/>
          </p:nvGrpSpPr>
          <p:grpSpPr>
            <a:xfrm>
              <a:off x="8616067" y="1701140"/>
              <a:ext cx="2505693" cy="2814452"/>
              <a:chOff x="5019938" y="1687999"/>
              <a:chExt cx="2152121" cy="3434347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3033D57-B3CE-E6A0-D17F-667384F7E9D8}"/>
                  </a:ext>
                </a:extLst>
              </p:cNvPr>
              <p:cNvSpPr/>
              <p:nvPr/>
            </p:nvSpPr>
            <p:spPr>
              <a:xfrm>
                <a:off x="5019938" y="1687999"/>
                <a:ext cx="2152121" cy="2423410"/>
              </a:xfrm>
              <a:prstGeom prst="roundRect">
                <a:avLst/>
              </a:pr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1734A0-CC86-739A-FBB4-4CF6D6FCE647}"/>
                  </a:ext>
                </a:extLst>
              </p:cNvPr>
              <p:cNvSpPr txBox="1"/>
              <p:nvPr/>
            </p:nvSpPr>
            <p:spPr>
              <a:xfrm>
                <a:off x="5260769" y="4168239"/>
                <a:ext cx="171526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Plant </a:t>
                </a:r>
              </a:p>
              <a:p>
                <a:pPr algn="ctr"/>
                <a:r>
                  <a:rPr lang="en-US" b="1" dirty="0"/>
                  <a:t>(Physical Model / Transfer Function)</a:t>
                </a:r>
                <a:endParaRPr lang="en-IN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42B7F39-6F18-9B90-B10C-9C9BF5FB75CA}"/>
                    </a:ext>
                  </a:extLst>
                </p:cNvPr>
                <p:cNvSpPr/>
                <p:nvPr/>
              </p:nvSpPr>
              <p:spPr>
                <a:xfrm>
                  <a:off x="3825629" y="2210213"/>
                  <a:ext cx="2850611" cy="967553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LQR Controller: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r>
                    <a:rPr lang="en-US" b="1" dirty="0"/>
                    <a:t>-K.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IN" dirty="0"/>
                    <a:t>(t)</a:t>
                  </a:r>
                  <a:endParaRPr lang="en-US" b="1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42B7F39-6F18-9B90-B10C-9C9BF5FB75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629" y="2210213"/>
                  <a:ext cx="2850611" cy="96755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541154-AA8B-C174-1DAF-26349FD7117D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6676240" y="2693990"/>
              <a:ext cx="1939827" cy="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4E1533F-6431-A86B-BBED-737F45BCE158}"/>
                    </a:ext>
                  </a:extLst>
                </p:cNvPr>
                <p:cNvSpPr txBox="1"/>
                <p:nvPr/>
              </p:nvSpPr>
              <p:spPr>
                <a:xfrm>
                  <a:off x="6882586" y="2169099"/>
                  <a:ext cx="1484415" cy="5425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Control Signal</a:t>
                  </a:r>
                </a:p>
                <a:p>
                  <a:pPr algn="ctr"/>
                  <a:r>
                    <a:rPr lang="en-US" b="1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</m:sub>
                      </m:sSub>
                    </m:oMath>
                  </a14:m>
                  <a:r>
                    <a:rPr lang="en-US" b="1" dirty="0"/>
                    <a:t>)</a:t>
                  </a:r>
                  <a:endParaRPr lang="en-IN" b="1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4E1533F-6431-A86B-BBED-737F45BCE1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2586" y="2169099"/>
                  <a:ext cx="1484415" cy="542521"/>
                </a:xfrm>
                <a:prstGeom prst="rect">
                  <a:avLst/>
                </a:prstGeom>
                <a:blipFill>
                  <a:blip r:embed="rId7"/>
                  <a:stretch>
                    <a:fillRect t="-2247" b="-786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6EBB01A-F2CE-4B09-3780-E3102282DD67}"/>
                </a:ext>
              </a:extLst>
            </p:cNvPr>
            <p:cNvGrpSpPr/>
            <p:nvPr/>
          </p:nvGrpSpPr>
          <p:grpSpPr>
            <a:xfrm>
              <a:off x="774953" y="2220729"/>
              <a:ext cx="2102122" cy="946810"/>
              <a:chOff x="417257" y="2220729"/>
              <a:chExt cx="2102122" cy="94681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165B41F-A426-5E55-12C5-2F21198CA355}"/>
                  </a:ext>
                </a:extLst>
              </p:cNvPr>
              <p:cNvSpPr/>
              <p:nvPr/>
            </p:nvSpPr>
            <p:spPr>
              <a:xfrm>
                <a:off x="1533727" y="2220729"/>
                <a:ext cx="985652" cy="94681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69C1137-E619-CEFF-1358-ACF00EB78F03}"/>
                  </a:ext>
                </a:extLst>
              </p:cNvPr>
              <p:cNvCxnSpPr>
                <a:stCxn id="33" idx="1"/>
                <a:endCxn id="33" idx="5"/>
              </p:cNvCxnSpPr>
              <p:nvPr/>
            </p:nvCxnSpPr>
            <p:spPr>
              <a:xfrm>
                <a:off x="1678072" y="2359386"/>
                <a:ext cx="696962" cy="6694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585374A-87DE-B6F6-8640-9E018C583A0B}"/>
                  </a:ext>
                </a:extLst>
              </p:cNvPr>
              <p:cNvCxnSpPr>
                <a:cxnSpLocks/>
                <a:stCxn id="33" idx="3"/>
                <a:endCxn id="33" idx="7"/>
              </p:cNvCxnSpPr>
              <p:nvPr/>
            </p:nvCxnSpPr>
            <p:spPr>
              <a:xfrm flipV="1">
                <a:off x="1678072" y="2359386"/>
                <a:ext cx="696962" cy="66949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BF950DD-CD51-B59E-EDFF-3270446CA942}"/>
                  </a:ext>
                </a:extLst>
              </p:cNvPr>
              <p:cNvSpPr txBox="1"/>
              <p:nvPr/>
            </p:nvSpPr>
            <p:spPr>
              <a:xfrm>
                <a:off x="1577569" y="2539266"/>
                <a:ext cx="366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+</a:t>
                </a:r>
                <a:endParaRPr lang="en-IN" b="1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1543930-7A8A-0376-37F8-6C7A39F77195}"/>
                  </a:ext>
                </a:extLst>
              </p:cNvPr>
              <p:cNvSpPr txBox="1"/>
              <p:nvPr/>
            </p:nvSpPr>
            <p:spPr>
              <a:xfrm>
                <a:off x="1843390" y="2816605"/>
                <a:ext cx="366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-</a:t>
                </a:r>
                <a:endParaRPr lang="en-IN" b="1" dirty="0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F828C32-0692-6CB7-63FE-AB7BA864AFD6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417257" y="2694134"/>
                <a:ext cx="11164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AC9EC54-EC97-2D6A-F9A3-D97B28083249}"/>
                    </a:ext>
                  </a:extLst>
                </p:cNvPr>
                <p:cNvSpPr txBox="1"/>
                <p:nvPr/>
              </p:nvSpPr>
              <p:spPr>
                <a:xfrm>
                  <a:off x="914524" y="2376753"/>
                  <a:ext cx="801109" cy="325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0504983-FBF4-D003-5271-1ED204FAF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524" y="2376753"/>
                  <a:ext cx="801109" cy="325025"/>
                </a:xfrm>
                <a:prstGeom prst="rect">
                  <a:avLst/>
                </a:prstGeom>
                <a:blipFill>
                  <a:blip r:embed="rId8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E262721-411F-EB77-C852-315BCFC1D613}"/>
                </a:ext>
              </a:extLst>
            </p:cNvPr>
            <p:cNvCxnSpPr>
              <a:cxnSpLocks/>
              <a:stCxn id="33" idx="6"/>
              <a:endCxn id="7" idx="1"/>
            </p:cNvCxnSpPr>
            <p:nvPr/>
          </p:nvCxnSpPr>
          <p:spPr>
            <a:xfrm flipV="1">
              <a:off x="2877075" y="2693990"/>
              <a:ext cx="948554" cy="1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122741D2-FF0C-18B8-1BBC-3E64F27CBDB5}"/>
                </a:ext>
              </a:extLst>
            </p:cNvPr>
            <p:cNvCxnSpPr>
              <a:stCxn id="4" idx="3"/>
              <a:endCxn id="33" idx="4"/>
            </p:cNvCxnSpPr>
            <p:nvPr/>
          </p:nvCxnSpPr>
          <p:spPr>
            <a:xfrm flipH="1">
              <a:off x="2384249" y="2694134"/>
              <a:ext cx="8737511" cy="473405"/>
            </a:xfrm>
            <a:prstGeom prst="bentConnector4">
              <a:avLst>
                <a:gd name="adj1" fmla="val -2616"/>
                <a:gd name="adj2" fmla="val 44618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5D65442-829A-FAC3-C311-40A7A3735A0F}"/>
                    </a:ext>
                  </a:extLst>
                </p:cNvPr>
                <p:cNvSpPr txBox="1"/>
                <p:nvPr/>
              </p:nvSpPr>
              <p:spPr>
                <a:xfrm>
                  <a:off x="4621933" y="4869108"/>
                  <a:ext cx="4262141" cy="3118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State Feedback :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ẋ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l-GR" b="0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b="0" i="0" dirty="0"/>
                                <m:t>θ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̇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5D65442-829A-FAC3-C311-40A7A3735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933" y="4869108"/>
                  <a:ext cx="4262141" cy="311817"/>
                </a:xfrm>
                <a:prstGeom prst="rect">
                  <a:avLst/>
                </a:prstGeom>
                <a:blipFill>
                  <a:blip r:embed="rId9"/>
                  <a:stretch>
                    <a:fillRect t="-1961" b="-2156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821A60-F320-973E-6E57-5349EECE285C}"/>
                  </a:ext>
                </a:extLst>
              </p:cNvPr>
              <p:cNvSpPr txBox="1"/>
              <p:nvPr/>
            </p:nvSpPr>
            <p:spPr>
              <a:xfrm>
                <a:off x="577049" y="3495260"/>
                <a:ext cx="1680098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−0.5, 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821A60-F320-973E-6E57-5349EECE2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49" y="3495260"/>
                <a:ext cx="1680098" cy="311817"/>
              </a:xfrm>
              <a:prstGeom prst="rect">
                <a:avLst/>
              </a:prstGeom>
              <a:blipFill>
                <a:blip r:embed="rId10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1F5368-D5DC-6DC8-4595-53E68C28C815}"/>
                  </a:ext>
                </a:extLst>
              </p:cNvPr>
              <p:cNvSpPr txBox="1"/>
              <p:nvPr/>
            </p:nvSpPr>
            <p:spPr>
              <a:xfrm>
                <a:off x="3304655" y="3127761"/>
                <a:ext cx="2821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IN" b="1" dirty="0"/>
                  <a:t>(t)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1F5368-D5DC-6DC8-4595-53E68C28C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655" y="3127761"/>
                <a:ext cx="282129" cy="215444"/>
              </a:xfrm>
              <a:prstGeom prst="rect">
                <a:avLst/>
              </a:prstGeom>
              <a:blipFill>
                <a:blip r:embed="rId11"/>
                <a:stretch>
                  <a:fillRect l="-15217" t="-25714" r="-41304" b="-5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92BB537-FEDE-AEA8-318C-A8F5F8D73264}"/>
              </a:ext>
            </a:extLst>
          </p:cNvPr>
          <p:cNvSpPr txBox="1"/>
          <p:nvPr/>
        </p:nvSpPr>
        <p:spPr>
          <a:xfrm>
            <a:off x="3125220" y="3410645"/>
            <a:ext cx="948554" cy="31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CB398-83C3-8DFD-822C-7C728498CFB7}"/>
              </a:ext>
            </a:extLst>
          </p:cNvPr>
          <p:cNvSpPr/>
          <p:nvPr/>
        </p:nvSpPr>
        <p:spPr>
          <a:xfrm>
            <a:off x="4433376" y="1536235"/>
            <a:ext cx="1930400" cy="680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Genetic Algorithm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312A6-C55D-DB2E-9BA1-E69409F3A5C5}"/>
              </a:ext>
            </a:extLst>
          </p:cNvPr>
          <p:cNvCxnSpPr/>
          <p:nvPr/>
        </p:nvCxnSpPr>
        <p:spPr>
          <a:xfrm>
            <a:off x="4769575" y="2217502"/>
            <a:ext cx="0" cy="701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62BFCC-35D4-4417-2380-C09A065B1A66}"/>
              </a:ext>
            </a:extLst>
          </p:cNvPr>
          <p:cNvCxnSpPr/>
          <p:nvPr/>
        </p:nvCxnSpPr>
        <p:spPr>
          <a:xfrm>
            <a:off x="5981518" y="2217502"/>
            <a:ext cx="0" cy="701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81F5B9-D955-BE82-4F23-5355B7D8AF59}"/>
              </a:ext>
            </a:extLst>
          </p:cNvPr>
          <p:cNvSpPr txBox="1"/>
          <p:nvPr/>
        </p:nvSpPr>
        <p:spPr>
          <a:xfrm>
            <a:off x="4433376" y="2381614"/>
            <a:ext cx="43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DC9C75-656D-7B0D-9A10-F925D65CD7BA}"/>
              </a:ext>
            </a:extLst>
          </p:cNvPr>
          <p:cNvSpPr txBox="1"/>
          <p:nvPr/>
        </p:nvSpPr>
        <p:spPr>
          <a:xfrm>
            <a:off x="5992773" y="2369342"/>
            <a:ext cx="43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22694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F13EA9E-1790-CA1A-C696-9B353459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8D8DB23-A588-3456-204E-A086946DEE4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520D41B-C523-3793-FDF0-ECC637D62EDC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A41CC0E-18C7-A4DC-7F21-8748E9169B70}"/>
              </a:ext>
            </a:extLst>
          </p:cNvPr>
          <p:cNvSpPr txBox="1"/>
          <p:nvPr/>
        </p:nvSpPr>
        <p:spPr>
          <a:xfrm>
            <a:off x="469883" y="658942"/>
            <a:ext cx="930731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GA-LQR Controller Implementation: GA Algorithm Structure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68BC3BD0-EA4E-F7A0-75F7-C2DEB6F6A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CF6170B2-0678-F06E-9128-59EE78D47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12706C-0905-8F23-FB08-B267FFE70272}"/>
              </a:ext>
            </a:extLst>
          </p:cNvPr>
          <p:cNvSpPr/>
          <p:nvPr/>
        </p:nvSpPr>
        <p:spPr>
          <a:xfrm>
            <a:off x="5297710" y="1321944"/>
            <a:ext cx="1596573" cy="445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Initial Population</a:t>
            </a:r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4B86A-D077-CB68-AE80-94921666D35F}"/>
              </a:ext>
            </a:extLst>
          </p:cNvPr>
          <p:cNvSpPr/>
          <p:nvPr/>
        </p:nvSpPr>
        <p:spPr>
          <a:xfrm>
            <a:off x="4564739" y="1997680"/>
            <a:ext cx="3062514" cy="57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Fitness Function / Cost Function / Objective Function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46C5AD-3361-5707-F54A-0A80770811A1}"/>
              </a:ext>
            </a:extLst>
          </p:cNvPr>
          <p:cNvSpPr/>
          <p:nvPr/>
        </p:nvSpPr>
        <p:spPr>
          <a:xfrm>
            <a:off x="5471881" y="2792081"/>
            <a:ext cx="1248230" cy="385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Selection</a:t>
            </a:r>
            <a:endParaRPr lang="en-IN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B72C3B-3CC8-784F-197D-45676D3D0E2C}"/>
              </a:ext>
            </a:extLst>
          </p:cNvPr>
          <p:cNvSpPr/>
          <p:nvPr/>
        </p:nvSpPr>
        <p:spPr>
          <a:xfrm>
            <a:off x="5123540" y="3391501"/>
            <a:ext cx="1944915" cy="57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Crossover &amp; Mutation</a:t>
            </a:r>
            <a:endParaRPr lang="en-IN" sz="1600" dirty="0"/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6B34C561-DA5C-9F10-6FC3-B783B61DC30B}"/>
              </a:ext>
            </a:extLst>
          </p:cNvPr>
          <p:cNvSpPr/>
          <p:nvPr/>
        </p:nvSpPr>
        <p:spPr>
          <a:xfrm>
            <a:off x="4564739" y="4176565"/>
            <a:ext cx="3062514" cy="169817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Stopping Criteria:</a:t>
            </a:r>
          </a:p>
          <a:p>
            <a:pPr algn="ctr"/>
            <a:r>
              <a:rPr lang="en-US" dirty="0"/>
              <a:t>Maximum number of generations reached ?</a:t>
            </a:r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ED2CA8-B23D-ABA7-DE9B-C88AFE61B78A}"/>
              </a:ext>
            </a:extLst>
          </p:cNvPr>
          <p:cNvSpPr/>
          <p:nvPr/>
        </p:nvSpPr>
        <p:spPr>
          <a:xfrm>
            <a:off x="8559070" y="4437822"/>
            <a:ext cx="2436254" cy="117565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Optimal Solution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2EA04A-565A-C024-0D0F-88D895AD7F2C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 flipH="1">
            <a:off x="6095996" y="1767102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2F8BF8-1552-2EA9-29BC-12F10218741E}"/>
              </a:ext>
            </a:extLst>
          </p:cNvPr>
          <p:cNvCxnSpPr/>
          <p:nvPr/>
        </p:nvCxnSpPr>
        <p:spPr>
          <a:xfrm flipH="1">
            <a:off x="6095995" y="2570884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C992B4A-C6DC-7B45-7FD2-70A6FA313E35}"/>
              </a:ext>
            </a:extLst>
          </p:cNvPr>
          <p:cNvCxnSpPr/>
          <p:nvPr/>
        </p:nvCxnSpPr>
        <p:spPr>
          <a:xfrm flipH="1">
            <a:off x="6095995" y="3144088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C433AF-53C6-890B-5659-EBA352472793}"/>
              </a:ext>
            </a:extLst>
          </p:cNvPr>
          <p:cNvCxnSpPr/>
          <p:nvPr/>
        </p:nvCxnSpPr>
        <p:spPr>
          <a:xfrm flipH="1">
            <a:off x="6095995" y="3954405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3AF5B2-5C61-E9D4-3B97-77954B5BA9CE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7627253" y="5025650"/>
            <a:ext cx="931817" cy="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9372D6-9DEB-0665-9211-BA7289D98823}"/>
              </a:ext>
            </a:extLst>
          </p:cNvPr>
          <p:cNvSpPr txBox="1"/>
          <p:nvPr/>
        </p:nvSpPr>
        <p:spPr>
          <a:xfrm>
            <a:off x="7808011" y="4717873"/>
            <a:ext cx="69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  <a:endParaRPr lang="en-IN" b="1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08D33FB-AC96-15A9-F79B-8112FDA2455D}"/>
              </a:ext>
            </a:extLst>
          </p:cNvPr>
          <p:cNvCxnSpPr>
            <a:stCxn id="21" idx="1"/>
            <a:endCxn id="15" idx="1"/>
          </p:cNvCxnSpPr>
          <p:nvPr/>
        </p:nvCxnSpPr>
        <p:spPr>
          <a:xfrm rot="10800000">
            <a:off x="4564739" y="2283341"/>
            <a:ext cx="12700" cy="2742310"/>
          </a:xfrm>
          <a:prstGeom prst="bentConnector3">
            <a:avLst>
              <a:gd name="adj1" fmla="val 8085717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98F7D0C-BBFF-79C8-902E-A92AABF39495}"/>
              </a:ext>
            </a:extLst>
          </p:cNvPr>
          <p:cNvSpPr txBox="1"/>
          <p:nvPr/>
        </p:nvSpPr>
        <p:spPr>
          <a:xfrm>
            <a:off x="3747259" y="4678037"/>
            <a:ext cx="69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26356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9DB0406-DBF7-495A-B1D0-E04634D9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B4BE5F1F-180E-3386-2F54-21FDD35FE0CA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9BFAF3DC-EF17-AB6F-4600-FD56F3311F6F}"/>
              </a:ext>
            </a:extLst>
          </p:cNvPr>
          <p:cNvSpPr txBox="1"/>
          <p:nvPr/>
        </p:nvSpPr>
        <p:spPr>
          <a:xfrm>
            <a:off x="469883" y="731940"/>
            <a:ext cx="10836746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GA-LQR Controller Implementation Details (Set by the Programmer)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81BC4F38-6EE2-1B18-4F79-9EDBD2250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6D221A0A-23C3-E9C5-48B2-DECF17F1E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20567B-EE1A-D1D2-AF4F-42294A7BF660}"/>
              </a:ext>
            </a:extLst>
          </p:cNvPr>
          <p:cNvSpPr txBox="1"/>
          <p:nvPr/>
        </p:nvSpPr>
        <p:spPr>
          <a:xfrm>
            <a:off x="469883" y="1446580"/>
            <a:ext cx="299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Number of variables = 5  </a:t>
            </a:r>
            <a:endParaRPr lang="en-IN" sz="18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5AE104-688E-0CD9-49C4-2926D3B9A47F}"/>
              </a:ext>
            </a:extLst>
          </p:cNvPr>
          <p:cNvCxnSpPr>
            <a:cxnSpLocks/>
          </p:cNvCxnSpPr>
          <p:nvPr/>
        </p:nvCxnSpPr>
        <p:spPr>
          <a:xfrm>
            <a:off x="3309257" y="1631246"/>
            <a:ext cx="103051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8FD19A-6CF6-687C-3084-5D8B630B3381}"/>
              </a:ext>
            </a:extLst>
          </p:cNvPr>
          <p:cNvSpPr txBox="1"/>
          <p:nvPr/>
        </p:nvSpPr>
        <p:spPr>
          <a:xfrm>
            <a:off x="4513943" y="1446580"/>
            <a:ext cx="4209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[q1, q2, q3, q4, r]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F004DA-5CC6-A603-B125-668B5E14D634}"/>
                  </a:ext>
                </a:extLst>
              </p:cNvPr>
              <p:cNvSpPr txBox="1"/>
              <p:nvPr/>
            </p:nvSpPr>
            <p:spPr>
              <a:xfrm>
                <a:off x="6695182" y="1405749"/>
                <a:ext cx="2202078" cy="952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F004DA-5CC6-A603-B125-668B5E14D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182" y="1405749"/>
                <a:ext cx="2202078" cy="952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04FC5A-6E44-A5F9-7C0B-5AEA71E3F6FD}"/>
                  </a:ext>
                </a:extLst>
              </p:cNvPr>
              <p:cNvSpPr txBox="1"/>
              <p:nvPr/>
            </p:nvSpPr>
            <p:spPr>
              <a:xfrm>
                <a:off x="9376314" y="1740473"/>
                <a:ext cx="6177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04FC5A-6E44-A5F9-7C0B-5AEA71E3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314" y="1740473"/>
                <a:ext cx="617798" cy="215444"/>
              </a:xfrm>
              <a:prstGeom prst="rect">
                <a:avLst/>
              </a:prstGeom>
              <a:blipFill>
                <a:blip r:embed="rId5"/>
                <a:stretch>
                  <a:fillRect l="-4950"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EBB0B56-48DC-F52A-2221-003BFA83C83F}"/>
              </a:ext>
            </a:extLst>
          </p:cNvPr>
          <p:cNvSpPr txBox="1"/>
          <p:nvPr/>
        </p:nvSpPr>
        <p:spPr>
          <a:xfrm>
            <a:off x="469883" y="3942963"/>
            <a:ext cx="420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Number of Objective Functions = 2 </a:t>
            </a:r>
            <a:endParaRPr lang="en-IN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1EEA24-E5DB-51E4-D4A7-3D0D0A2E2C20}"/>
              </a:ext>
            </a:extLst>
          </p:cNvPr>
          <p:cNvCxnSpPr>
            <a:cxnSpLocks/>
          </p:cNvCxnSpPr>
          <p:nvPr/>
        </p:nvCxnSpPr>
        <p:spPr>
          <a:xfrm>
            <a:off x="4513943" y="4140532"/>
            <a:ext cx="5370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84E7B9A-D751-0F49-B78D-E3D18D76C7F3}"/>
              </a:ext>
            </a:extLst>
          </p:cNvPr>
          <p:cNvSpPr txBox="1"/>
          <p:nvPr/>
        </p:nvSpPr>
        <p:spPr>
          <a:xfrm>
            <a:off x="5050971" y="3957477"/>
            <a:ext cx="3307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Integral Time Absolute Error</a:t>
            </a:r>
          </a:p>
          <a:p>
            <a:pPr algn="ctr"/>
            <a:r>
              <a:rPr lang="en-US" sz="1800" b="1" dirty="0"/>
              <a:t>(ITAE)</a:t>
            </a:r>
            <a:endParaRPr lang="en-IN" sz="1800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FDBCCD-9368-D74B-52D5-EF08F1C31A1F}"/>
              </a:ext>
            </a:extLst>
          </p:cNvPr>
          <p:cNvCxnSpPr>
            <a:stCxn id="17" idx="3"/>
          </p:cNvCxnSpPr>
          <p:nvPr/>
        </p:nvCxnSpPr>
        <p:spPr>
          <a:xfrm flipV="1">
            <a:off x="8358182" y="3957477"/>
            <a:ext cx="542893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A2ABEAB-88FC-DED0-D930-329BE463AAB7}"/>
              </a:ext>
            </a:extLst>
          </p:cNvPr>
          <p:cNvSpPr txBox="1"/>
          <p:nvPr/>
        </p:nvSpPr>
        <p:spPr>
          <a:xfrm>
            <a:off x="8901075" y="3710735"/>
            <a:ext cx="3058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Position Error</a:t>
            </a:r>
            <a:endParaRPr lang="en-IN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519D51-8019-47E8-AFAE-BBE3A543EE47}"/>
              </a:ext>
            </a:extLst>
          </p:cNvPr>
          <p:cNvSpPr txBox="1"/>
          <p:nvPr/>
        </p:nvSpPr>
        <p:spPr>
          <a:xfrm>
            <a:off x="8901075" y="4208041"/>
            <a:ext cx="3058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Chassis Tilt Angle Error</a:t>
            </a:r>
            <a:endParaRPr lang="en-IN" sz="1600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43E502-40F3-EF3B-6194-1BC120023F66}"/>
              </a:ext>
            </a:extLst>
          </p:cNvPr>
          <p:cNvCxnSpPr>
            <a:cxnSpLocks/>
            <a:stCxn id="17" idx="3"/>
            <a:endCxn id="31" idx="1"/>
          </p:cNvCxnSpPr>
          <p:nvPr/>
        </p:nvCxnSpPr>
        <p:spPr>
          <a:xfrm>
            <a:off x="8358182" y="4280643"/>
            <a:ext cx="542893" cy="96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C63341-930D-1818-4A17-AD3190421CE6}"/>
                  </a:ext>
                </a:extLst>
              </p:cNvPr>
              <p:cNvSpPr txBox="1"/>
              <p:nvPr/>
            </p:nvSpPr>
            <p:spPr>
              <a:xfrm>
                <a:off x="2805075" y="4734007"/>
                <a:ext cx="6096000" cy="922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𝐼𝑇𝐴𝐸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C63341-930D-1818-4A17-AD3190421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075" y="4734007"/>
                <a:ext cx="6096000" cy="9229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86274C-1549-7B1E-06F8-7005714C2EC0}"/>
              </a:ext>
            </a:extLst>
          </p:cNvPr>
          <p:cNvCxnSpPr>
            <a:cxnSpLocks/>
          </p:cNvCxnSpPr>
          <p:nvPr/>
        </p:nvCxnSpPr>
        <p:spPr>
          <a:xfrm>
            <a:off x="5335024" y="1815912"/>
            <a:ext cx="0" cy="4016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25136AC-1461-A8CD-227F-C7F40C0987FC}"/>
              </a:ext>
            </a:extLst>
          </p:cNvPr>
          <p:cNvSpPr txBox="1"/>
          <p:nvPr/>
        </p:nvSpPr>
        <p:spPr>
          <a:xfrm>
            <a:off x="4064000" y="2217577"/>
            <a:ext cx="2510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One set of all 5 values constitutes a single Gene.</a:t>
            </a:r>
            <a:endParaRPr lang="en-IN" sz="1600" dirty="0">
              <a:solidFill>
                <a:srgbClr val="7030A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EE0CFD-1095-D52B-FECC-E393679EB55F}"/>
              </a:ext>
            </a:extLst>
          </p:cNvPr>
          <p:cNvSpPr txBox="1"/>
          <p:nvPr/>
        </p:nvSpPr>
        <p:spPr>
          <a:xfrm>
            <a:off x="469884" y="5671465"/>
            <a:ext cx="262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Population Size = 40</a:t>
            </a:r>
            <a:endParaRPr lang="en-IN" sz="18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50006C8-27C9-DFBA-C462-194788D73EA0}"/>
              </a:ext>
            </a:extLst>
          </p:cNvPr>
          <p:cNvCxnSpPr>
            <a:cxnSpLocks/>
          </p:cNvCxnSpPr>
          <p:nvPr/>
        </p:nvCxnSpPr>
        <p:spPr>
          <a:xfrm>
            <a:off x="2982686" y="5841617"/>
            <a:ext cx="9724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0EC8194-F2AA-6DDA-ED05-54B86A84B55C}"/>
              </a:ext>
            </a:extLst>
          </p:cNvPr>
          <p:cNvSpPr txBox="1"/>
          <p:nvPr/>
        </p:nvSpPr>
        <p:spPr>
          <a:xfrm>
            <a:off x="3955142" y="5664331"/>
            <a:ext cx="5145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Each Single Generation contains in total 40 Genes</a:t>
            </a:r>
            <a:endParaRPr lang="en-IN" sz="1600" dirty="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447374-76D7-CA3A-3D0B-3687C48DB9F6}"/>
              </a:ext>
            </a:extLst>
          </p:cNvPr>
          <p:cNvSpPr txBox="1"/>
          <p:nvPr/>
        </p:nvSpPr>
        <p:spPr>
          <a:xfrm>
            <a:off x="469883" y="6180171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Number of Max. Generations = 40</a:t>
            </a:r>
            <a:endParaRPr lang="en-IN" sz="1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29FCB8-267C-989C-8878-CFEE04FDD949}"/>
              </a:ext>
            </a:extLst>
          </p:cNvPr>
          <p:cNvSpPr txBox="1"/>
          <p:nvPr/>
        </p:nvSpPr>
        <p:spPr>
          <a:xfrm>
            <a:off x="478969" y="2940730"/>
            <a:ext cx="60960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i="0" dirty="0">
                <a:effectLst/>
                <a:latin typeface="+mn-lt"/>
              </a:rPr>
              <a:t>Lower Limit of Variables  = [1  1  1  1  0.001]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+mn-lt"/>
              </a:rPr>
              <a:t>Upper Limit of Variables</a:t>
            </a:r>
            <a:r>
              <a:rPr lang="en-IN" sz="1800" b="1" i="0" dirty="0">
                <a:effectLst/>
                <a:latin typeface="+mn-lt"/>
              </a:rPr>
              <a:t> = [1e6  1e5  1e5  1e4  10]</a:t>
            </a:r>
          </a:p>
        </p:txBody>
      </p:sp>
    </p:spTree>
    <p:extLst>
      <p:ext uri="{BB962C8B-B14F-4D97-AF65-F5344CB8AC3E}">
        <p14:creationId xmlns:p14="http://schemas.microsoft.com/office/powerpoint/2010/main" val="3836322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278DF12-1643-DBD7-FD30-CEE43E33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A2D5FB7D-4CC2-A169-4EAD-295D3491C21F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70074E8-5DD9-F873-A175-645D4153CEB9}"/>
              </a:ext>
            </a:extLst>
          </p:cNvPr>
          <p:cNvSpPr txBox="1"/>
          <p:nvPr/>
        </p:nvSpPr>
        <p:spPr>
          <a:xfrm>
            <a:off x="469883" y="659370"/>
            <a:ext cx="5988974" cy="88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GA-LQR Controller Implementation: GA Program Details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FDCEB0DA-91EF-1FF2-69C3-4EDB47695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3E0DF585-A55A-0200-F744-7F56B3DD8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19EB3C-81CD-B7E6-AEC7-B3C432D43A65}"/>
              </a:ext>
            </a:extLst>
          </p:cNvPr>
          <p:cNvSpPr/>
          <p:nvPr/>
        </p:nvSpPr>
        <p:spPr>
          <a:xfrm>
            <a:off x="2960910" y="1703895"/>
            <a:ext cx="1596573" cy="445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Initial Population</a:t>
            </a: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AA19E1-3710-D6B5-F670-B2AB3BE77BB2}"/>
              </a:ext>
            </a:extLst>
          </p:cNvPr>
          <p:cNvSpPr/>
          <p:nvPr/>
        </p:nvSpPr>
        <p:spPr>
          <a:xfrm>
            <a:off x="2227939" y="2379631"/>
            <a:ext cx="3062514" cy="57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Fitness Function / Cost Function / Objective Function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E9BA4-3CE5-75AA-DAFD-7A1F71A0245D}"/>
              </a:ext>
            </a:extLst>
          </p:cNvPr>
          <p:cNvSpPr/>
          <p:nvPr/>
        </p:nvSpPr>
        <p:spPr>
          <a:xfrm>
            <a:off x="3135081" y="3174032"/>
            <a:ext cx="1248230" cy="385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Selection</a:t>
            </a:r>
            <a:endParaRPr lang="en-IN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46E04-EAB8-4616-B8FE-0125F28D04A9}"/>
              </a:ext>
            </a:extLst>
          </p:cNvPr>
          <p:cNvSpPr/>
          <p:nvPr/>
        </p:nvSpPr>
        <p:spPr>
          <a:xfrm>
            <a:off x="2786740" y="3773452"/>
            <a:ext cx="1944915" cy="57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Crossover &amp; Mutation</a:t>
            </a:r>
            <a:endParaRPr lang="en-IN" sz="1600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85B6ECC8-3944-05E0-5865-3EAD8DE11482}"/>
              </a:ext>
            </a:extLst>
          </p:cNvPr>
          <p:cNvSpPr/>
          <p:nvPr/>
        </p:nvSpPr>
        <p:spPr>
          <a:xfrm>
            <a:off x="2227939" y="4558516"/>
            <a:ext cx="3062514" cy="169817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Stopping Criteria:</a:t>
            </a:r>
          </a:p>
          <a:p>
            <a:pPr algn="ctr"/>
            <a:r>
              <a:rPr lang="en-US" dirty="0"/>
              <a:t>Maximum number of generations reached ?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9E4DC3-1EFC-DBD5-E1C9-1110140BEFD1}"/>
              </a:ext>
            </a:extLst>
          </p:cNvPr>
          <p:cNvSpPr/>
          <p:nvPr/>
        </p:nvSpPr>
        <p:spPr>
          <a:xfrm>
            <a:off x="6222270" y="4819773"/>
            <a:ext cx="2436254" cy="117565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Optimal Solution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7A36B9-5EB9-55D4-4F01-43AEFF152608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759196" y="2149053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991060-1C4B-1FDC-3546-3E5C17417087}"/>
              </a:ext>
            </a:extLst>
          </p:cNvPr>
          <p:cNvCxnSpPr/>
          <p:nvPr/>
        </p:nvCxnSpPr>
        <p:spPr>
          <a:xfrm flipH="1">
            <a:off x="3759195" y="2952835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EB8337-3FC8-AE60-F725-2E06BAA42448}"/>
              </a:ext>
            </a:extLst>
          </p:cNvPr>
          <p:cNvCxnSpPr/>
          <p:nvPr/>
        </p:nvCxnSpPr>
        <p:spPr>
          <a:xfrm flipH="1">
            <a:off x="3759195" y="3526039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11CAB8-C5A0-92B9-B529-EF745E3FE703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290453" y="5407601"/>
            <a:ext cx="931817" cy="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AB00058-00BB-68B1-65E1-0883054E93F6}"/>
              </a:ext>
            </a:extLst>
          </p:cNvPr>
          <p:cNvSpPr txBox="1"/>
          <p:nvPr/>
        </p:nvSpPr>
        <p:spPr>
          <a:xfrm>
            <a:off x="5471211" y="5099824"/>
            <a:ext cx="69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Yes</a:t>
            </a:r>
            <a:endParaRPr lang="en-IN" b="1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7D2036A-F9D2-A96E-D741-8C9FBF56266A}"/>
              </a:ext>
            </a:extLst>
          </p:cNvPr>
          <p:cNvCxnSpPr>
            <a:stCxn id="9" idx="1"/>
            <a:endCxn id="4" idx="1"/>
          </p:cNvCxnSpPr>
          <p:nvPr/>
        </p:nvCxnSpPr>
        <p:spPr>
          <a:xfrm rot="10800000">
            <a:off x="2227939" y="2665292"/>
            <a:ext cx="12700" cy="2742310"/>
          </a:xfrm>
          <a:prstGeom prst="bentConnector3">
            <a:avLst>
              <a:gd name="adj1" fmla="val 8085717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89D366C-C49A-34DF-CA2A-7CC79A54DD29}"/>
              </a:ext>
            </a:extLst>
          </p:cNvPr>
          <p:cNvSpPr txBox="1"/>
          <p:nvPr/>
        </p:nvSpPr>
        <p:spPr>
          <a:xfrm>
            <a:off x="1410459" y="5059988"/>
            <a:ext cx="69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</a:t>
            </a:r>
            <a:endParaRPr lang="en-IN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9BE963-BED1-EBDE-0E42-F65ED3A62B42}"/>
              </a:ext>
            </a:extLst>
          </p:cNvPr>
          <p:cNvCxnSpPr>
            <a:cxnSpLocks/>
            <a:stCxn id="3" idx="3"/>
            <a:endCxn id="28" idx="2"/>
          </p:cNvCxnSpPr>
          <p:nvPr/>
        </p:nvCxnSpPr>
        <p:spPr>
          <a:xfrm flipV="1">
            <a:off x="4557483" y="1635570"/>
            <a:ext cx="2249987" cy="290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loud 27">
            <a:extLst>
              <a:ext uri="{FF2B5EF4-FFF2-40B4-BE49-F238E27FC236}">
                <a16:creationId xmlns:a16="http://schemas.microsoft.com/office/drawing/2014/main" id="{72B0FDD3-16A8-ED84-B4BA-E7015E118567}"/>
              </a:ext>
            </a:extLst>
          </p:cNvPr>
          <p:cNvSpPr/>
          <p:nvPr/>
        </p:nvSpPr>
        <p:spPr>
          <a:xfrm>
            <a:off x="6792686" y="510518"/>
            <a:ext cx="4766124" cy="2250103"/>
          </a:xfrm>
          <a:prstGeom prst="cloud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 every gene of the generation, the program calculates the corresponding K gain matrix.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Runs the simulation</a:t>
            </a:r>
          </a:p>
          <a:p>
            <a:pPr algn="ctr"/>
            <a:r>
              <a:rPr lang="en-IN" dirty="0"/>
              <a:t>Computes both the fitness functions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F88049-83A7-FA9F-8971-E717472DC08F}"/>
              </a:ext>
            </a:extLst>
          </p:cNvPr>
          <p:cNvCxnSpPr>
            <a:cxnSpLocks/>
          </p:cNvCxnSpPr>
          <p:nvPr/>
        </p:nvCxnSpPr>
        <p:spPr>
          <a:xfrm>
            <a:off x="7837713" y="1923626"/>
            <a:ext cx="2924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806506-7F89-5FD3-A46D-C9ACECA11247}"/>
              </a:ext>
            </a:extLst>
          </p:cNvPr>
          <p:cNvCxnSpPr>
            <a:cxnSpLocks/>
          </p:cNvCxnSpPr>
          <p:nvPr/>
        </p:nvCxnSpPr>
        <p:spPr>
          <a:xfrm>
            <a:off x="7233100" y="2138948"/>
            <a:ext cx="2924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DE03D2EB-F765-8AC2-B8FD-C93B2A007476}"/>
              </a:ext>
            </a:extLst>
          </p:cNvPr>
          <p:cNvCxnSpPr>
            <a:stCxn id="28" idx="1"/>
            <a:endCxn id="4" idx="3"/>
          </p:cNvCxnSpPr>
          <p:nvPr/>
        </p:nvCxnSpPr>
        <p:spPr>
          <a:xfrm rot="5400000" flipH="1">
            <a:off x="7186634" y="769112"/>
            <a:ext cx="92933" cy="3885295"/>
          </a:xfrm>
          <a:prstGeom prst="curvedConnector4">
            <a:avLst>
              <a:gd name="adj1" fmla="val -245984"/>
              <a:gd name="adj2" fmla="val 806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7357FE-F872-F998-78AD-447984BE04E7}"/>
              </a:ext>
            </a:extLst>
          </p:cNvPr>
          <p:cNvCxnSpPr/>
          <p:nvPr/>
        </p:nvCxnSpPr>
        <p:spPr>
          <a:xfrm flipH="1">
            <a:off x="3765545" y="4313161"/>
            <a:ext cx="1" cy="230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Cloud 46">
            <a:extLst>
              <a:ext uri="{FF2B5EF4-FFF2-40B4-BE49-F238E27FC236}">
                <a16:creationId xmlns:a16="http://schemas.microsoft.com/office/drawing/2014/main" id="{05B65C9B-5D5A-1BCD-D095-1C4A37D0596B}"/>
              </a:ext>
            </a:extLst>
          </p:cNvPr>
          <p:cNvSpPr/>
          <p:nvPr/>
        </p:nvSpPr>
        <p:spPr>
          <a:xfrm>
            <a:off x="6884643" y="3310215"/>
            <a:ext cx="2264223" cy="1245037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After completing the process for 1 entire generation</a:t>
            </a:r>
            <a:endParaRPr lang="en-IN" dirty="0"/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F137F3B4-8CA2-3804-B6C0-744FAE0B947A}"/>
              </a:ext>
            </a:extLst>
          </p:cNvPr>
          <p:cNvCxnSpPr>
            <a:endCxn id="47" idx="2"/>
          </p:cNvCxnSpPr>
          <p:nvPr/>
        </p:nvCxnSpPr>
        <p:spPr>
          <a:xfrm>
            <a:off x="5290453" y="2950952"/>
            <a:ext cx="1601213" cy="98178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23C3D7B5-47A3-BAC0-CA9B-F02BEE6B5CC2}"/>
              </a:ext>
            </a:extLst>
          </p:cNvPr>
          <p:cNvCxnSpPr>
            <a:endCxn id="6" idx="3"/>
          </p:cNvCxnSpPr>
          <p:nvPr/>
        </p:nvCxnSpPr>
        <p:spPr>
          <a:xfrm rot="10800000">
            <a:off x="4383311" y="3366871"/>
            <a:ext cx="2670632" cy="9779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852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9E80625-8CDA-8A71-3AB0-42E84F7B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44212E85-B1FA-62BF-6095-6A6453D2F787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6C4DE2D5-F5A1-D375-6EB5-4C0908FC2166}"/>
              </a:ext>
            </a:extLst>
          </p:cNvPr>
          <p:cNvSpPr txBox="1"/>
          <p:nvPr/>
        </p:nvSpPr>
        <p:spPr>
          <a:xfrm>
            <a:off x="469883" y="731940"/>
            <a:ext cx="10836746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GA-LQR Controller Implementation Details : Simulink Block Diagram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563250A1-0F01-86C2-50AF-CE27C8CD1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B7590EC7-02B7-6682-089C-6F944FFA5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a computer error&#10;&#10;AI-generated content may be incorrect.">
            <a:extLst>
              <a:ext uri="{FF2B5EF4-FFF2-40B4-BE49-F238E27FC236}">
                <a16:creationId xmlns:a16="http://schemas.microsoft.com/office/drawing/2014/main" id="{538A5FB0-85A2-5E64-E616-53B8DC001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892" y="1185184"/>
            <a:ext cx="7837022" cy="5513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0E3D82-9F78-3E41-97E5-D931C70304EE}"/>
              </a:ext>
            </a:extLst>
          </p:cNvPr>
          <p:cNvSpPr txBox="1"/>
          <p:nvPr/>
        </p:nvSpPr>
        <p:spPr>
          <a:xfrm>
            <a:off x="469883" y="1961908"/>
            <a:ext cx="30011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8: Simulink Block Diagram for Extracting the Integral Time Absolute Error Values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3790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55A40F-C311-E7DE-39B5-5D4E77F9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8369FFB1-5E23-B76E-A28E-BE70560C578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BC1B83AB-ED2C-CC27-790D-85BCB76AD202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EAA79B1B-FDE6-E1E2-2D62-650FEFAA356D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53DDF01E-BA51-FC29-220D-20028C737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243BE4F9-13DB-ED15-AFF5-33DD2DF43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44300-B5B7-2DC8-925B-758B1B2ED3E6}"/>
                  </a:ext>
                </a:extLst>
              </p:cNvPr>
              <p:cNvSpPr txBox="1"/>
              <p:nvPr/>
            </p:nvSpPr>
            <p:spPr>
              <a:xfrm>
                <a:off x="435065" y="5039601"/>
                <a:ext cx="54314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b="1" i="1" dirty="0"/>
                  <a:t>Figure 9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Chassis Tilt Angle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i="0" dirty="0"/>
                      <m:t>θ</m:t>
                    </m:r>
                    <m:r>
                      <m:rPr>
                        <m:nor/>
                      </m:rPr>
                      <a:rPr lang="en-US" i="0" baseline="-25000" dirty="0"/>
                      <m:t>c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</a:t>
                </a:r>
                <a:r>
                  <a:rPr lang="en-US" b="1" i="1" dirty="0"/>
                  <a:t>Graph from PID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44300-B5B7-2DC8-925B-758B1B2ED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65" y="5039601"/>
                <a:ext cx="5431463" cy="523220"/>
              </a:xfrm>
              <a:prstGeom prst="rect">
                <a:avLst/>
              </a:prstGeom>
              <a:blipFill>
                <a:blip r:embed="rId5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CA96F9D-2649-C42A-8D72-0B0EC272F4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79" b="-1"/>
          <a:stretch>
            <a:fillRect/>
          </a:stretch>
        </p:blipFill>
        <p:spPr>
          <a:xfrm>
            <a:off x="435064" y="1990381"/>
            <a:ext cx="5832841" cy="27912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E35FAB-3B8D-C8CD-1C5E-F9B4641025D7}"/>
              </a:ext>
            </a:extLst>
          </p:cNvPr>
          <p:cNvSpPr txBox="1"/>
          <p:nvPr/>
        </p:nvSpPr>
        <p:spPr>
          <a:xfrm>
            <a:off x="664028" y="855317"/>
            <a:ext cx="4662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1: PID Controller</a:t>
            </a:r>
            <a:endParaRPr lang="en-IN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2F15E7-EB3B-6F16-F355-940D4D92EE55}"/>
                  </a:ext>
                </a:extLst>
              </p:cNvPr>
              <p:cNvSpPr txBox="1"/>
              <p:nvPr/>
            </p:nvSpPr>
            <p:spPr>
              <a:xfrm>
                <a:off x="6325473" y="5273571"/>
                <a:ext cx="528299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Figure </a:t>
                </a:r>
                <a:r>
                  <a:rPr lang="en-US" b="1" i="1" noProof="0" dirty="0"/>
                  <a:t>10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Control Action/Torque</a:t>
                </a:r>
                <a:r>
                  <a:rPr kumimoji="0" lang="en-US" sz="1400" b="1" i="1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Graph from PID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2F15E7-EB3B-6F16-F355-940D4D92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473" y="5273571"/>
                <a:ext cx="5282998" cy="738664"/>
              </a:xfrm>
              <a:prstGeom prst="rect">
                <a:avLst/>
              </a:prstGeom>
              <a:blipFill>
                <a:blip r:embed="rId7"/>
                <a:stretch>
                  <a:fillRect t="-1653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653392-2F65-DD15-A364-18555C7E5B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176"/>
          <a:stretch>
            <a:fillRect/>
          </a:stretch>
        </p:blipFill>
        <p:spPr>
          <a:xfrm>
            <a:off x="6325473" y="1599198"/>
            <a:ext cx="5431463" cy="36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5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924928-AC04-D436-65AB-B5EDA3BD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2421C440-50E4-A18D-BD5E-E89D5406044F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FDE871EC-DBCC-641F-AD36-2A47CF0B2E39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FFD2C336-D813-6CBF-8A56-3F183FFE8978}"/>
              </a:ext>
            </a:extLst>
          </p:cNvPr>
          <p:cNvSpPr txBox="1"/>
          <p:nvPr/>
        </p:nvSpPr>
        <p:spPr>
          <a:xfrm>
            <a:off x="3873167" y="129368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B0FDE941-84FC-ECBA-3649-8FF352182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F0958F61-B876-18C7-7D78-BD68DEF68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Segway_Robot_Using_PID_Controller_By_Torque">
            <a:hlinkClick r:id="" action="ppaction://media"/>
            <a:extLst>
              <a:ext uri="{FF2B5EF4-FFF2-40B4-BE49-F238E27FC236}">
                <a16:creationId xmlns:a16="http://schemas.microsoft.com/office/drawing/2014/main" id="{238CC7E7-BF70-D4EB-A496-6AFDCE54E78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995385" y="1252796"/>
            <a:ext cx="6415828" cy="4734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A48B96-B0F1-ADC3-0F2C-113260728947}"/>
              </a:ext>
            </a:extLst>
          </p:cNvPr>
          <p:cNvSpPr txBox="1"/>
          <p:nvPr/>
        </p:nvSpPr>
        <p:spPr>
          <a:xfrm>
            <a:off x="3000481" y="1417289"/>
            <a:ext cx="641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Video 1: PID Controlled Segway Robot Simulation in MATLAB-SIMULINK</a:t>
            </a:r>
            <a:endParaRPr kumimoji="0" lang="en-IN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3AFE6-25A1-7ED4-F4CB-C1CFC2701D8D}"/>
              </a:ext>
            </a:extLst>
          </p:cNvPr>
          <p:cNvSpPr txBox="1"/>
          <p:nvPr/>
        </p:nvSpPr>
        <p:spPr>
          <a:xfrm>
            <a:off x="664028" y="855317"/>
            <a:ext cx="4662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1: PID Controller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361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E2BDF8B-A1AA-7F43-AD6E-64264833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4D272E48-3FDD-06B8-DD22-1050AF503973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D25172DF-DA69-95EE-E4AF-E8AA88D8356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9730640-D776-0695-8A63-7EB5D91A6478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6AE4AEBC-472E-1116-812F-B4F6F4B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E18E5A6B-750D-2DF8-A07C-B8274064D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01B749-1B8D-CA88-9017-DD2062C08354}"/>
              </a:ext>
            </a:extLst>
          </p:cNvPr>
          <p:cNvSpPr txBox="1"/>
          <p:nvPr/>
        </p:nvSpPr>
        <p:spPr>
          <a:xfrm>
            <a:off x="664028" y="855317"/>
            <a:ext cx="4662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2: LQR Controller</a:t>
            </a:r>
            <a:endParaRPr lang="en-IN" sz="2400" b="1" dirty="0"/>
          </a:p>
        </p:txBody>
      </p:sp>
      <p:pic>
        <p:nvPicPr>
          <p:cNvPr id="5" name="Picture 4" descr="A graph with a line graph and a line graph&#10;&#10;AI-generated content may be incorrect.">
            <a:extLst>
              <a:ext uri="{FF2B5EF4-FFF2-40B4-BE49-F238E27FC236}">
                <a16:creationId xmlns:a16="http://schemas.microsoft.com/office/drawing/2014/main" id="{59D9BFDB-7ADB-10BC-BEA3-D27FA3715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93" y="1547071"/>
            <a:ext cx="5724645" cy="26185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D748B9-589A-42C2-42B1-2D6950C3BB96}"/>
                  </a:ext>
                </a:extLst>
              </p:cNvPr>
              <p:cNvSpPr txBox="1"/>
              <p:nvPr/>
            </p:nvSpPr>
            <p:spPr>
              <a:xfrm>
                <a:off x="569293" y="4395689"/>
                <a:ext cx="54314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b="1" i="1" dirty="0"/>
                  <a:t>Figure 11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Position (</a:t>
                </a:r>
                <a14:m>
                  <m:oMath xmlns:m="http://schemas.openxmlformats.org/officeDocument/2006/math">
                    <m:r>
                      <a:rPr kumimoji="0" lang="en-US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/>
                        <a:sym typeface="Arial"/>
                      </a:rPr>
                      <m:t>𝒙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</a:t>
                </a:r>
                <a:r>
                  <a:rPr lang="en-US" b="1" i="1" dirty="0"/>
                  <a:t>Graph from LQR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D748B9-589A-42C2-42B1-2D6950C3B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93" y="4395689"/>
                <a:ext cx="5431463" cy="523220"/>
              </a:xfrm>
              <a:prstGeom prst="rect">
                <a:avLst/>
              </a:prstGeom>
              <a:blipFill>
                <a:blip r:embed="rId6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E33FEE51-F74C-8B29-F466-2BC305D2C8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649" y="1393275"/>
            <a:ext cx="5658640" cy="3486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AA6915-6E94-F45A-56F7-2A41595B525D}"/>
                  </a:ext>
                </a:extLst>
              </p:cNvPr>
              <p:cNvSpPr txBox="1"/>
              <p:nvPr/>
            </p:nvSpPr>
            <p:spPr>
              <a:xfrm>
                <a:off x="6640826" y="4941505"/>
                <a:ext cx="54314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b="1" i="1" dirty="0"/>
                  <a:t>Figure 12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Chassis Tilt 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i="0" dirty="0"/>
                          <m:t>θ</m:t>
                        </m:r>
                        <m:r>
                          <m:rPr>
                            <m:nor/>
                          </m:rPr>
                          <a:rPr lang="en-IN" i="0" dirty="0"/>
                          <m:t>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</a:t>
                </a:r>
                <a:r>
                  <a:rPr lang="en-US" b="1" i="1" dirty="0"/>
                  <a:t>Graph from LQR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AA6915-6E94-F45A-56F7-2A41595B5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826" y="4941505"/>
                <a:ext cx="5431463" cy="523220"/>
              </a:xfrm>
              <a:prstGeom prst="rect">
                <a:avLst/>
              </a:prstGeom>
              <a:blipFill>
                <a:blip r:embed="rId8"/>
                <a:stretch>
                  <a:fillRect t="-2353" r="-112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01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0F8B3D-AE88-F1FA-1D93-35E622A36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C215F359-5419-630A-A6F2-715F08E54FFA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79BBEB1F-DB2C-C97B-A7CF-F4AF748175D0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D4EB2980-E68A-4FC3-5788-98188F9C251A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AAA46926-2EF1-747F-7D55-3D13D9D21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32324FF7-5136-B2B3-5A34-8C8269626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BE05C5-CBA9-BE59-7F38-AE6B854709FD}"/>
              </a:ext>
            </a:extLst>
          </p:cNvPr>
          <p:cNvSpPr txBox="1"/>
          <p:nvPr/>
        </p:nvSpPr>
        <p:spPr>
          <a:xfrm>
            <a:off x="664028" y="855317"/>
            <a:ext cx="4662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2: LQR Controller</a:t>
            </a:r>
            <a:endParaRPr lang="en-IN" sz="2400" b="1" dirty="0"/>
          </a:p>
        </p:txBody>
      </p:sp>
      <p:pic>
        <p:nvPicPr>
          <p:cNvPr id="8" name="Picture 7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DD622882-30F9-D9F8-5029-2FFCEA0BF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225" y="1345433"/>
            <a:ext cx="6491550" cy="3613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EC1913-79BC-6F72-95AC-0D8F70A164D3}"/>
                  </a:ext>
                </a:extLst>
              </p:cNvPr>
              <p:cNvSpPr txBox="1"/>
              <p:nvPr/>
            </p:nvSpPr>
            <p:spPr>
              <a:xfrm>
                <a:off x="3350044" y="5123871"/>
                <a:ext cx="528299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Figure </a:t>
                </a:r>
                <a:r>
                  <a:rPr lang="en-US" b="1" i="1" dirty="0"/>
                  <a:t>13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Control Action/Torque</a:t>
                </a:r>
                <a:r>
                  <a:rPr kumimoji="0" lang="en-US" sz="1400" b="1" i="1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Graph from LQR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EC1913-79BC-6F72-95AC-0D8F70A16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44" y="5123871"/>
                <a:ext cx="5282998" cy="738664"/>
              </a:xfrm>
              <a:prstGeom prst="rect">
                <a:avLst/>
              </a:prstGeom>
              <a:blipFill>
                <a:blip r:embed="rId6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8928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0E18F20-0A38-D113-66E9-072E74BB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D26960E-A856-1A07-91D8-0B5FB2A89D36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FB605A68-EDCB-C480-B005-0344CBEC394B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F4B73CFB-022A-CD9D-AC32-F8671D591524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B4825055-36A0-907F-382C-71989BA39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E409E17C-FF9D-310B-ABC5-B04693964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5B33BA-C80B-8596-51BD-2C161DB71D42}"/>
              </a:ext>
            </a:extLst>
          </p:cNvPr>
          <p:cNvSpPr txBox="1"/>
          <p:nvPr/>
        </p:nvSpPr>
        <p:spPr>
          <a:xfrm>
            <a:off x="664028" y="855317"/>
            <a:ext cx="4662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2: LQR Controller</a:t>
            </a:r>
            <a:endParaRPr lang="en-IN" sz="2400" b="1" dirty="0"/>
          </a:p>
        </p:txBody>
      </p:sp>
      <p:pic>
        <p:nvPicPr>
          <p:cNvPr id="3" name="Segway_Robot_Using_LQR_Controller_By_Force">
            <a:hlinkClick r:id="" action="ppaction://media"/>
            <a:extLst>
              <a:ext uri="{FF2B5EF4-FFF2-40B4-BE49-F238E27FC236}">
                <a16:creationId xmlns:a16="http://schemas.microsoft.com/office/drawing/2014/main" id="{3549B442-A886-6424-3AE7-7DC59FA2CC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40834" y="2122720"/>
            <a:ext cx="5324929" cy="39295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E0D027-E860-C942-3114-E772B5D18A5F}"/>
              </a:ext>
            </a:extLst>
          </p:cNvPr>
          <p:cNvSpPr txBox="1"/>
          <p:nvPr/>
        </p:nvSpPr>
        <p:spPr>
          <a:xfrm>
            <a:off x="2995385" y="1345433"/>
            <a:ext cx="641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Video 2: LQR Controlled Segway Robot Simulation in MATLAB-SIMULINK</a:t>
            </a:r>
            <a:endParaRPr kumimoji="0" lang="en-IN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782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6D89190-1AEF-7C60-4CE0-328E2D89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419342F8-46BC-3317-9DF3-F32A74AFA723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3239E9F3-C60A-049A-80E1-D83899017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C68DAB31-4515-224E-F768-36912211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5D43FB-F369-84B7-74DD-5467934F7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1" y="2353794"/>
            <a:ext cx="12030075" cy="3294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102E60-3A45-3A74-6895-23F168560D22}"/>
              </a:ext>
            </a:extLst>
          </p:cNvPr>
          <p:cNvSpPr txBox="1"/>
          <p:nvPr/>
        </p:nvSpPr>
        <p:spPr>
          <a:xfrm>
            <a:off x="398444" y="1548643"/>
            <a:ext cx="7230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After Running For 40 Generations…</a:t>
            </a:r>
            <a:endParaRPr lang="en-IN" sz="2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8451D-719F-AB01-390B-0E570B146D64}"/>
              </a:ext>
            </a:extLst>
          </p:cNvPr>
          <p:cNvSpPr/>
          <p:nvPr/>
        </p:nvSpPr>
        <p:spPr>
          <a:xfrm>
            <a:off x="469883" y="4659082"/>
            <a:ext cx="11569717" cy="232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463B6-42C4-EBE6-352B-4F2D149CAE1B}"/>
              </a:ext>
            </a:extLst>
          </p:cNvPr>
          <p:cNvSpPr txBox="1"/>
          <p:nvPr/>
        </p:nvSpPr>
        <p:spPr>
          <a:xfrm>
            <a:off x="469883" y="848621"/>
            <a:ext cx="6186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3: GA-Optimized LQR Controller</a:t>
            </a:r>
            <a:endParaRPr lang="en-IN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12CEB-8258-0115-A0A6-1800F0345862}"/>
              </a:ext>
            </a:extLst>
          </p:cNvPr>
          <p:cNvSpPr txBox="1"/>
          <p:nvPr/>
        </p:nvSpPr>
        <p:spPr>
          <a:xfrm>
            <a:off x="2895648" y="6053772"/>
            <a:ext cx="6400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14:</a:t>
            </a:r>
            <a:r>
              <a:rPr kumimoji="0" lang="en-US" sz="1400" b="1" i="1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Final Output of Genetic Algorithm After 40 Generations</a:t>
            </a:r>
            <a:endParaRPr kumimoji="0" lang="en-IN" sz="1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8439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B5E5DC5-96F8-16B6-F243-10521D2C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5C2561A1-093D-821E-611D-68B4A5805A89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F92CCE98-5D4F-726F-77B0-C51A6AD47C2E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0D34F1D9-5E55-FBFF-179B-3555B1A7DE75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519D8693-DE09-8713-0061-324575E89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60D439C8-56A6-DCB8-D2FA-5BB456AFE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10E7C9-B16A-8B93-0D6E-D130573FEC15}"/>
              </a:ext>
            </a:extLst>
          </p:cNvPr>
          <p:cNvSpPr txBox="1"/>
          <p:nvPr/>
        </p:nvSpPr>
        <p:spPr>
          <a:xfrm>
            <a:off x="664028" y="855317"/>
            <a:ext cx="6186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3: GA-Optimized LQR Controller</a:t>
            </a:r>
            <a:endParaRPr lang="en-I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6D2AB-CEC8-2D7D-A235-271A3214E605}"/>
              </a:ext>
            </a:extLst>
          </p:cNvPr>
          <p:cNvSpPr txBox="1"/>
          <p:nvPr/>
        </p:nvSpPr>
        <p:spPr>
          <a:xfrm>
            <a:off x="9579428" y="2278743"/>
            <a:ext cx="20610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Video 3: GA- Optimized LQR Controlled Segway Robot Simulation in MATLAB-SIMULINK</a:t>
            </a:r>
            <a:endParaRPr kumimoji="0" lang="en-IN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Segway_Robot_Using_LQR_Controller_By_Force">
            <a:hlinkClick r:id="" action="ppaction://media"/>
            <a:extLst>
              <a:ext uri="{FF2B5EF4-FFF2-40B4-BE49-F238E27FC236}">
                <a16:creationId xmlns:a16="http://schemas.microsoft.com/office/drawing/2014/main" id="{1A6D5812-0D8F-5CCC-BF14-D919DBAFD9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362779" y="1345433"/>
            <a:ext cx="6079671" cy="44865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BCF790-4075-9349-F0DB-54487D2DD3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931" y="1929971"/>
            <a:ext cx="2656359" cy="19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6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DB59930-5506-9080-BA76-001BC1AF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48E7CDB5-DDCD-72C5-EFDB-BE16C89975D4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C58F25F5-C7F0-1E4F-B954-85570BE73A1A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92078178-F5CC-ABEB-EA29-CE22FD6EB455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7E40E5A4-1629-9B7B-5211-3A9DB7FAF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DC98B5EC-FD9E-65B9-3D72-0E1F47684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C38DCF-FF6B-C07E-D68E-E28BF5D37850}"/>
              </a:ext>
            </a:extLst>
          </p:cNvPr>
          <p:cNvSpPr txBox="1"/>
          <p:nvPr/>
        </p:nvSpPr>
        <p:spPr>
          <a:xfrm>
            <a:off x="664028" y="855317"/>
            <a:ext cx="6186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3: GA-Optimized LQR Controller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557E9B-D474-31F5-D54B-2E813B9AB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28" y="1654091"/>
            <a:ext cx="5384938" cy="3179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EDDDC-602B-CEAE-EE81-E1B2463A3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495" y="1079392"/>
            <a:ext cx="5599975" cy="3824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B67B79-D016-1F59-831F-FAB7CC2ABE3F}"/>
                  </a:ext>
                </a:extLst>
              </p:cNvPr>
              <p:cNvSpPr txBox="1"/>
              <p:nvPr/>
            </p:nvSpPr>
            <p:spPr>
              <a:xfrm>
                <a:off x="617503" y="5170367"/>
                <a:ext cx="5431463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b="1" i="1" dirty="0"/>
                  <a:t>Figure 15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Position (</a:t>
                </a:r>
                <a14:m>
                  <m:oMath xmlns:m="http://schemas.openxmlformats.org/officeDocument/2006/math">
                    <m:r>
                      <a:rPr kumimoji="0" lang="en-US" sz="1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/>
                        <a:sym typeface="Arial"/>
                      </a:rPr>
                      <m:t>𝒙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</a:t>
                </a:r>
                <a:r>
                  <a:rPr lang="en-US" b="1" i="1" dirty="0"/>
                  <a:t>Graph from GA-Optimized LQR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B67B79-D016-1F59-831F-FAB7CC2AB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03" y="5170367"/>
                <a:ext cx="5431463" cy="738664"/>
              </a:xfrm>
              <a:prstGeom prst="rect">
                <a:avLst/>
              </a:prstGeom>
              <a:blipFill>
                <a:blip r:embed="rId7"/>
                <a:stretch>
                  <a:fillRect t="-1653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F6E776-AEAB-5EDD-6071-4946435921BC}"/>
                  </a:ext>
                </a:extLst>
              </p:cNvPr>
              <p:cNvSpPr txBox="1"/>
              <p:nvPr/>
            </p:nvSpPr>
            <p:spPr>
              <a:xfrm>
                <a:off x="6320495" y="5170367"/>
                <a:ext cx="5431463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b="1" i="1" dirty="0"/>
                  <a:t>Figure 16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Chassis Tilt 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0" dirty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i="0" dirty="0"/>
                          <m:t>θ</m:t>
                        </m:r>
                        <m:r>
                          <m:rPr>
                            <m:nor/>
                          </m:rPr>
                          <a:rPr lang="en-IN" i="0" dirty="0"/>
                          <m:t>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</a:t>
                </a:r>
                <a:r>
                  <a:rPr lang="en-US" b="1" i="1" dirty="0"/>
                  <a:t>Graph from GA-Optimized LQR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F6E776-AEAB-5EDD-6071-494643592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495" y="5170367"/>
                <a:ext cx="5431463" cy="738664"/>
              </a:xfrm>
              <a:prstGeom prst="rect">
                <a:avLst/>
              </a:prstGeom>
              <a:blipFill>
                <a:blip r:embed="rId8"/>
                <a:stretch>
                  <a:fillRect t="-1653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970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0F8AA47-9B64-8D5E-E181-3D218BDD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0E620F57-B176-EBC4-16C2-273FC02AD9A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2E22FA13-EC4B-616D-1246-C75FF4762703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72C95B49-3258-1E8C-E0EA-11823ED3D1E9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81091604-7243-7418-505E-CD4927BBC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9D64C153-FE9D-47A5-3018-59EA5530F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B56825-AB9C-FE93-735A-F3F6EF571E78}"/>
              </a:ext>
            </a:extLst>
          </p:cNvPr>
          <p:cNvSpPr txBox="1"/>
          <p:nvPr/>
        </p:nvSpPr>
        <p:spPr>
          <a:xfrm>
            <a:off x="664028" y="855317"/>
            <a:ext cx="6186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 3: GA-Optimized LQR Controller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11431-0D78-882B-EA84-285DE1866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227" y="1450779"/>
            <a:ext cx="5729031" cy="42814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05A4CE-7B9F-B531-F5B4-594836CAD0BA}"/>
                  </a:ext>
                </a:extLst>
              </p:cNvPr>
              <p:cNvSpPr txBox="1"/>
              <p:nvPr/>
            </p:nvSpPr>
            <p:spPr>
              <a:xfrm>
                <a:off x="634242" y="3226237"/>
                <a:ext cx="311150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Figure </a:t>
                </a:r>
                <a:r>
                  <a:rPr lang="en-US" b="1" i="1" dirty="0"/>
                  <a:t>17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Control Action/Torque</a:t>
                </a:r>
                <a:r>
                  <a:rPr kumimoji="0" lang="en-US" sz="1400" b="1" i="1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Graph from LQR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05A4CE-7B9F-B531-F5B4-594836CA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42" y="3226237"/>
                <a:ext cx="3111501" cy="954107"/>
              </a:xfrm>
              <a:prstGeom prst="rect">
                <a:avLst/>
              </a:prstGeom>
              <a:blipFill>
                <a:blip r:embed="rId6"/>
                <a:stretch>
                  <a:fillRect t="-1274" r="-784" b="-5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605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14F2D8-F3E2-A017-2A09-09B7D6BC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69FC929C-BA92-8326-DA56-BF31900E29EE}"/>
              </a:ext>
            </a:extLst>
          </p:cNvPr>
          <p:cNvSpPr txBox="1"/>
          <p:nvPr/>
        </p:nvSpPr>
        <p:spPr>
          <a:xfrm>
            <a:off x="838200" y="3026708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B431BAB5-4E9D-B2C7-D486-27D1FB9834F1}"/>
              </a:ext>
            </a:extLst>
          </p:cNvPr>
          <p:cNvSpPr txBox="1"/>
          <p:nvPr/>
        </p:nvSpPr>
        <p:spPr>
          <a:xfrm>
            <a:off x="3602587" y="175372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AA80AC8B-CC34-E772-37B8-4016DE711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4F17AD33-3152-9FC5-555A-BCBB345BA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9E0A69-E241-EA52-4406-5B02FB7CD9E2}"/>
              </a:ext>
            </a:extLst>
          </p:cNvPr>
          <p:cNvSpPr txBox="1"/>
          <p:nvPr/>
        </p:nvSpPr>
        <p:spPr>
          <a:xfrm>
            <a:off x="1363382" y="999293"/>
            <a:ext cx="9465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Table 1. Performance parameters of the Segway using LQR and GA-LQR controller</a:t>
            </a:r>
            <a:endParaRPr lang="en-IN" sz="36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28D13D-2A83-8B37-CFD3-FC155D41B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99649"/>
              </p:ext>
            </p:extLst>
          </p:nvPr>
        </p:nvGraphicFramePr>
        <p:xfrm>
          <a:off x="1363382" y="1763558"/>
          <a:ext cx="9465236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747">
                  <a:extLst>
                    <a:ext uri="{9D8B030D-6E8A-4147-A177-3AD203B41FA5}">
                      <a16:colId xmlns:a16="http://schemas.microsoft.com/office/drawing/2014/main" val="2540237257"/>
                    </a:ext>
                  </a:extLst>
                </a:gridCol>
                <a:gridCol w="1429871">
                  <a:extLst>
                    <a:ext uri="{9D8B030D-6E8A-4147-A177-3AD203B41FA5}">
                      <a16:colId xmlns:a16="http://schemas.microsoft.com/office/drawing/2014/main" val="2001651746"/>
                    </a:ext>
                  </a:extLst>
                </a:gridCol>
                <a:gridCol w="2366309">
                  <a:extLst>
                    <a:ext uri="{9D8B030D-6E8A-4147-A177-3AD203B41FA5}">
                      <a16:colId xmlns:a16="http://schemas.microsoft.com/office/drawing/2014/main" val="1843260319"/>
                    </a:ext>
                  </a:extLst>
                </a:gridCol>
                <a:gridCol w="2366309">
                  <a:extLst>
                    <a:ext uri="{9D8B030D-6E8A-4147-A177-3AD203B41FA5}">
                      <a16:colId xmlns:a16="http://schemas.microsoft.com/office/drawing/2014/main" val="3976545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Controller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System Output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Rise Time (seconds)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Settling Time (seconds)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77910"/>
                  </a:ext>
                </a:extLst>
              </a:tr>
              <a:tr h="366507">
                <a:tc>
                  <a:txBody>
                    <a:bodyPr/>
                    <a:lstStyle/>
                    <a:p>
                      <a:r>
                        <a:rPr lang="en-US" sz="2000" dirty="0"/>
                        <a:t>LQR – Manually Tuned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Position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1.16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8.17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2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Chassis Tilt Angle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0.0014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9.99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515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LQR – GA Tuned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Position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0.85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6.03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9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Chassis Tilt Angle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0.0004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9.98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603520"/>
                  </a:ext>
                </a:extLst>
              </a:tr>
            </a:tbl>
          </a:graphicData>
        </a:graphic>
      </p:graphicFrame>
      <p:sp>
        <p:nvSpPr>
          <p:cNvPr id="8" name="Google Shape;112;g35aa9b09be0_0_25">
            <a:extLst>
              <a:ext uri="{FF2B5EF4-FFF2-40B4-BE49-F238E27FC236}">
                <a16:creationId xmlns:a16="http://schemas.microsoft.com/office/drawing/2014/main" id="{A0EE0E99-ED3C-8993-D366-B09C801914F2}"/>
              </a:ext>
            </a:extLst>
          </p:cNvPr>
          <p:cNvSpPr txBox="1"/>
          <p:nvPr/>
        </p:nvSpPr>
        <p:spPr>
          <a:xfrm>
            <a:off x="3602587" y="484871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B7BB3-7760-7523-EFA8-EE68FD0B41A7}"/>
              </a:ext>
            </a:extLst>
          </p:cNvPr>
          <p:cNvSpPr txBox="1"/>
          <p:nvPr/>
        </p:nvSpPr>
        <p:spPr>
          <a:xfrm>
            <a:off x="1363382" y="5624744"/>
            <a:ext cx="9335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 can be inferred from the above table, the performance of the GA-tuned LQR controller is superior than that of the manually tuned LQR controller.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3082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E8D7A94-0775-1A0A-B0CE-AB9C75D7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02C7A926-48C4-2D83-75DB-684AFDE203A4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 b="16507"/>
          <a:stretch>
            <a:fillRect/>
          </a:stretch>
        </p:blipFill>
        <p:spPr>
          <a:xfrm>
            <a:off x="0" y="0"/>
            <a:ext cx="12192000" cy="6848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6BE3DEB3-68BC-0844-C9EB-E8F9805F808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0E196871-7836-FDE6-2E09-8C00CFB54F83}"/>
              </a:ext>
            </a:extLst>
          </p:cNvPr>
          <p:cNvSpPr txBox="1"/>
          <p:nvPr/>
        </p:nvSpPr>
        <p:spPr>
          <a:xfrm>
            <a:off x="3873167" y="129368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3200" b="1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A0421099-00A1-9745-C0EA-6C02A89C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411C8167-EB85-E0CB-1908-2474819AD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BF9259-7908-221A-4424-7627AF5F1FC3}"/>
              </a:ext>
            </a:extLst>
          </p:cNvPr>
          <p:cNvSpPr txBox="1"/>
          <p:nvPr/>
        </p:nvSpPr>
        <p:spPr>
          <a:xfrm>
            <a:off x="497540" y="965494"/>
            <a:ext cx="1149723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sz="1500" dirty="0"/>
              <a:t>V. Mudeng, B. Hassanah, Y. T. K. </a:t>
            </a:r>
            <a:r>
              <a:rPr lang="en-IN" sz="1500" dirty="0" err="1"/>
              <a:t>Priyanto</a:t>
            </a:r>
            <a:r>
              <a:rPr lang="en-IN" sz="1500" dirty="0"/>
              <a:t>, and O. Saputra, “Design and Simulation of Two-Wheeled Balancing Mobile Robot with PID Controller,” Int. J. Sustain. Transp. Technol., vol. 3, no. 1, pp. 12–19, Apr. 2020. </a:t>
            </a:r>
            <a:br>
              <a:rPr lang="en-IN" sz="1500" dirty="0"/>
            </a:br>
            <a:endParaRPr lang="en-IN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IN" sz="1500" dirty="0"/>
              <a:t>L. G. B. Putra, F. Wahab, and T. A. Tamba, “Design and Implementation of Linear Quadratic Regulator Control for Two-Wheeled Self-Balancing Robot,” Bull. </a:t>
            </a:r>
            <a:r>
              <a:rPr lang="en-IN" sz="1500" dirty="0" err="1"/>
              <a:t>Electr</a:t>
            </a:r>
            <a:r>
              <a:rPr lang="en-IN" sz="1500" dirty="0"/>
              <a:t>. Eng. Inform., vol. 14, no. 2, pp. 931–939, Apr. 2025.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IN" sz="1500" dirty="0"/>
              <a:t>I. K. Mohammed and A. I. Abdulla, “Balancing a Segway Robot Using LQR Controller Based on Genetic and Bacteria Foraging Optimization Algorithms,” TELKOMNIKA </a:t>
            </a:r>
            <a:r>
              <a:rPr lang="en-IN" sz="1500" dirty="0" err="1"/>
              <a:t>Telecommun</a:t>
            </a:r>
            <a:r>
              <a:rPr lang="en-IN" sz="1500" dirty="0"/>
              <a:t>. </a:t>
            </a:r>
            <a:r>
              <a:rPr lang="en-IN" sz="1500" dirty="0" err="1"/>
              <a:t>Comput</a:t>
            </a:r>
            <a:r>
              <a:rPr lang="en-IN" sz="1500" dirty="0"/>
              <a:t>. Electron. Control, vol. 18, no. 5, pp. 2642–2653, Oct. 2020. 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IN" sz="1500" dirty="0"/>
              <a:t>Feriyonika and A. Hidayat, “Balancing Control of Two-Wheeled Robot by Using Linear Quadratic Gaussian (LQG),” J. </a:t>
            </a:r>
            <a:r>
              <a:rPr lang="en-IN" sz="1500" dirty="0" err="1"/>
              <a:t>Telecommun</a:t>
            </a:r>
            <a:r>
              <a:rPr lang="en-IN" sz="1500" dirty="0"/>
              <a:t>. Electron. </a:t>
            </a:r>
            <a:r>
              <a:rPr lang="en-IN" sz="1500" dirty="0" err="1"/>
              <a:t>Comput</a:t>
            </a:r>
            <a:r>
              <a:rPr lang="en-IN" sz="1500" dirty="0"/>
              <a:t>. Eng., vol. 12, no. 3, pp. 55–59, Sep. 2020. 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IN" sz="1500" dirty="0"/>
              <a:t>O. A. Choudhry, M. Wasim, A. Ali, M. A. Choudhry, and J. Iqbal, “Modelling and Robust Controller Design for an Underactuated Self-Balancing Robot with Uncertain Parameter Estimation,” </a:t>
            </a:r>
            <a:r>
              <a:rPr lang="en-IN" sz="1500" dirty="0" err="1"/>
              <a:t>PLoS</a:t>
            </a:r>
            <a:r>
              <a:rPr lang="en-IN" sz="1500" dirty="0"/>
              <a:t> One, vol. 18, no. 8, Aug. 2023, Art. no. e0285495.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B. R. Burkan and Ö. C. </a:t>
            </a:r>
            <a:r>
              <a:rPr lang="en-US" sz="1500" dirty="0" err="1"/>
              <a:t>Özgüney</a:t>
            </a:r>
            <a:r>
              <a:rPr lang="en-US" sz="1500" dirty="0"/>
              <a:t>, “Balance Control of Segway Robots Using Adaptive-Robust Controller,” Ind. 4.0, Int. Sci. J., vol. 2, no. 1, pp. 38–41, 2017.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IN" sz="1500" dirty="0"/>
              <a:t>Y. Su, T. Wang, K. Zhang, C. Yao, and Z. Wang, “Adaptive Nonlinear Control Algorithm for a Self-Balancing Robot,” IEEE Access, vol. 8, pp. 3751–3760, 2020. 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J. Chen, N. He, Z. Xu, M. Dou, and L. He, “Design and Implementation of a Novel Two-Wheeled Composite Self-Balancing Robot for Stationary Operations in Unknown Terrain,” IEEE Access, vol. 13, pp. 86032–86045, May 2025.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384131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6A082A04-F2BF-8DE7-3BFB-DEB47A643C28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5A79E-A258-7EC9-09CB-8547BA16668D}"/>
              </a:ext>
            </a:extLst>
          </p:cNvPr>
          <p:cNvSpPr txBox="1"/>
          <p:nvPr/>
        </p:nvSpPr>
        <p:spPr>
          <a:xfrm>
            <a:off x="3904343" y="2413337"/>
            <a:ext cx="4383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Thank You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2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4932</TotalTime>
  <Words>3217</Words>
  <Application>Microsoft Office PowerPoint</Application>
  <PresentationFormat>Widescreen</PresentationFormat>
  <Paragraphs>420</Paragraphs>
  <Slides>42</Slides>
  <Notes>31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Algerian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Sukeshi Parnami</dc:creator>
  <cp:lastModifiedBy>Pritam Kalita</cp:lastModifiedBy>
  <cp:revision>17</cp:revision>
  <dcterms:created xsi:type="dcterms:W3CDTF">2023-06-27T05:32:28Z</dcterms:created>
  <dcterms:modified xsi:type="dcterms:W3CDTF">2026-08-09T09:36:26Z</dcterms:modified>
</cp:coreProperties>
</file>