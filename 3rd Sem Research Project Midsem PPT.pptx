
<file path=[Content_Types].xml><?xml version="1.0" encoding="utf-8"?>
<Types xmlns="http://schemas.openxmlformats.org/package/2006/content-types">
  <Default Extension="gif" ContentType="image/gif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59" r:id="rId4"/>
    <p:sldId id="260" r:id="rId5"/>
    <p:sldId id="261" r:id="rId6"/>
    <p:sldId id="262" r:id="rId7"/>
    <p:sldId id="277" r:id="rId8"/>
    <p:sldId id="263" r:id="rId9"/>
    <p:sldId id="264" r:id="rId10"/>
    <p:sldId id="275" r:id="rId11"/>
    <p:sldId id="266" r:id="rId12"/>
    <p:sldId id="267" r:id="rId13"/>
    <p:sldId id="269" r:id="rId14"/>
    <p:sldId id="273" r:id="rId15"/>
    <p:sldId id="270" r:id="rId16"/>
    <p:sldId id="274" r:id="rId17"/>
    <p:sldId id="271" r:id="rId18"/>
    <p:sldId id="276" r:id="rId19"/>
    <p:sldId id="272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jd5A+X196eC+JK+21E4LotMuD5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4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aa9b09be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g35aa9b09be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651721B-35FE-55F0-B34D-7C49C3984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95DB54DC-BBC6-AD9E-4B0E-D1C5FCD2AE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5DF033E7-6C98-0E6D-6EB6-080972CF0A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4450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9F58611-3C3C-F1A4-FEF7-A9C1202DA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FD5B7BF4-9C6B-4D1B-383F-9C187CD682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2851DA0F-4B5E-CD2F-4872-8AA5DAA359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296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87A4846-65D8-BCDE-9B31-AFB6BA835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3959D1AD-2349-2CD2-03E1-37D20C261A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CCE6F36F-B559-AF96-FB5C-C260698B3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87484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FB7C04B-F204-2F39-BFAB-4FEC31E45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8BC3C727-FB50-B7C5-3C08-94CA40693F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06B686E1-9016-2877-6658-4A6A716501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1958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8809174-E145-0B82-0C4A-E4699DD29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47C195BE-BEB4-0355-0370-7B02D49A14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7A2FD5AF-0938-F118-A5C5-76F56AD582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8489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F9205A6-00E7-A7F2-768A-F938A08E9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65D3F779-6138-6BBA-CC27-F0DCE7B482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A0A99363-F5F5-5D77-E9FE-8D8DFEBAAE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5258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64B74C7-4001-CF57-2A0C-617AEBC32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C6CA8945-8A74-40FA-188D-74FB68D0F3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C780A2D3-E9AB-753E-DBC3-84D625A410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4066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D4F60B4-1553-B65C-1563-A9AB6205C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7C57B770-FFC5-37D7-F780-81E2E2B232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DAFB1B28-0B0E-7311-6813-3F54EEA69F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0519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2094F83-F489-5F3A-B6BD-4F0445C93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10080DBC-9CD8-C061-19A7-EFABE2E477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0E2D6A3A-49FB-4D00-2F1C-F1FB6C4BB4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378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6850BB4-E413-F92A-8219-99FEF5B41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EFDF3191-1D71-7207-6529-579B8951CE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050E0B4A-5E83-E4F7-BFBB-7F9C8D6893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8030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99B8272-1844-BB66-AC4D-A0712CF9B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790A821B-9CE7-527B-1992-9CC68A9929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0954E641-33E5-0091-4ED3-DEC7A02D5F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4464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BEB3CA2-5268-DBE8-57BE-23BE9C6D3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32868137-02E8-4E90-090C-5A2F3FE898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C03CD8A8-9313-0E41-E6A2-4080DC50DB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3409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4F2929C-3123-EE29-597C-ADA471604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C6263F4E-128E-872F-41A3-ABCD08B6CA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85FEE5E9-297E-327E-7253-D606F55CB5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3459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0AD87D4-720B-11B6-7A0E-7FB065081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aa9b09be0_0_25:notes">
            <a:extLst>
              <a:ext uri="{FF2B5EF4-FFF2-40B4-BE49-F238E27FC236}">
                <a16:creationId xmlns:a16="http://schemas.microsoft.com/office/drawing/2014/main" id="{30839B93-868D-A6B2-8D0C-E39FBC1F3E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g35aa9b09be0_0_25:notes">
            <a:extLst>
              <a:ext uri="{FF2B5EF4-FFF2-40B4-BE49-F238E27FC236}">
                <a16:creationId xmlns:a16="http://schemas.microsoft.com/office/drawing/2014/main" id="{C4622F6C-FB1F-A6E9-C488-AE3570D684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476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4" name="Google Shape;64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instructables.com/Self-Balancing-Robot-Using-Arduino/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0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gif"/><Relationship Id="rId5" Type="http://schemas.openxmlformats.org/officeDocument/2006/relationships/image" Target="../media/image80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jp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5.gi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gif"/><Relationship Id="rId7" Type="http://schemas.openxmlformats.org/officeDocument/2006/relationships/image" Target="../media/image1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5" Type="http://schemas.openxmlformats.org/officeDocument/2006/relationships/image" Target="../media/image110.png"/><Relationship Id="rId4" Type="http://schemas.openxmlformats.org/officeDocument/2006/relationships/image" Target="../media/image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4" Type="http://schemas.openxmlformats.org/officeDocument/2006/relationships/image" Target="../media/image5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5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0.png"/><Relationship Id="rId4" Type="http://schemas.openxmlformats.org/officeDocument/2006/relationships/image" Target="../media/image5.g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2.png"/><Relationship Id="rId4" Type="http://schemas.openxmlformats.org/officeDocument/2006/relationships/image" Target="../media/image5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gif"/><Relationship Id="rId5" Type="http://schemas.openxmlformats.org/officeDocument/2006/relationships/image" Target="../media/image1.jpg"/><Relationship Id="rId4" Type="http://schemas.openxmlformats.org/officeDocument/2006/relationships/notesSlide" Target="../notesSlides/notesSlid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12928/telkomnika.v18i5.14717" TargetMode="External"/><Relationship Id="rId5" Type="http://schemas.openxmlformats.org/officeDocument/2006/relationships/hyperlink" Target="https://doi.org/10.11591/eei.v14i2.8689" TargetMode="External"/><Relationship Id="rId4" Type="http://schemas.openxmlformats.org/officeDocument/2006/relationships/image" Target="../media/image5.gi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 txBox="1"/>
          <p:nvPr/>
        </p:nvSpPr>
        <p:spPr>
          <a:xfrm>
            <a:off x="838200" y="3524250"/>
            <a:ext cx="19621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1389175" y="334100"/>
            <a:ext cx="9283800" cy="12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Balancing &amp; Control of Segway Robot Using Classical and Modern Control Techniques</a:t>
            </a:r>
            <a:r>
              <a:rPr lang="en-US" sz="32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632507" y="1565000"/>
            <a:ext cx="8926986" cy="98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i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(In Submission for Midsemester Research Project Evaluation)</a:t>
            </a:r>
            <a:endParaRPr sz="2600" i="1" dirty="0">
              <a:solidFill>
                <a:schemeClr val="bg1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2508750" y="2360661"/>
            <a:ext cx="7174500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Presented by : 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ctr"/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Pritam Ranjan Kalita</a:t>
            </a:r>
          </a:p>
          <a:p>
            <a:pPr lvl="0" algn="ctr"/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MTech Robotics Engineering (3</a:t>
            </a:r>
            <a:r>
              <a:rPr lang="en-IN" sz="20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</a:t>
            </a: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Semester)</a:t>
            </a:r>
          </a:p>
          <a:p>
            <a:pPr lvl="0" algn="ctr"/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School of Advanced Engineering</a:t>
            </a:r>
          </a:p>
        </p:txBody>
      </p:sp>
      <p:sp>
        <p:nvSpPr>
          <p:cNvPr id="97" name="Google Shape;97;p2"/>
          <p:cNvSpPr txBox="1"/>
          <p:nvPr/>
        </p:nvSpPr>
        <p:spPr>
          <a:xfrm>
            <a:off x="3121200" y="3864762"/>
            <a:ext cx="5949600" cy="1405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Supervisor: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Dr. Rahul Singhal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Electrical Cluster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School of Advanced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g35aa9b09be0_0_4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9"/>
          <a:stretch/>
        </p:blipFill>
        <p:spPr>
          <a:xfrm>
            <a:off x="0" y="0"/>
            <a:ext cx="12192000" cy="6856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D79CC6FA-0103-6416-A5D1-269D95E3A75F}"/>
              </a:ext>
            </a:extLst>
          </p:cNvPr>
          <p:cNvGrpSpPr/>
          <p:nvPr/>
        </p:nvGrpSpPr>
        <p:grpSpPr>
          <a:xfrm>
            <a:off x="399268" y="727288"/>
            <a:ext cx="4694887" cy="5140945"/>
            <a:chOff x="76540" y="727288"/>
            <a:chExt cx="4694887" cy="514094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F4AB6557-2331-6201-D5C9-F2773ED1B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636" t="1435" r="-2356" b="-1435"/>
            <a:stretch>
              <a:fillRect/>
            </a:stretch>
          </p:blipFill>
          <p:spPr>
            <a:xfrm>
              <a:off x="76540" y="727288"/>
              <a:ext cx="4694887" cy="4125282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E456932-0C85-0D53-BFDA-DBAB593778A9}"/>
                </a:ext>
              </a:extLst>
            </p:cNvPr>
            <p:cNvSpPr txBox="1"/>
            <p:nvPr/>
          </p:nvSpPr>
          <p:spPr>
            <a:xfrm>
              <a:off x="397578" y="4852570"/>
              <a:ext cx="405280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i="1" dirty="0"/>
                <a:t>Figure 1. A self-balancing Segway robot</a:t>
              </a:r>
              <a:r>
                <a:rPr lang="en-US" sz="1200" i="1" dirty="0"/>
                <a:t>. Adapted from "Self-Balancing Robot Using Arduino" by My Tech Studio, Instructables. Retrieved from </a:t>
              </a:r>
              <a:r>
                <a:rPr lang="en-US" sz="1200" b="1" i="1" dirty="0">
                  <a:hlinkClick r:id="rId5"/>
                </a:rPr>
                <a:t>https://www.instructables.com/Self-Balancing-Robot-Using-Arduino/</a:t>
              </a:r>
              <a:r>
                <a:rPr lang="en-US" sz="1200" i="1" dirty="0"/>
                <a:t>. Copyright by Instructables.</a:t>
              </a:r>
              <a:endParaRPr lang="en-IN" sz="1100" dirty="0"/>
            </a:p>
          </p:txBody>
        </p:sp>
      </p:grpSp>
      <p:sp>
        <p:nvSpPr>
          <p:cNvPr id="103" name="Google Shape;103;g35aa9b09be0_0_4"/>
          <p:cNvSpPr txBox="1"/>
          <p:nvPr/>
        </p:nvSpPr>
        <p:spPr>
          <a:xfrm>
            <a:off x="838200" y="3524250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5aa9b09be0_0_4"/>
          <p:cNvSpPr txBox="1"/>
          <p:nvPr/>
        </p:nvSpPr>
        <p:spPr>
          <a:xfrm>
            <a:off x="4081429" y="95000"/>
            <a:ext cx="4029141" cy="6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 sz="3200" b="1"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92D61A-EC91-6A3F-4797-D24DA640B93F}"/>
              </a:ext>
            </a:extLst>
          </p:cNvPr>
          <p:cNvSpPr txBox="1"/>
          <p:nvPr/>
        </p:nvSpPr>
        <p:spPr>
          <a:xfrm>
            <a:off x="5094153" y="1066918"/>
            <a:ext cx="676893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b="1" dirty="0"/>
              <a:t>Self Balancing Segway Robot </a:t>
            </a:r>
            <a:r>
              <a:rPr lang="en-US" sz="2000" dirty="0"/>
              <a:t>is inspired from the </a:t>
            </a:r>
            <a:r>
              <a:rPr lang="en-US" sz="2000" b="1" dirty="0"/>
              <a:t>Cart &amp; Inverted Pendulum (CIP)</a:t>
            </a:r>
            <a:r>
              <a:rPr lang="en-US" sz="2000" dirty="0"/>
              <a:t> model which is a classical problem studied in Control Engineering. The operational principles of CIP model also used in designing of </a:t>
            </a:r>
            <a:r>
              <a:rPr lang="en-US" sz="2000" b="1" dirty="0"/>
              <a:t>self-balancing hoverboards</a:t>
            </a:r>
            <a:r>
              <a:rPr lang="en-US" sz="2000" dirty="0"/>
              <a:t>, </a:t>
            </a:r>
            <a:r>
              <a:rPr lang="en-US" sz="2000" b="1" dirty="0"/>
              <a:t>Humanoid and Bipedal Robots</a:t>
            </a:r>
            <a:r>
              <a:rPr lang="en-US" sz="2000" dirty="0"/>
              <a:t>, </a:t>
            </a:r>
            <a:r>
              <a:rPr lang="en-US" sz="2000" b="1" dirty="0"/>
              <a:t>Rocket and Missile Guidance systems</a:t>
            </a:r>
            <a:r>
              <a:rPr lang="en-US" sz="2000" dirty="0"/>
              <a:t> etc.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Segway-type robots </a:t>
            </a:r>
            <a:r>
              <a:rPr lang="en-US" sz="2000" dirty="0"/>
              <a:t>serve as a </a:t>
            </a:r>
            <a:r>
              <a:rPr lang="en-US" sz="2000" b="1" dirty="0"/>
              <a:t>platform</a:t>
            </a:r>
            <a:r>
              <a:rPr lang="en-US" sz="2000" dirty="0"/>
              <a:t> for </a:t>
            </a:r>
            <a:r>
              <a:rPr lang="en-US" sz="2000" b="1" dirty="0"/>
              <a:t>testing innovative control strategies</a:t>
            </a:r>
            <a:r>
              <a:rPr lang="en-US" sz="2000" dirty="0"/>
              <a:t> that can be then extended to more complex robotic systems and autonomous vehicles.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35aa9b09be0_0_25" descr="A picture containing screenshot, line, plot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9"/>
          <a:stretch/>
        </p:blipFill>
        <p:spPr>
          <a:xfrm>
            <a:off x="0" y="1200"/>
            <a:ext cx="12192000" cy="685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5aa9b09be0_0_25"/>
          <p:cNvSpPr txBox="1"/>
          <p:nvPr/>
        </p:nvSpPr>
        <p:spPr>
          <a:xfrm>
            <a:off x="838200" y="3524250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5aa9b09be0_0_25"/>
          <p:cNvSpPr txBox="1"/>
          <p:nvPr/>
        </p:nvSpPr>
        <p:spPr>
          <a:xfrm>
            <a:off x="4330200" y="107698"/>
            <a:ext cx="3531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sz="3200" b="1"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g35aa9b09be0_0_25"/>
          <p:cNvSpPr txBox="1"/>
          <p:nvPr/>
        </p:nvSpPr>
        <p:spPr>
          <a:xfrm>
            <a:off x="478724" y="1055971"/>
            <a:ext cx="11234552" cy="5008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[1] Mudeng et al. </a:t>
            </a:r>
            <a:r>
              <a:rPr lang="en-US" sz="1800" dirty="0"/>
              <a:t>mathematically modeled and simulated a two-wheeled balancing robot, employing a PID controller and Ziegler–Nichol’s method for tuning the PID gains in Simulink.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[2] Putra et al. </a:t>
            </a:r>
            <a:r>
              <a:rPr lang="en-US" sz="1800" dirty="0"/>
              <a:t>developed and implemented an LQR-based control system for a two-wheeled self-balancing robot, validating their mathematical model through both simulation and physical experiments.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/>
              <a:t>[3] Mohammed and Abdulla </a:t>
            </a:r>
            <a:r>
              <a:rPr lang="en-IN" sz="1800" dirty="0"/>
              <a:t>designed an LQR controller to stabilize a Segway robot, and used genetic algorithm and bacteria foraging optimization to tune controller’s Q and R parameters.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/>
              <a:t>[4] Feriyonika and Hidayat </a:t>
            </a:r>
            <a:r>
              <a:rPr lang="en-IN" sz="1800" dirty="0"/>
              <a:t>in their study implemented Linear Quadratic Gaussian (LQG) control for a two-wheeled self-balancing robot, combining a Kalman filter with Linear Quadratic Regulator (LQR) to reduce sensor noise and optimize balance performance.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/>
              <a:t>[5] </a:t>
            </a:r>
            <a:r>
              <a:rPr lang="en-US" sz="1800" b="1" dirty="0"/>
              <a:t>Burkan and Ozguney </a:t>
            </a:r>
            <a:r>
              <a:rPr lang="en-US" sz="1800" dirty="0"/>
              <a:t>in their study developed and applied adaptive-robust and fuzzy logic controllers for balancing a two-wheeled Segway robot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2C00947-4E35-F7E4-BA2D-08680A3C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19ACF6C0-C5F6-99B7-4730-F9A5CD5884C7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9"/>
          <a:stretch/>
        </p:blipFill>
        <p:spPr>
          <a:xfrm>
            <a:off x="0" y="1200"/>
            <a:ext cx="12192000" cy="685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5aa9b09be0_0_25">
            <a:extLst>
              <a:ext uri="{FF2B5EF4-FFF2-40B4-BE49-F238E27FC236}">
                <a16:creationId xmlns:a16="http://schemas.microsoft.com/office/drawing/2014/main" id="{4E588CE5-360C-8931-FFDC-E78FF776BD76}"/>
              </a:ext>
            </a:extLst>
          </p:cNvPr>
          <p:cNvSpPr txBox="1"/>
          <p:nvPr/>
        </p:nvSpPr>
        <p:spPr>
          <a:xfrm>
            <a:off x="838200" y="3524250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D0421AC3-8DC5-5002-F14B-5BA353753EA0}"/>
              </a:ext>
            </a:extLst>
          </p:cNvPr>
          <p:cNvSpPr txBox="1"/>
          <p:nvPr/>
        </p:nvSpPr>
        <p:spPr>
          <a:xfrm>
            <a:off x="3873167" y="73293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Research Objectives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g35aa9b09be0_0_25">
            <a:extLst>
              <a:ext uri="{FF2B5EF4-FFF2-40B4-BE49-F238E27FC236}">
                <a16:creationId xmlns:a16="http://schemas.microsoft.com/office/drawing/2014/main" id="{4D328346-EC30-B1EC-441D-D7BD9C8F2D68}"/>
              </a:ext>
            </a:extLst>
          </p:cNvPr>
          <p:cNvSpPr txBox="1"/>
          <p:nvPr/>
        </p:nvSpPr>
        <p:spPr>
          <a:xfrm>
            <a:off x="431221" y="793498"/>
            <a:ext cx="11562855" cy="4988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Study the mathematical model of the Segway Self-Balancing Robot and derive the </a:t>
            </a:r>
            <a:r>
              <a:rPr lang="en-US" sz="2000" b="1" dirty="0"/>
              <a:t>Transfer function and State-Space model equations for application in design of linear controllers – PID and LQR.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Implement a PID controller for controlling the system. </a:t>
            </a:r>
            <a:r>
              <a:rPr lang="en-US" sz="2000" b="1" dirty="0"/>
              <a:t>Simulate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the results using MATLAB &amp; SIMULINK.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/>
              <a:t>Implement a LQR controller for controlling the system and use Genetic Algorithm for tunning of the Q and R parameters. Simulate the results using MATLAB &amp; SIMULINK.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/>
              <a:t>Implement an advanced Non-Linear Controller for controlling the system. Simulate the results using MATLAB &amp; SIMULINK.</a:t>
            </a:r>
          </a:p>
        </p:txBody>
      </p:sp>
    </p:spTree>
    <p:extLst>
      <p:ext uri="{BB962C8B-B14F-4D97-AF65-F5344CB8AC3E}">
        <p14:creationId xmlns:p14="http://schemas.microsoft.com/office/powerpoint/2010/main" val="1393428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DAC01DF-35F4-0D20-050A-68CBB6FBC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7198F001-0DCB-E1CA-EB0F-224AB5567B41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9"/>
          <a:stretch/>
        </p:blipFill>
        <p:spPr>
          <a:xfrm>
            <a:off x="0" y="1200"/>
            <a:ext cx="12192000" cy="685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5aa9b09be0_0_25">
            <a:extLst>
              <a:ext uri="{FF2B5EF4-FFF2-40B4-BE49-F238E27FC236}">
                <a16:creationId xmlns:a16="http://schemas.microsoft.com/office/drawing/2014/main" id="{A6C7681A-1A66-91FB-F316-32BBA13722DC}"/>
              </a:ext>
            </a:extLst>
          </p:cNvPr>
          <p:cNvSpPr txBox="1"/>
          <p:nvPr/>
        </p:nvSpPr>
        <p:spPr>
          <a:xfrm>
            <a:off x="838200" y="3524250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795E3A47-C789-4111-7612-DF66B12B69CA}"/>
              </a:ext>
            </a:extLst>
          </p:cNvPr>
          <p:cNvSpPr txBox="1"/>
          <p:nvPr/>
        </p:nvSpPr>
        <p:spPr>
          <a:xfrm>
            <a:off x="3873167" y="73293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12;g35aa9b09be0_0_25">
            <a:extLst>
              <a:ext uri="{FF2B5EF4-FFF2-40B4-BE49-F238E27FC236}">
                <a16:creationId xmlns:a16="http://schemas.microsoft.com/office/drawing/2014/main" id="{751DD811-8E60-53B2-30A7-E9A4FB0E9BFE}"/>
              </a:ext>
            </a:extLst>
          </p:cNvPr>
          <p:cNvSpPr txBox="1"/>
          <p:nvPr/>
        </p:nvSpPr>
        <p:spPr>
          <a:xfrm>
            <a:off x="388293" y="675588"/>
            <a:ext cx="3286584" cy="511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Model Specifications :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30FDF7-5F73-3549-0729-0A2754FBB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160" y="1300074"/>
            <a:ext cx="3569781" cy="42578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1A77AC-AA1A-6FCF-BBD3-CDBA46C7D682}"/>
              </a:ext>
            </a:extLst>
          </p:cNvPr>
          <p:cNvSpPr txBox="1"/>
          <p:nvPr/>
        </p:nvSpPr>
        <p:spPr>
          <a:xfrm>
            <a:off x="484692" y="5591236"/>
            <a:ext cx="4052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 dirty="0"/>
              <a:t>Figure 2. Model of the Self-Balancing Segway Robot as simulated in MATLAB-Simulink </a:t>
            </a:r>
            <a:endParaRPr lang="en-IN" sz="11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5057D64-0511-4289-596F-F98C55B457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016248"/>
              </p:ext>
            </p:extLst>
          </p:nvPr>
        </p:nvGraphicFramePr>
        <p:xfrm>
          <a:off x="4537501" y="1638463"/>
          <a:ext cx="6362626" cy="33198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86605">
                  <a:extLst>
                    <a:ext uri="{9D8B030D-6E8A-4147-A177-3AD203B41FA5}">
                      <a16:colId xmlns:a16="http://schemas.microsoft.com/office/drawing/2014/main" val="4053519062"/>
                    </a:ext>
                  </a:extLst>
                </a:gridCol>
                <a:gridCol w="1776021">
                  <a:extLst>
                    <a:ext uri="{9D8B030D-6E8A-4147-A177-3AD203B41FA5}">
                      <a16:colId xmlns:a16="http://schemas.microsoft.com/office/drawing/2014/main" val="1978569836"/>
                    </a:ext>
                  </a:extLst>
                </a:gridCol>
              </a:tblGrid>
              <a:tr h="376877">
                <a:tc>
                  <a:txBody>
                    <a:bodyPr/>
                    <a:lstStyle/>
                    <a:p>
                      <a:r>
                        <a:rPr lang="en-US" dirty="0"/>
                        <a:t>Mass of each plate (kg)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4030629"/>
                  </a:ext>
                </a:extLst>
              </a:tr>
              <a:tr h="376877">
                <a:tc>
                  <a:txBody>
                    <a:bodyPr/>
                    <a:lstStyle/>
                    <a:p>
                      <a:r>
                        <a:rPr lang="en-US" dirty="0"/>
                        <a:t>Dimensions of each plate (cm)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 x 8 x 0.3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499952"/>
                  </a:ext>
                </a:extLst>
              </a:tr>
              <a:tr h="376877">
                <a:tc>
                  <a:txBody>
                    <a:bodyPr/>
                    <a:lstStyle/>
                    <a:p>
                      <a:r>
                        <a:rPr lang="en-US" dirty="0"/>
                        <a:t>Mass of each corner support rod (kg)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0.0625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8959129"/>
                  </a:ext>
                </a:extLst>
              </a:tr>
              <a:tr h="376877">
                <a:tc>
                  <a:txBody>
                    <a:bodyPr/>
                    <a:lstStyle/>
                    <a:p>
                      <a:r>
                        <a:rPr lang="en-US" dirty="0"/>
                        <a:t>Radius of each corner support rod (mm)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242528"/>
                  </a:ext>
                </a:extLst>
              </a:tr>
              <a:tr h="1373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Height of each corner support rod (cm)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178059"/>
                  </a:ext>
                </a:extLst>
              </a:tr>
              <a:tr h="376877">
                <a:tc>
                  <a:txBody>
                    <a:bodyPr/>
                    <a:lstStyle/>
                    <a:p>
                      <a:r>
                        <a:rPr lang="en-US" dirty="0"/>
                        <a:t>Dimensions of connecting rod between the wheels (cm)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 x 1 x 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860708"/>
                  </a:ext>
                </a:extLst>
              </a:tr>
              <a:tr h="376877">
                <a:tc>
                  <a:txBody>
                    <a:bodyPr/>
                    <a:lstStyle/>
                    <a:p>
                      <a:r>
                        <a:rPr lang="en-US" dirty="0"/>
                        <a:t>Mass of connecting rod between the wheels (kg)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6985081"/>
                  </a:ext>
                </a:extLst>
              </a:tr>
              <a:tr h="376877">
                <a:tc>
                  <a:txBody>
                    <a:bodyPr/>
                    <a:lstStyle/>
                    <a:p>
                      <a:r>
                        <a:rPr lang="en-US" dirty="0"/>
                        <a:t>Radius of each wheel (m)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0.0325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872148"/>
                  </a:ext>
                </a:extLst>
              </a:tr>
              <a:tr h="376877">
                <a:tc>
                  <a:txBody>
                    <a:bodyPr/>
                    <a:lstStyle/>
                    <a:p>
                      <a:r>
                        <a:rPr lang="en-US" dirty="0"/>
                        <a:t>Mass of each wheel (kg)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027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D031C5D-D51E-A743-9A7A-42FA9213D0D2}"/>
              </a:ext>
            </a:extLst>
          </p:cNvPr>
          <p:cNvSpPr txBox="1"/>
          <p:nvPr/>
        </p:nvSpPr>
        <p:spPr>
          <a:xfrm>
            <a:off x="4418593" y="5096261"/>
            <a:ext cx="6481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 dirty="0"/>
              <a:t>Table 1. Some Model Specifications of the Segway Robot as simulated in MATLAB-Simulink </a:t>
            </a:r>
            <a:endParaRPr lang="en-IN" sz="1100" b="1" dirty="0"/>
          </a:p>
        </p:txBody>
      </p:sp>
    </p:spTree>
    <p:extLst>
      <p:ext uri="{BB962C8B-B14F-4D97-AF65-F5344CB8AC3E}">
        <p14:creationId xmlns:p14="http://schemas.microsoft.com/office/powerpoint/2010/main" val="2765673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D7ACB03E-8EB7-E9E9-4134-1260422CA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15ABD1E6-AAC0-18D5-1B9D-B91891359465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5aa9b09be0_0_25">
            <a:extLst>
              <a:ext uri="{FF2B5EF4-FFF2-40B4-BE49-F238E27FC236}">
                <a16:creationId xmlns:a16="http://schemas.microsoft.com/office/drawing/2014/main" id="{DD7ADF7C-E0AF-F81B-6B1F-EBE594E2C5B9}"/>
              </a:ext>
            </a:extLst>
          </p:cNvPr>
          <p:cNvSpPr txBox="1"/>
          <p:nvPr/>
        </p:nvSpPr>
        <p:spPr>
          <a:xfrm>
            <a:off x="838200" y="3524250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0451FFC1-CD30-3FD6-9EAF-9D3BB50375AD}"/>
              </a:ext>
            </a:extLst>
          </p:cNvPr>
          <p:cNvSpPr txBox="1"/>
          <p:nvPr/>
        </p:nvSpPr>
        <p:spPr>
          <a:xfrm>
            <a:off x="3873167" y="73293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12;g35aa9b09be0_0_25">
            <a:extLst>
              <a:ext uri="{FF2B5EF4-FFF2-40B4-BE49-F238E27FC236}">
                <a16:creationId xmlns:a16="http://schemas.microsoft.com/office/drawing/2014/main" id="{EA108B7A-ACA6-242D-E44B-0DD51DEC97A8}"/>
              </a:ext>
            </a:extLst>
          </p:cNvPr>
          <p:cNvSpPr txBox="1"/>
          <p:nvPr/>
        </p:nvSpPr>
        <p:spPr>
          <a:xfrm>
            <a:off x="417257" y="793498"/>
            <a:ext cx="6558773" cy="571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Mathematical </a:t>
            </a:r>
            <a:r>
              <a:rPr lang="en-US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of Segway Robot: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43EDE0-FB2F-C15D-35E8-983381046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165" y="1763401"/>
            <a:ext cx="4152669" cy="27492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BDC3E4-9392-A05E-4E13-ED860C4BAFDC}"/>
              </a:ext>
            </a:extLst>
          </p:cNvPr>
          <p:cNvSpPr txBox="1"/>
          <p:nvPr/>
        </p:nvSpPr>
        <p:spPr>
          <a:xfrm>
            <a:off x="579695" y="4911204"/>
            <a:ext cx="42971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i="1" dirty="0"/>
              <a:t>Figure 3. Simplified Model of the Self-Balancing Segway Robot used for Mathematical Analysis</a:t>
            </a:r>
          </a:p>
          <a:p>
            <a:pPr algn="just"/>
            <a:r>
              <a:rPr lang="en-US" sz="1200" i="1" dirty="0"/>
              <a:t>Source: [4] Feriyonika, F. &amp; Hidayat, A. (2020). Balancing Control of Two-Wheeled Robot by Using Linear Quadratic Gaussian (LQG).</a:t>
            </a:r>
            <a:endParaRPr lang="en-IN" sz="105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418246F-1E66-34C9-54FE-396B9B6E24EE}"/>
              </a:ext>
            </a:extLst>
          </p:cNvPr>
          <p:cNvCxnSpPr>
            <a:cxnSpLocks/>
          </p:cNvCxnSpPr>
          <p:nvPr/>
        </p:nvCxnSpPr>
        <p:spPr>
          <a:xfrm flipV="1">
            <a:off x="4203865" y="1822776"/>
            <a:ext cx="0" cy="201295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Arc 16">
            <a:extLst>
              <a:ext uri="{FF2B5EF4-FFF2-40B4-BE49-F238E27FC236}">
                <a16:creationId xmlns:a16="http://schemas.microsoft.com/office/drawing/2014/main" id="{8CF00157-890C-FFC8-B2B9-650C0335AF00}"/>
              </a:ext>
            </a:extLst>
          </p:cNvPr>
          <p:cNvSpPr/>
          <p:nvPr/>
        </p:nvSpPr>
        <p:spPr>
          <a:xfrm rot="20483349">
            <a:off x="3840432" y="2207027"/>
            <a:ext cx="914400" cy="914400"/>
          </a:xfrm>
          <a:prstGeom prst="arc">
            <a:avLst>
              <a:gd name="adj1" fmla="val 16730062"/>
              <a:gd name="adj2" fmla="val 1915580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7B72DA4-38D8-FD44-BFDD-658DB7890CD8}"/>
              </a:ext>
            </a:extLst>
          </p:cNvPr>
          <p:cNvSpPr/>
          <p:nvPr/>
        </p:nvSpPr>
        <p:spPr>
          <a:xfrm flipH="1">
            <a:off x="4132613" y="3739076"/>
            <a:ext cx="142503" cy="1389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C92D1D-0581-531F-C8E7-8FCE660898A5}"/>
              </a:ext>
            </a:extLst>
          </p:cNvPr>
          <p:cNvSpPr txBox="1"/>
          <p:nvPr/>
        </p:nvSpPr>
        <p:spPr>
          <a:xfrm>
            <a:off x="4256298" y="191661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θ</a:t>
            </a:r>
            <a:endParaRPr lang="en-IN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532C3A9-AE69-F555-D72C-76385CFB30E1}"/>
              </a:ext>
            </a:extLst>
          </p:cNvPr>
          <p:cNvSpPr/>
          <p:nvPr/>
        </p:nvSpPr>
        <p:spPr>
          <a:xfrm>
            <a:off x="4540350" y="1815584"/>
            <a:ext cx="388914" cy="3077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ABCA48-2BEC-E378-00DF-E3662525C9FA}"/>
              </a:ext>
            </a:extLst>
          </p:cNvPr>
          <p:cNvSpPr txBox="1"/>
          <p:nvPr/>
        </p:nvSpPr>
        <p:spPr>
          <a:xfrm>
            <a:off x="4824402" y="1642527"/>
            <a:ext cx="60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COM</a:t>
            </a:r>
            <a:endParaRPr lang="en-IN" b="1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BB4FDF0-5141-55FB-F684-67E11E1EF78C}"/>
              </a:ext>
            </a:extLst>
          </p:cNvPr>
          <p:cNvGrpSpPr/>
          <p:nvPr/>
        </p:nvGrpSpPr>
        <p:grpSpPr>
          <a:xfrm>
            <a:off x="2970145" y="3016321"/>
            <a:ext cx="707290" cy="846467"/>
            <a:chOff x="2970145" y="3016321"/>
            <a:chExt cx="707290" cy="84646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C76963A-CBD2-7222-8B75-D50554C94AC5}"/>
                </a:ext>
              </a:extLst>
            </p:cNvPr>
            <p:cNvGrpSpPr/>
            <p:nvPr/>
          </p:nvGrpSpPr>
          <p:grpSpPr>
            <a:xfrm>
              <a:off x="3012187" y="3217391"/>
              <a:ext cx="665248" cy="613718"/>
              <a:chOff x="724165" y="3708900"/>
              <a:chExt cx="665248" cy="613718"/>
            </a:xfrm>
          </p:grpSpPr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C68F3A03-07B9-CA12-AA11-14892AFFC4CD}"/>
                  </a:ext>
                </a:extLst>
              </p:cNvPr>
              <p:cNvCxnSpPr/>
              <p:nvPr/>
            </p:nvCxnSpPr>
            <p:spPr>
              <a:xfrm flipV="1">
                <a:off x="724165" y="3708900"/>
                <a:ext cx="0" cy="613718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A96FC9C0-0504-85CB-198E-3D1E2B26E720}"/>
                  </a:ext>
                </a:extLst>
              </p:cNvPr>
              <p:cNvCxnSpPr/>
              <p:nvPr/>
            </p:nvCxnSpPr>
            <p:spPr>
              <a:xfrm>
                <a:off x="724165" y="4322618"/>
                <a:ext cx="665248" cy="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FC86A95-6A63-F770-FF0A-75D84C5EFA65}"/>
                </a:ext>
              </a:extLst>
            </p:cNvPr>
            <p:cNvSpPr txBox="1"/>
            <p:nvPr/>
          </p:nvSpPr>
          <p:spPr>
            <a:xfrm>
              <a:off x="3372219" y="3555011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  <a:endParaRPr lang="en-IN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0DCB8A3-F2BC-9167-C739-DDCC1763BE21}"/>
                </a:ext>
              </a:extLst>
            </p:cNvPr>
            <p:cNvSpPr txBox="1"/>
            <p:nvPr/>
          </p:nvSpPr>
          <p:spPr>
            <a:xfrm>
              <a:off x="2970145" y="3016321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  <a:endParaRPr lang="en-IN" dirty="0"/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1A9F40E-B205-04C0-AE25-1C59E35C26DE}"/>
              </a:ext>
            </a:extLst>
          </p:cNvPr>
          <p:cNvCxnSpPr>
            <a:cxnSpLocks/>
          </p:cNvCxnSpPr>
          <p:nvPr/>
        </p:nvCxnSpPr>
        <p:spPr>
          <a:xfrm>
            <a:off x="4203864" y="3808551"/>
            <a:ext cx="725400" cy="239158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0D7AEAB-1423-2984-71A7-57BFEFAB60D2}"/>
              </a:ext>
            </a:extLst>
          </p:cNvPr>
          <p:cNvCxnSpPr>
            <a:cxnSpLocks/>
          </p:cNvCxnSpPr>
          <p:nvPr/>
        </p:nvCxnSpPr>
        <p:spPr>
          <a:xfrm>
            <a:off x="4708380" y="1953678"/>
            <a:ext cx="754031" cy="22068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B287410-0FED-6393-EE24-823FED5C318E}"/>
              </a:ext>
            </a:extLst>
          </p:cNvPr>
          <p:cNvCxnSpPr>
            <a:cxnSpLocks/>
          </p:cNvCxnSpPr>
          <p:nvPr/>
        </p:nvCxnSpPr>
        <p:spPr>
          <a:xfrm flipV="1">
            <a:off x="4760552" y="2126735"/>
            <a:ext cx="559674" cy="188275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42D20F4-0C25-6B0B-D381-19264B2D7B7D}"/>
              </a:ext>
            </a:extLst>
          </p:cNvPr>
          <p:cNvSpPr txBox="1"/>
          <p:nvPr/>
        </p:nvSpPr>
        <p:spPr>
          <a:xfrm>
            <a:off x="5160886" y="2829252"/>
            <a:ext cx="3609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</a:t>
            </a:r>
            <a:r>
              <a:rPr lang="en-US" b="1" baseline="-25000" dirty="0"/>
              <a:t>c</a:t>
            </a:r>
            <a:endParaRPr lang="en-IN" b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EACC65D-D021-6F9E-C719-3F49E9C5F3ED}"/>
                  </a:ext>
                </a:extLst>
              </p:cNvPr>
              <p:cNvSpPr txBox="1"/>
              <p:nvPr/>
            </p:nvSpPr>
            <p:spPr>
              <a:xfrm>
                <a:off x="5711503" y="1265650"/>
                <a:ext cx="6409813" cy="4475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/>
                  <a:t>From our model specifications (last slide), we set some constants which we will need later for finding the Transfer Function and State Space Model equations of the robot :</a:t>
                </a:r>
                <a:endParaRPr lang="en-IN" sz="1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8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8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b="1" dirty="0"/>
                  <a:t>M</a:t>
                </a:r>
                <a:r>
                  <a:rPr lang="en-US" sz="1800" b="1" baseline="-25000" dirty="0"/>
                  <a:t>c</a:t>
                </a:r>
                <a:r>
                  <a:rPr lang="en-US" sz="1800" dirty="0"/>
                  <a:t>  = Mass of Chassis = 1 kg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800" b="1" dirty="0"/>
                  <a:t>M</a:t>
                </a:r>
                <a:r>
                  <a:rPr lang="en-IN" sz="1800" b="1" baseline="-25000" dirty="0"/>
                  <a:t>w</a:t>
                </a:r>
                <a:r>
                  <a:rPr lang="en-IN" sz="1800" dirty="0"/>
                  <a:t> = Mass of each Wheel = 0.1 kg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800" b="1" dirty="0"/>
                  <a:t>L</a:t>
                </a:r>
                <a:r>
                  <a:rPr lang="en-IN" sz="1800" b="1" baseline="-25000" dirty="0"/>
                  <a:t>c</a:t>
                </a:r>
                <a:r>
                  <a:rPr lang="en-IN" sz="1800" dirty="0"/>
                  <a:t> = Distance of COM of the chassis from the axis of rotation of wheels</a:t>
                </a:r>
              </a:p>
              <a:p>
                <a:r>
                  <a:rPr lang="en-IN" sz="1800" dirty="0"/>
                  <a:t>          = 0.129 m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800" b="1" dirty="0"/>
                  <a:t>R</a:t>
                </a:r>
                <a:r>
                  <a:rPr lang="en-IN" sz="1800" b="1" baseline="-25000" dirty="0"/>
                  <a:t>w</a:t>
                </a:r>
                <a:r>
                  <a:rPr lang="en-IN" sz="1800" dirty="0"/>
                  <a:t> = Radius of each wheel = 0.0325 m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800" dirty="0"/>
                  <a:t>I</a:t>
                </a:r>
                <a:r>
                  <a:rPr lang="en-IN" sz="1800" baseline="-25000" dirty="0"/>
                  <a:t>c</a:t>
                </a:r>
                <a:r>
                  <a:rPr lang="en-IN" sz="1800" dirty="0"/>
                  <a:t> = Moment of Inertia of Chassis rotating abt. Wheel axis </a:t>
                </a:r>
              </a:p>
              <a:p>
                <a:r>
                  <a:rPr lang="en-IN" sz="1800" dirty="0"/>
                  <a:t>  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. 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. 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IN" sz="1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800" b="1" dirty="0"/>
                  <a:t>I</a:t>
                </a:r>
                <a:r>
                  <a:rPr lang="en-IN" sz="1800" b="1" baseline="-25000" dirty="0"/>
                  <a:t>w</a:t>
                </a:r>
                <a:r>
                  <a:rPr lang="en-IN" sz="1800" dirty="0"/>
                  <a:t> = Moment of Inertia of Wheel rotating abt. Wheel axis</a:t>
                </a:r>
              </a:p>
              <a:p>
                <a:r>
                  <a:rPr lang="en-IN" sz="1800" dirty="0"/>
                  <a:t>  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endParaRPr lang="en-IN" sz="1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EACC65D-D021-6F9E-C719-3F49E9C5F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1503" y="1265650"/>
                <a:ext cx="6409813" cy="4475584"/>
              </a:xfrm>
              <a:prstGeom prst="rect">
                <a:avLst/>
              </a:prstGeom>
              <a:blipFill>
                <a:blip r:embed="rId5"/>
                <a:stretch>
                  <a:fillRect l="-856" t="-8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5447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D2FFA700-1A41-FDF7-EB02-B4093EC77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F30B7898-BE71-EEDC-C8FD-868E30EEC3B2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9"/>
          <a:stretch/>
        </p:blipFill>
        <p:spPr>
          <a:xfrm>
            <a:off x="0" y="-4467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5aa9b09be0_0_25">
            <a:extLst>
              <a:ext uri="{FF2B5EF4-FFF2-40B4-BE49-F238E27FC236}">
                <a16:creationId xmlns:a16="http://schemas.microsoft.com/office/drawing/2014/main" id="{57F80012-ECD8-B164-44F0-F9617B45841F}"/>
              </a:ext>
            </a:extLst>
          </p:cNvPr>
          <p:cNvSpPr txBox="1"/>
          <p:nvPr/>
        </p:nvSpPr>
        <p:spPr>
          <a:xfrm>
            <a:off x="838200" y="3524250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851DCB7D-C1C9-0B54-83EF-6E7629B8F545}"/>
              </a:ext>
            </a:extLst>
          </p:cNvPr>
          <p:cNvSpPr txBox="1"/>
          <p:nvPr/>
        </p:nvSpPr>
        <p:spPr>
          <a:xfrm>
            <a:off x="3873167" y="73293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12;g35aa9b09be0_0_25">
            <a:extLst>
              <a:ext uri="{FF2B5EF4-FFF2-40B4-BE49-F238E27FC236}">
                <a16:creationId xmlns:a16="http://schemas.microsoft.com/office/drawing/2014/main" id="{D6DF1BBB-8121-B0F3-65F1-A23687175D06}"/>
              </a:ext>
            </a:extLst>
          </p:cNvPr>
          <p:cNvSpPr txBox="1"/>
          <p:nvPr/>
        </p:nvSpPr>
        <p:spPr>
          <a:xfrm>
            <a:off x="417257" y="793498"/>
            <a:ext cx="6558773" cy="571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Mathematical Model of Segway Robot: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8F4CD9-BCF4-8BDB-2D89-C4CAD09E76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046"/>
          <a:stretch>
            <a:fillRect/>
          </a:stretch>
        </p:blipFill>
        <p:spPr>
          <a:xfrm>
            <a:off x="1039446" y="1592719"/>
            <a:ext cx="1908304" cy="27492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947F983-A149-29F8-3DAF-8C5D1CBAB23B}"/>
              </a:ext>
            </a:extLst>
          </p:cNvPr>
          <p:cNvSpPr txBox="1"/>
          <p:nvPr/>
        </p:nvSpPr>
        <p:spPr>
          <a:xfrm>
            <a:off x="487474" y="4572783"/>
            <a:ext cx="319892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Figure 4. Simplified Model of the Self-Balancing Segway Robot used for Mathematical Analysis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Source: [4] Feriyonika, F. &amp; Hidayat, A. (2020). Balancing Control of Two-Wheeled Robot by Using Linear Quadratic Gaussian (LQG).</a:t>
            </a:r>
            <a:endParaRPr kumimoji="0" lang="en-IN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D4EF84-09D8-1133-D88A-126757B34D7E}"/>
              </a:ext>
            </a:extLst>
          </p:cNvPr>
          <p:cNvCxnSpPr>
            <a:cxnSpLocks/>
          </p:cNvCxnSpPr>
          <p:nvPr/>
        </p:nvCxnSpPr>
        <p:spPr>
          <a:xfrm flipV="1">
            <a:off x="2274781" y="1652094"/>
            <a:ext cx="0" cy="201295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Arc 16">
            <a:extLst>
              <a:ext uri="{FF2B5EF4-FFF2-40B4-BE49-F238E27FC236}">
                <a16:creationId xmlns:a16="http://schemas.microsoft.com/office/drawing/2014/main" id="{3352E2FD-A444-9E11-A6B1-C0130EB8C2B0}"/>
              </a:ext>
            </a:extLst>
          </p:cNvPr>
          <p:cNvSpPr/>
          <p:nvPr/>
        </p:nvSpPr>
        <p:spPr>
          <a:xfrm rot="20483349">
            <a:off x="1911347" y="2136555"/>
            <a:ext cx="914400" cy="914400"/>
          </a:xfrm>
          <a:prstGeom prst="arc">
            <a:avLst>
              <a:gd name="adj1" fmla="val 16730062"/>
              <a:gd name="adj2" fmla="val 1915580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024D00-7140-1B5C-EB6E-1D5145FB7711}"/>
              </a:ext>
            </a:extLst>
          </p:cNvPr>
          <p:cNvSpPr/>
          <p:nvPr/>
        </p:nvSpPr>
        <p:spPr>
          <a:xfrm flipH="1">
            <a:off x="2233461" y="3571015"/>
            <a:ext cx="142503" cy="1389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08334D-0A64-DAEA-2B8B-462038EB9D66}"/>
              </a:ext>
            </a:extLst>
          </p:cNvPr>
          <p:cNvSpPr txBox="1"/>
          <p:nvPr/>
        </p:nvSpPr>
        <p:spPr>
          <a:xfrm>
            <a:off x="2327214" y="174592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l-G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θ</a:t>
            </a: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FDB3638-7D84-33D0-330C-582DC9D79393}"/>
              </a:ext>
            </a:extLst>
          </p:cNvPr>
          <p:cNvSpPr/>
          <p:nvPr/>
        </p:nvSpPr>
        <p:spPr>
          <a:xfrm>
            <a:off x="2611266" y="1644902"/>
            <a:ext cx="388914" cy="3077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D253FA-3929-0415-23E9-D4FE573DA5A9}"/>
              </a:ext>
            </a:extLst>
          </p:cNvPr>
          <p:cNvSpPr txBox="1"/>
          <p:nvPr/>
        </p:nvSpPr>
        <p:spPr>
          <a:xfrm>
            <a:off x="2895318" y="1471845"/>
            <a:ext cx="60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COM</a:t>
            </a:r>
            <a:endParaRPr kumimoji="0" lang="en-IN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0FD8E5D-DF91-1184-BD37-0DEB668369FB}"/>
              </a:ext>
            </a:extLst>
          </p:cNvPr>
          <p:cNvGrpSpPr/>
          <p:nvPr/>
        </p:nvGrpSpPr>
        <p:grpSpPr>
          <a:xfrm>
            <a:off x="1041061" y="2845639"/>
            <a:ext cx="707290" cy="846467"/>
            <a:chOff x="2970145" y="3016321"/>
            <a:chExt cx="707290" cy="84646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E46D401-70FB-6BC1-2AB3-FF6B568093A5}"/>
                </a:ext>
              </a:extLst>
            </p:cNvPr>
            <p:cNvGrpSpPr/>
            <p:nvPr/>
          </p:nvGrpSpPr>
          <p:grpSpPr>
            <a:xfrm>
              <a:off x="3012187" y="3217391"/>
              <a:ext cx="665248" cy="613718"/>
              <a:chOff x="724165" y="3708900"/>
              <a:chExt cx="665248" cy="613718"/>
            </a:xfrm>
          </p:grpSpPr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820A26FD-6085-03E2-F4BD-E1261D30BB05}"/>
                  </a:ext>
                </a:extLst>
              </p:cNvPr>
              <p:cNvCxnSpPr/>
              <p:nvPr/>
            </p:nvCxnSpPr>
            <p:spPr>
              <a:xfrm flipV="1">
                <a:off x="724165" y="3708900"/>
                <a:ext cx="0" cy="613718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39E93AB2-8E00-83DD-8AB5-0772A0CA810F}"/>
                  </a:ext>
                </a:extLst>
              </p:cNvPr>
              <p:cNvCxnSpPr/>
              <p:nvPr/>
            </p:nvCxnSpPr>
            <p:spPr>
              <a:xfrm>
                <a:off x="724165" y="4322618"/>
                <a:ext cx="665248" cy="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06624D8-0D79-4B3C-FB92-B68FC7BFCFF2}"/>
                </a:ext>
              </a:extLst>
            </p:cNvPr>
            <p:cNvSpPr txBox="1"/>
            <p:nvPr/>
          </p:nvSpPr>
          <p:spPr>
            <a:xfrm>
              <a:off x="3372219" y="3555011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X</a:t>
              </a:r>
              <a:endPara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6871B93-162D-6466-F877-FF3173661452}"/>
                </a:ext>
              </a:extLst>
            </p:cNvPr>
            <p:cNvSpPr txBox="1"/>
            <p:nvPr/>
          </p:nvSpPr>
          <p:spPr>
            <a:xfrm>
              <a:off x="2970145" y="3016321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Y</a:t>
              </a:r>
              <a:endPara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2C16C9C-ACD6-3599-FA79-10E9DD42BDAA}"/>
              </a:ext>
            </a:extLst>
          </p:cNvPr>
          <p:cNvCxnSpPr>
            <a:cxnSpLocks/>
          </p:cNvCxnSpPr>
          <p:nvPr/>
        </p:nvCxnSpPr>
        <p:spPr>
          <a:xfrm>
            <a:off x="2274780" y="3637869"/>
            <a:ext cx="725400" cy="239158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911A5D4-A4C6-6BDE-1BEE-2CBEFCB354D7}"/>
              </a:ext>
            </a:extLst>
          </p:cNvPr>
          <p:cNvCxnSpPr>
            <a:cxnSpLocks/>
          </p:cNvCxnSpPr>
          <p:nvPr/>
        </p:nvCxnSpPr>
        <p:spPr>
          <a:xfrm>
            <a:off x="2779296" y="1782996"/>
            <a:ext cx="754031" cy="22068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BE6A523-99F6-9A6A-D69A-E3EF59346FDD}"/>
              </a:ext>
            </a:extLst>
          </p:cNvPr>
          <p:cNvCxnSpPr>
            <a:cxnSpLocks/>
          </p:cNvCxnSpPr>
          <p:nvPr/>
        </p:nvCxnSpPr>
        <p:spPr>
          <a:xfrm flipV="1">
            <a:off x="2831468" y="1956053"/>
            <a:ext cx="559674" cy="188275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CFDF275-F4E2-6321-910B-D54018C51590}"/>
              </a:ext>
            </a:extLst>
          </p:cNvPr>
          <p:cNvSpPr txBox="1"/>
          <p:nvPr/>
        </p:nvSpPr>
        <p:spPr>
          <a:xfrm>
            <a:off x="3120372" y="2830234"/>
            <a:ext cx="3609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</a:t>
            </a:r>
            <a:r>
              <a:rPr kumimoji="0" lang="en-US" sz="1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</a:t>
            </a:r>
            <a:endParaRPr kumimoji="0" lang="en-IN" sz="1400" b="1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1E29B0-4BA1-98DD-4381-DE2A73B322FC}"/>
              </a:ext>
            </a:extLst>
          </p:cNvPr>
          <p:cNvSpPr txBox="1"/>
          <p:nvPr/>
        </p:nvSpPr>
        <p:spPr>
          <a:xfrm>
            <a:off x="3964752" y="1364631"/>
            <a:ext cx="47288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Non-Linearized Model Equations:</a:t>
            </a:r>
            <a:endParaRPr lang="en-IN" sz="1600" b="1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5F91D44-C19F-B790-F8E1-23590622CBDA}"/>
              </a:ext>
            </a:extLst>
          </p:cNvPr>
          <p:cNvGrpSpPr/>
          <p:nvPr/>
        </p:nvGrpSpPr>
        <p:grpSpPr>
          <a:xfrm>
            <a:off x="4002943" y="1838485"/>
            <a:ext cx="8273072" cy="977113"/>
            <a:chOff x="3979019" y="1985087"/>
            <a:chExt cx="8273072" cy="9771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B12D363E-A3A6-8052-F55F-2DE9D56F8CD1}"/>
                    </a:ext>
                  </a:extLst>
                </p:cNvPr>
                <p:cNvSpPr txBox="1"/>
                <p:nvPr/>
              </p:nvSpPr>
              <p:spPr>
                <a:xfrm>
                  <a:off x="4033623" y="1985087"/>
                  <a:ext cx="8218468" cy="70314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 smtClean="0">
                          <a:latin typeface="Cambria Math" panose="02040503050406030204" pitchFamily="18" charset="0"/>
                        </a:rPr>
                        <m:t>τ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=2.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z-Cyrl-AZ" sz="2000" i="1">
                              <a:latin typeface="Cambria Math" panose="02040503050406030204" pitchFamily="18" charset="0"/>
                            </a:rPr>
                            <m:t>Ӫ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. 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.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a14:m>
                  <a:r>
                    <a:rPr lang="en-IN" sz="2000" dirty="0"/>
                    <a:t> +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z-Cyrl-AZ" sz="2000" i="1">
                              <a:latin typeface="Cambria Math" panose="02040503050406030204" pitchFamily="18" charset="0"/>
                            </a:rPr>
                            <m:t>Ӫ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func>
                        <m:func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l-GR" sz="2000" dirty="0"/>
                                <m:t>θ</m:t>
                              </m:r>
                              <m:r>
                                <m:rPr>
                                  <m:nor/>
                                </m:rPr>
                                <a:rPr lang="en-IN" sz="2000" dirty="0"/>
                                <m:t>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fun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l-GR" sz="2000" dirty="0"/>
                                    <m:t>θ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l-GR" sz="2000" dirty="0"/>
                                <m:t>θ</m:t>
                              </m:r>
                              <m:r>
                                <m:rPr>
                                  <m:nor/>
                                </m:rPr>
                                <a:rPr lang="en-IN" sz="2000" dirty="0"/>
                                <m:t>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fun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a14:m>
                  <a:r>
                    <a:rPr lang="en-IN" sz="2000" dirty="0"/>
                    <a:t> </a:t>
                  </a:r>
                </a:p>
                <a:p>
                  <a:endParaRPr lang="en-IN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B12D363E-A3A6-8052-F55F-2DE9D56F8C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3623" y="1985087"/>
                  <a:ext cx="8218468" cy="703141"/>
                </a:xfrm>
                <a:prstGeom prst="rect">
                  <a:avLst/>
                </a:prstGeom>
                <a:blipFill>
                  <a:blip r:embed="rId5"/>
                  <a:stretch>
                    <a:fillRect l="-7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0DFFCD5-676F-3301-1EC1-F63038F10A65}"/>
                    </a:ext>
                  </a:extLst>
                </p:cNvPr>
                <p:cNvSpPr txBox="1"/>
                <p:nvPr/>
              </p:nvSpPr>
              <p:spPr>
                <a:xfrm>
                  <a:off x="3979019" y="2654423"/>
                  <a:ext cx="6738320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l-GR" sz="2000" dirty="0"/>
                    <a:t>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>
                          <a:latin typeface="Cambria Math" panose="02040503050406030204" pitchFamily="18" charset="0"/>
                        </a:rPr>
                        <m:t>τ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z-Cyrl-AZ" sz="2000" i="1">
                              <a:latin typeface="Cambria Math" panose="02040503050406030204" pitchFamily="18" charset="0"/>
                            </a:rPr>
                            <m:t>Ӫ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 +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z-Cyrl-AZ" sz="2000" i="1">
                              <a:latin typeface="Cambria Math" panose="02040503050406030204" pitchFamily="18" charset="0"/>
                            </a:rPr>
                            <m:t>Ӫ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a14:m>
                  <a:r>
                    <a:rPr lang="en-US" sz="2000" dirty="0"/>
                    <a:t> 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l-GR" sz="2000" dirty="0"/>
                                <m:t>θ</m:t>
                              </m:r>
                              <m:r>
                                <m:rPr>
                                  <m:nor/>
                                </m:rPr>
                                <a:rPr lang="en-IN" sz="2000" dirty="0"/>
                                <m:t>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fun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𝑔</m:t>
                      </m:r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l-GR" sz="2000" dirty="0"/>
                                <m:t>θ</m:t>
                              </m:r>
                              <m:r>
                                <m:rPr>
                                  <m:nor/>
                                </m:rPr>
                                <a:rPr lang="en-IN" sz="2000" dirty="0"/>
                                <m:t> 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func>
                    </m:oMath>
                  </a14:m>
                  <a:endParaRPr lang="en-IN" sz="2800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0DFFCD5-676F-3301-1EC1-F63038F10A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9019" y="2654423"/>
                  <a:ext cx="6738320" cy="307777"/>
                </a:xfrm>
                <a:prstGeom prst="rect">
                  <a:avLst/>
                </a:prstGeom>
                <a:blipFill>
                  <a:blip r:embed="rId6"/>
                  <a:stretch>
                    <a:fillRect l="-724" t="-5882" b="-2745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469C611-CDDF-82BC-42E4-C7BA5FC3991D}"/>
                  </a:ext>
                </a:extLst>
              </p:cNvPr>
              <p:cNvSpPr txBox="1"/>
              <p:nvPr/>
            </p:nvSpPr>
            <p:spPr>
              <a:xfrm>
                <a:off x="3981664" y="3021015"/>
                <a:ext cx="6098240" cy="13924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Linearized Model Equations:</a:t>
                </a:r>
              </a:p>
              <a:p>
                <a:endParaRPr lang="en-US" sz="1600" b="1" dirty="0"/>
              </a:p>
              <a:p>
                <a:r>
                  <a:rPr lang="en-US" sz="1600" b="1" dirty="0"/>
                  <a:t>Assumptions: </a:t>
                </a:r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1600" dirty="0"/>
                              <m:t>θ</m:t>
                            </m:r>
                            <m:r>
                              <m:rPr>
                                <m:nor/>
                              </m:rPr>
                              <a:rPr lang="en-IN" sz="1600" dirty="0"/>
                              <m:t> </m:t>
                            </m:r>
                          </m:e>
                          <m:sub>
                            <m:r>
                              <a:rPr lang="en-US" sz="1600" b="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1600"/>
                          <m:t>≈</m:t>
                        </m:r>
                        <m:r>
                          <m:rPr>
                            <m:nor/>
                          </m:rPr>
                          <a:rPr lang="en-US" sz="1600" i="0" smtClean="0"/>
                          <m:t> </m:t>
                        </m:r>
                        <m:r>
                          <m:rPr>
                            <m:nor/>
                          </m:rPr>
                          <a:rPr lang="en-US" sz="1600" b="0" i="0" smtClean="0"/>
                          <m:t>0 </m:t>
                        </m:r>
                        <m:r>
                          <m:rPr>
                            <m:nor/>
                          </m:rPr>
                          <a:rPr lang="en-IN"/>
                          <m:t>⇒</m:t>
                        </m:r>
                        <m:r>
                          <m:rPr>
                            <m:nor/>
                          </m:rPr>
                          <a:rPr lang="en-US" b="0" i="0" smtClean="0"/>
                          <m:t>  </m:t>
                        </m:r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𝑠𝑖𝑛</m:t>
                        </m:r>
                      </m:fName>
                      <m:e>
                        <m:sSub>
                          <m:sSub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1600" dirty="0"/>
                              <m:t>θ</m:t>
                            </m:r>
                            <m:r>
                              <m:rPr>
                                <m:nor/>
                              </m:rPr>
                              <a:rPr lang="en-IN" sz="1600" dirty="0"/>
                              <m:t> </m:t>
                            </m:r>
                          </m:e>
                          <m:sub>
                            <m:r>
                              <a:rPr lang="en-US" sz="1600" b="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func>
                    <m:r>
                      <m:rPr>
                        <m:nor/>
                      </m:rPr>
                      <a:rPr lang="en-IN"/>
                      <m:t>≈</m:t>
                    </m:r>
                    <m:r>
                      <m:rPr>
                        <m:nor/>
                      </m:rPr>
                      <a:rPr lang="en-US" i="0" smtClean="0"/>
                      <m:t> </m:t>
                    </m:r>
                    <m:sSub>
                      <m:sSub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1600" dirty="0"/>
                          <m:t>θ</m:t>
                        </m:r>
                        <m:r>
                          <m:rPr>
                            <m:nor/>
                          </m:rPr>
                          <a:rPr lang="en-IN" sz="1600" dirty="0"/>
                          <m:t> </m:t>
                        </m:r>
                      </m:e>
                      <m:sub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IN" sz="1600" dirty="0"/>
                  <a:t> ;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1600" dirty="0"/>
                              <m:t>θ</m:t>
                            </m:r>
                            <m:r>
                              <m:rPr>
                                <m:nor/>
                              </m:rPr>
                              <a:rPr lang="en-IN" sz="1600" dirty="0"/>
                              <m:t> </m:t>
                            </m:r>
                          </m:e>
                          <m:sub>
                            <m:r>
                              <a:rPr lang="en-US" sz="1600" b="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func>
                    <m:r>
                      <m:rPr>
                        <m:nor/>
                      </m:rPr>
                      <a:rPr lang="en-IN" sz="1600"/>
                      <m:t>≈</m:t>
                    </m:r>
                    <m:r>
                      <m:rPr>
                        <m:nor/>
                      </m:rPr>
                      <a:rPr lang="en-US" sz="1600" i="0" smtClean="0"/>
                      <m:t> 1</m:t>
                    </m:r>
                  </m:oMath>
                </a14:m>
                <a:endParaRPr lang="en-US" sz="1600" i="0" dirty="0"/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nor/>
                                  </m:rPr>
                                  <a:rPr lang="el-GR" sz="1600" dirty="0"/>
                                  <m:t>θ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unc>
                      <m:func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1600" dirty="0"/>
                              <m:t>θ</m:t>
                            </m:r>
                            <m:r>
                              <m:rPr>
                                <m:nor/>
                              </m:rPr>
                              <a:rPr lang="en-IN" sz="1600" dirty="0"/>
                              <m:t> 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IN" sz="16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1600"/>
                      <m:t>≈</m:t>
                    </m:r>
                  </m:oMath>
                </a14:m>
                <a:r>
                  <a:rPr lang="en-IN" sz="1600" dirty="0"/>
                  <a:t> 0</a:t>
                </a: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469C611-CDDF-82BC-42E4-C7BA5FC399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664" y="3021015"/>
                <a:ext cx="6098240" cy="1392432"/>
              </a:xfrm>
              <a:prstGeom prst="rect">
                <a:avLst/>
              </a:prstGeom>
              <a:blipFill>
                <a:blip r:embed="rId7"/>
                <a:stretch>
                  <a:fillRect l="-500" t="-1316" b="-5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106A8A93-08C7-07BC-188A-9A2EB10DDBAE}"/>
              </a:ext>
            </a:extLst>
          </p:cNvPr>
          <p:cNvGrpSpPr/>
          <p:nvPr/>
        </p:nvGrpSpPr>
        <p:grpSpPr>
          <a:xfrm>
            <a:off x="3944884" y="4552412"/>
            <a:ext cx="6012759" cy="976506"/>
            <a:chOff x="6003591" y="4508039"/>
            <a:chExt cx="6012759" cy="9765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3F682025-5E80-EE88-1F73-56DB820D24B5}"/>
                    </a:ext>
                  </a:extLst>
                </p:cNvPr>
                <p:cNvSpPr txBox="1"/>
                <p:nvPr/>
              </p:nvSpPr>
              <p:spPr>
                <a:xfrm>
                  <a:off x="6095999" y="4508039"/>
                  <a:ext cx="5920351" cy="70314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 smtClean="0">
                          <a:latin typeface="Cambria Math" panose="02040503050406030204" pitchFamily="18" charset="0"/>
                        </a:rPr>
                        <m:t>τ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=2.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z-Cyrl-AZ" sz="2000" i="1">
                              <a:latin typeface="Cambria Math" panose="02040503050406030204" pitchFamily="18" charset="0"/>
                            </a:rPr>
                            <m:t>Ӫ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. 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.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a14:m>
                  <a:r>
                    <a:rPr lang="en-IN" sz="2000" dirty="0"/>
                    <a:t> +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z-Cyrl-AZ" sz="2000" i="1">
                              <a:latin typeface="Cambria Math" panose="02040503050406030204" pitchFamily="18" charset="0"/>
                            </a:rPr>
                            <m:t>Ӫ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IN" sz="2000" dirty="0"/>
                    <a:t> </a:t>
                  </a:r>
                </a:p>
                <a:p>
                  <a:endParaRPr lang="en-IN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3F682025-5E80-EE88-1F73-56DB820D24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5999" y="4508039"/>
                  <a:ext cx="5920351" cy="70314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C08710B3-0646-F706-AF46-27C94AB1A677}"/>
                    </a:ext>
                  </a:extLst>
                </p:cNvPr>
                <p:cNvSpPr txBox="1"/>
                <p:nvPr/>
              </p:nvSpPr>
              <p:spPr>
                <a:xfrm>
                  <a:off x="6003591" y="5176768"/>
                  <a:ext cx="5760808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l-GR" sz="2000" dirty="0"/>
                    <a:t>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>
                          <a:latin typeface="Cambria Math" panose="02040503050406030204" pitchFamily="18" charset="0"/>
                        </a:rPr>
                        <m:t>τ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z-Cyrl-AZ" sz="2000" i="1">
                              <a:latin typeface="Cambria Math" panose="02040503050406030204" pitchFamily="18" charset="0"/>
                            </a:rPr>
                            <m:t>Ӫ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 +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z-Cyrl-AZ" sz="2000" i="1">
                              <a:latin typeface="Cambria Math" panose="02040503050406030204" pitchFamily="18" charset="0"/>
                            </a:rPr>
                            <m:t>Ӫ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a14:m>
                  <a:r>
                    <a:rPr lang="en-US" sz="2000" dirty="0"/>
                    <a:t>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l-GR" sz="2000" dirty="0"/>
                            <m:t>θ</m:t>
                          </m:r>
                          <m:r>
                            <m:rPr>
                              <m:nor/>
                            </m:rPr>
                            <a:rPr lang="en-IN" sz="2000" dirty="0"/>
                            <m:t> 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a14:m>
                  <a:endParaRPr lang="en-IN" sz="2000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C08710B3-0646-F706-AF46-27C94AB1A6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3591" y="5176768"/>
                  <a:ext cx="5760808" cy="307777"/>
                </a:xfrm>
                <a:prstGeom prst="rect">
                  <a:avLst/>
                </a:prstGeom>
                <a:blipFill>
                  <a:blip r:embed="rId9"/>
                  <a:stretch>
                    <a:fillRect l="-741" t="-23529" b="-5098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92641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34FF00C-35C8-72A9-9C3E-2BC730EA9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A5476842-41DF-C636-01A6-4450C2D71507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5aa9b09be0_0_25">
            <a:extLst>
              <a:ext uri="{FF2B5EF4-FFF2-40B4-BE49-F238E27FC236}">
                <a16:creationId xmlns:a16="http://schemas.microsoft.com/office/drawing/2014/main" id="{89EA17EF-51A2-1E86-4A3B-A94DCCD67B99}"/>
              </a:ext>
            </a:extLst>
          </p:cNvPr>
          <p:cNvSpPr txBox="1"/>
          <p:nvPr/>
        </p:nvSpPr>
        <p:spPr>
          <a:xfrm>
            <a:off x="838200" y="3524250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1C48E5E7-75F9-27B3-9E60-538C14FAD31C}"/>
              </a:ext>
            </a:extLst>
          </p:cNvPr>
          <p:cNvSpPr txBox="1"/>
          <p:nvPr/>
        </p:nvSpPr>
        <p:spPr>
          <a:xfrm>
            <a:off x="3873167" y="73293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12;g35aa9b09be0_0_25">
            <a:extLst>
              <a:ext uri="{FF2B5EF4-FFF2-40B4-BE49-F238E27FC236}">
                <a16:creationId xmlns:a16="http://schemas.microsoft.com/office/drawing/2014/main" id="{DCFEF7A6-20B5-694B-B5A1-D1CA6F0B7113}"/>
              </a:ext>
            </a:extLst>
          </p:cNvPr>
          <p:cNvSpPr txBox="1"/>
          <p:nvPr/>
        </p:nvSpPr>
        <p:spPr>
          <a:xfrm>
            <a:off x="417257" y="793498"/>
            <a:ext cx="6558773" cy="571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Mathematical </a:t>
            </a:r>
            <a:r>
              <a:rPr lang="en-US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of Segway Robot: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6D453E-8A74-FF50-4475-C6FB886CD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165" y="1763401"/>
            <a:ext cx="4152669" cy="27492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4C838A-1122-9C74-A612-97DE1F73C8D2}"/>
              </a:ext>
            </a:extLst>
          </p:cNvPr>
          <p:cNvSpPr txBox="1"/>
          <p:nvPr/>
        </p:nvSpPr>
        <p:spPr>
          <a:xfrm>
            <a:off x="579695" y="4911204"/>
            <a:ext cx="42971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Figure 3. Simplified Model of the Self-Balancing Segway Robot used for Mathematical Analysis</a:t>
            </a:r>
          </a:p>
          <a:p>
            <a:pPr lvl="0" algn="just"/>
            <a: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Source: </a:t>
            </a:r>
            <a:r>
              <a:rPr lang="en-US" sz="1200" i="1" dirty="0"/>
              <a:t>[4] </a:t>
            </a:r>
            <a: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Feriyonika, F. &amp; Hidayat, A. (2020). Balancing Control of Two-Wheeled Robot by Using Linear Quadratic Gaussian (LQG).</a:t>
            </a:r>
            <a:endParaRPr kumimoji="0" lang="en-IN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2C77E2C-4B34-E149-27BA-D62D37582363}"/>
              </a:ext>
            </a:extLst>
          </p:cNvPr>
          <p:cNvCxnSpPr>
            <a:cxnSpLocks/>
          </p:cNvCxnSpPr>
          <p:nvPr/>
        </p:nvCxnSpPr>
        <p:spPr>
          <a:xfrm flipV="1">
            <a:off x="4203865" y="1822776"/>
            <a:ext cx="0" cy="201295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Arc 16">
            <a:extLst>
              <a:ext uri="{FF2B5EF4-FFF2-40B4-BE49-F238E27FC236}">
                <a16:creationId xmlns:a16="http://schemas.microsoft.com/office/drawing/2014/main" id="{1180B564-FDB5-DD3F-50CF-8A0314CDD88C}"/>
              </a:ext>
            </a:extLst>
          </p:cNvPr>
          <p:cNvSpPr/>
          <p:nvPr/>
        </p:nvSpPr>
        <p:spPr>
          <a:xfrm rot="20483349">
            <a:off x="3840432" y="2207027"/>
            <a:ext cx="914400" cy="914400"/>
          </a:xfrm>
          <a:prstGeom prst="arc">
            <a:avLst>
              <a:gd name="adj1" fmla="val 16730062"/>
              <a:gd name="adj2" fmla="val 1915580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3560B36-740F-438F-6496-6C6621C7357A}"/>
              </a:ext>
            </a:extLst>
          </p:cNvPr>
          <p:cNvSpPr/>
          <p:nvPr/>
        </p:nvSpPr>
        <p:spPr>
          <a:xfrm flipH="1">
            <a:off x="4132613" y="3739076"/>
            <a:ext cx="142503" cy="1389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8E964E-DF5E-61C6-A146-7DDEDE6BD83A}"/>
              </a:ext>
            </a:extLst>
          </p:cNvPr>
          <p:cNvSpPr txBox="1"/>
          <p:nvPr/>
        </p:nvSpPr>
        <p:spPr>
          <a:xfrm>
            <a:off x="4157762" y="2180531"/>
            <a:ext cx="343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l-G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θ</a:t>
            </a:r>
            <a:r>
              <a:rPr kumimoji="0" lang="en-US" sz="1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</a:t>
            </a:r>
            <a:endParaRPr kumimoji="0" lang="en-IN" sz="1400" b="0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A7ECE26-5D0C-54DC-7FC9-432620822282}"/>
              </a:ext>
            </a:extLst>
          </p:cNvPr>
          <p:cNvSpPr/>
          <p:nvPr/>
        </p:nvSpPr>
        <p:spPr>
          <a:xfrm>
            <a:off x="4540350" y="1815584"/>
            <a:ext cx="388914" cy="3077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A2AD83-8522-E968-A5DA-99D0E5C58873}"/>
              </a:ext>
            </a:extLst>
          </p:cNvPr>
          <p:cNvSpPr txBox="1"/>
          <p:nvPr/>
        </p:nvSpPr>
        <p:spPr>
          <a:xfrm>
            <a:off x="4824402" y="1642527"/>
            <a:ext cx="60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COM</a:t>
            </a:r>
            <a:endParaRPr kumimoji="0" lang="en-IN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DBA8BF8-F746-68D5-F979-1613224BF075}"/>
              </a:ext>
            </a:extLst>
          </p:cNvPr>
          <p:cNvGrpSpPr/>
          <p:nvPr/>
        </p:nvGrpSpPr>
        <p:grpSpPr>
          <a:xfrm>
            <a:off x="2970145" y="3016321"/>
            <a:ext cx="707290" cy="846467"/>
            <a:chOff x="2970145" y="3016321"/>
            <a:chExt cx="707290" cy="84646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52C777F-A1D3-320C-5390-E121FE998155}"/>
                </a:ext>
              </a:extLst>
            </p:cNvPr>
            <p:cNvGrpSpPr/>
            <p:nvPr/>
          </p:nvGrpSpPr>
          <p:grpSpPr>
            <a:xfrm>
              <a:off x="3012187" y="3217391"/>
              <a:ext cx="665248" cy="613718"/>
              <a:chOff x="724165" y="3708900"/>
              <a:chExt cx="665248" cy="613718"/>
            </a:xfrm>
          </p:grpSpPr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539D1AF2-0F41-AE38-A87B-6F907A96EE72}"/>
                  </a:ext>
                </a:extLst>
              </p:cNvPr>
              <p:cNvCxnSpPr/>
              <p:nvPr/>
            </p:nvCxnSpPr>
            <p:spPr>
              <a:xfrm flipV="1">
                <a:off x="724165" y="3708900"/>
                <a:ext cx="0" cy="613718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7D8C888B-5810-F635-70ED-D0F1792364AB}"/>
                  </a:ext>
                </a:extLst>
              </p:cNvPr>
              <p:cNvCxnSpPr/>
              <p:nvPr/>
            </p:nvCxnSpPr>
            <p:spPr>
              <a:xfrm>
                <a:off x="724165" y="4322618"/>
                <a:ext cx="665248" cy="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9F0DC34-D686-F951-BF7E-73810EB10CDF}"/>
                </a:ext>
              </a:extLst>
            </p:cNvPr>
            <p:cNvSpPr txBox="1"/>
            <p:nvPr/>
          </p:nvSpPr>
          <p:spPr>
            <a:xfrm>
              <a:off x="3372219" y="3555011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X</a:t>
              </a:r>
              <a:endPara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0DF2D76-C3C7-54EB-4B77-C8F8B211C6BD}"/>
                </a:ext>
              </a:extLst>
            </p:cNvPr>
            <p:cNvSpPr txBox="1"/>
            <p:nvPr/>
          </p:nvSpPr>
          <p:spPr>
            <a:xfrm>
              <a:off x="2970145" y="3016321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Y</a:t>
              </a:r>
              <a:endPara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DD9C9FE-2E26-775B-8419-C9053CDDD6DF}"/>
              </a:ext>
            </a:extLst>
          </p:cNvPr>
          <p:cNvCxnSpPr>
            <a:cxnSpLocks/>
          </p:cNvCxnSpPr>
          <p:nvPr/>
        </p:nvCxnSpPr>
        <p:spPr>
          <a:xfrm>
            <a:off x="4203864" y="3808551"/>
            <a:ext cx="725400" cy="239158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F3E2E41-ABEF-1445-BC4E-B730B645E503}"/>
              </a:ext>
            </a:extLst>
          </p:cNvPr>
          <p:cNvCxnSpPr>
            <a:cxnSpLocks/>
          </p:cNvCxnSpPr>
          <p:nvPr/>
        </p:nvCxnSpPr>
        <p:spPr>
          <a:xfrm>
            <a:off x="4708380" y="1953678"/>
            <a:ext cx="754031" cy="22068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B0ED5D1-8B36-C51E-1BF1-1315F6B35252}"/>
              </a:ext>
            </a:extLst>
          </p:cNvPr>
          <p:cNvCxnSpPr>
            <a:cxnSpLocks/>
          </p:cNvCxnSpPr>
          <p:nvPr/>
        </p:nvCxnSpPr>
        <p:spPr>
          <a:xfrm flipV="1">
            <a:off x="4760552" y="2126735"/>
            <a:ext cx="559674" cy="188275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80FB20D-D108-B7CB-94FA-3C95D614D0A4}"/>
              </a:ext>
            </a:extLst>
          </p:cNvPr>
          <p:cNvSpPr txBox="1"/>
          <p:nvPr/>
        </p:nvSpPr>
        <p:spPr>
          <a:xfrm>
            <a:off x="5160886" y="2829252"/>
            <a:ext cx="3609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</a:t>
            </a:r>
            <a:r>
              <a:rPr kumimoji="0" lang="en-US" sz="1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</a:t>
            </a:r>
            <a:endParaRPr kumimoji="0" lang="en-IN" sz="1400" b="1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2E5DC8-D8D2-929A-80F8-57EED79C1323}"/>
              </a:ext>
            </a:extLst>
          </p:cNvPr>
          <p:cNvSpPr txBox="1"/>
          <p:nvPr/>
        </p:nvSpPr>
        <p:spPr>
          <a:xfrm>
            <a:off x="6198919" y="1174293"/>
            <a:ext cx="54133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Transfer Function of the Segway Robot Plant:</a:t>
            </a:r>
            <a:endParaRPr lang="en-IN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0A3E9BF-F3A9-4260-519D-0517F1E15E7A}"/>
                  </a:ext>
                </a:extLst>
              </p:cNvPr>
              <p:cNvSpPr txBox="1"/>
              <p:nvPr/>
            </p:nvSpPr>
            <p:spPr>
              <a:xfrm>
                <a:off x="7140295" y="1797926"/>
                <a:ext cx="3808754" cy="11505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l-GR" sz="2000" dirty="0"/>
                                <m:t>θ</m:t>
                              </m:r>
                              <m:r>
                                <m:rPr>
                                  <m:nor/>
                                </m:rPr>
                                <a:rPr lang="en-IN" sz="2000" dirty="0"/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sz="2000" i="1" smtClean="0">
                              <a:latin typeface="Cambria Math" panose="02040503050406030204" pitchFamily="18" charset="0"/>
                            </a:rPr>
                            <m:t>τ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 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. 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0A3E9BF-F3A9-4260-519D-0517F1E15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0295" y="1797926"/>
                <a:ext cx="3808754" cy="11505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EC2527CD-13E1-5579-70F5-EBB0410A07EC}"/>
              </a:ext>
            </a:extLst>
          </p:cNvPr>
          <p:cNvGrpSpPr/>
          <p:nvPr/>
        </p:nvGrpSpPr>
        <p:grpSpPr>
          <a:xfrm>
            <a:off x="5441095" y="3266359"/>
            <a:ext cx="6864939" cy="2510239"/>
            <a:chOff x="5300210" y="3317162"/>
            <a:chExt cx="6791194" cy="25102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A23A96B-17E9-87F0-54A1-72153B65893B}"/>
                    </a:ext>
                  </a:extLst>
                </p:cNvPr>
                <p:cNvSpPr txBox="1"/>
                <p:nvPr/>
              </p:nvSpPr>
              <p:spPr>
                <a:xfrm>
                  <a:off x="5300210" y="3317162"/>
                  <a:ext cx="6791194" cy="25102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15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l-GR" sz="1500" b="1" dirty="0"/>
                            <m:t>θ</m:t>
                          </m:r>
                          <m:r>
                            <m:rPr>
                              <m:nor/>
                            </m:rPr>
                            <a:rPr lang="en-IN" sz="1500" b="1" dirty="0"/>
                            <m:t> </m:t>
                          </m:r>
                        </m:e>
                        <m:sub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a14:m>
                  <a:r>
                    <a:rPr lang="en-IN" sz="1500" b="1" dirty="0"/>
                    <a:t> </a:t>
                  </a:r>
                  <a:r>
                    <a:rPr lang="en-IN" sz="1500" dirty="0"/>
                    <a:t>= </a:t>
                  </a:r>
                  <a:r>
                    <a:rPr lang="en-IN" dirty="0"/>
                    <a:t>Chassis Tilt Angle               Plant Output (Feedback)</a:t>
                  </a:r>
                  <a:endParaRPr lang="en-IN" sz="1500" dirty="0"/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l-GR" sz="1500" b="1" i="1" smtClean="0">
                          <a:latin typeface="Cambria Math" panose="02040503050406030204" pitchFamily="18" charset="0"/>
                        </a:rPr>
                        <m:t>𝝉</m:t>
                      </m:r>
                    </m:oMath>
                  </a14:m>
                  <a:r>
                    <a:rPr lang="en-IN" sz="1500" dirty="0"/>
                    <a:t>  = </a:t>
                  </a:r>
                  <a:r>
                    <a:rPr lang="en-IN" dirty="0"/>
                    <a:t>Torque applied to each individual wheel              Plant Input (Control Signal)</a:t>
                  </a:r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5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500" b="1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5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1500" b="1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15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15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500" b="1" i="1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p>
                              <m:r>
                                <a:rPr lang="en-US" sz="15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  <m:sub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1500" b="1" i="1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15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a14:m>
                  <a:endParaRPr lang="en-IN" sz="1500" b="1" dirty="0"/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5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500" b="1" i="1" smtClean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IN" sz="15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1500" b="1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15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15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500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p>
                              <m:r>
                                <a:rPr lang="en-US" sz="15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  <m:sub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r>
                        <a:rPr lang="en-US" sz="15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15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r>
                        <a:rPr lang="en-US" sz="1500" b="1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15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15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500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p>
                              <m:r>
                                <a:rPr lang="en-US" sz="15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  <m:sub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r>
                        <a:rPr lang="en-US" sz="15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5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500" b="1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15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</m:oMath>
                  </a14:m>
                  <a:endParaRPr lang="en-IN" sz="1500" b="1" dirty="0"/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5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1500" b="1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15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1500" b="1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15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r>
                        <a:rPr lang="en-US" sz="1500" b="1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15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a14:m>
                  <a:endParaRPr lang="en-US" sz="1500" b="1" dirty="0"/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5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sz="15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5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1500" b="1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15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15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500" b="1" i="1" smtClean="0">
                          <a:latin typeface="Cambria Math" panose="02040503050406030204" pitchFamily="18" charset="0"/>
                        </a:rPr>
                        <m:t>𝒈</m:t>
                      </m:r>
                    </m:oMath>
                  </a14:m>
                  <a:endParaRPr lang="en-US" sz="1500" b="1" dirty="0"/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5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sz="15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5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500" b="1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15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500" b="1" i="1" smtClean="0">
                          <a:latin typeface="Cambria Math" panose="02040503050406030204" pitchFamily="18" charset="0"/>
                        </a:rPr>
                        <m:t> −</m:t>
                      </m:r>
                      <m:sSubSup>
                        <m:sSubSupPr>
                          <m:ctrlPr>
                            <a:rPr lang="en-US" sz="15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sz="15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</m:oMath>
                  </a14:m>
                  <a:endParaRPr lang="en-IN" sz="1500" b="1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A23A96B-17E9-87F0-54A1-72153B6589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0210" y="3317162"/>
                  <a:ext cx="6791194" cy="2510239"/>
                </a:xfrm>
                <a:prstGeom prst="rect">
                  <a:avLst/>
                </a:prstGeom>
                <a:blipFill>
                  <a:blip r:embed="rId6"/>
                  <a:stretch>
                    <a:fillRect l="-266" b="-121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ADEFF210-9B2C-DE50-8EFF-95BB7D4DB1FE}"/>
                </a:ext>
              </a:extLst>
            </p:cNvPr>
            <p:cNvSpPr/>
            <p:nvPr/>
          </p:nvSpPr>
          <p:spPr>
            <a:xfrm>
              <a:off x="7617278" y="3414737"/>
              <a:ext cx="529755" cy="320632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D9887957-FC8F-B425-8D45-CB452957786E}"/>
                </a:ext>
              </a:extLst>
            </p:cNvPr>
            <p:cNvSpPr/>
            <p:nvPr/>
          </p:nvSpPr>
          <p:spPr>
            <a:xfrm>
              <a:off x="9188451" y="3744763"/>
              <a:ext cx="540931" cy="320632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329026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0BD1D71-AC58-8007-F81C-4EC0A302C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E772DE00-7983-F4AA-362C-0C9F5FC57253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5aa9b09be0_0_25">
            <a:extLst>
              <a:ext uri="{FF2B5EF4-FFF2-40B4-BE49-F238E27FC236}">
                <a16:creationId xmlns:a16="http://schemas.microsoft.com/office/drawing/2014/main" id="{A24FBB9E-1385-A4D3-E24A-A4754AEED920}"/>
              </a:ext>
            </a:extLst>
          </p:cNvPr>
          <p:cNvSpPr txBox="1"/>
          <p:nvPr/>
        </p:nvSpPr>
        <p:spPr>
          <a:xfrm>
            <a:off x="838200" y="3524250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1496F763-CEBC-7D4C-788E-9A28BF05A11E}"/>
              </a:ext>
            </a:extLst>
          </p:cNvPr>
          <p:cNvSpPr txBox="1"/>
          <p:nvPr/>
        </p:nvSpPr>
        <p:spPr>
          <a:xfrm>
            <a:off x="3873167" y="73293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12;g35aa9b09be0_0_25">
            <a:extLst>
              <a:ext uri="{FF2B5EF4-FFF2-40B4-BE49-F238E27FC236}">
                <a16:creationId xmlns:a16="http://schemas.microsoft.com/office/drawing/2014/main" id="{6DA44F19-48F5-9E04-28A4-4CE7F868C1CB}"/>
              </a:ext>
            </a:extLst>
          </p:cNvPr>
          <p:cNvSpPr txBox="1"/>
          <p:nvPr/>
        </p:nvSpPr>
        <p:spPr>
          <a:xfrm>
            <a:off x="417257" y="793498"/>
            <a:ext cx="6558773" cy="571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Mathematical </a:t>
            </a:r>
            <a:r>
              <a:rPr lang="en-US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of Segway Robot: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9EC38A-3AF5-26DA-AD64-AE9EC3BA53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165" y="1763401"/>
            <a:ext cx="4152669" cy="27492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E88D8B-0AD9-861E-BAC4-5BDBC0FDD785}"/>
              </a:ext>
            </a:extLst>
          </p:cNvPr>
          <p:cNvSpPr txBox="1"/>
          <p:nvPr/>
        </p:nvSpPr>
        <p:spPr>
          <a:xfrm>
            <a:off x="579695" y="4911204"/>
            <a:ext cx="42971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Figure 3. Simplified Model of the Self-Balancing Segway Robot used for Mathematical Analysis</a:t>
            </a:r>
          </a:p>
          <a:p>
            <a:pPr lvl="0" algn="just"/>
            <a: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Source: </a:t>
            </a:r>
            <a:r>
              <a:rPr lang="en-US" sz="1200" i="1" dirty="0"/>
              <a:t>[4] </a:t>
            </a:r>
            <a: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Feriyonika, F. &amp; Hidayat, A. (2020). Balancing Control of Two-Wheeled Robot by Using Linear Quadratic Gaussian (LQG).</a:t>
            </a:r>
            <a:endParaRPr kumimoji="0" lang="en-IN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4F9954-A1EF-6CB0-B136-EF5250801018}"/>
              </a:ext>
            </a:extLst>
          </p:cNvPr>
          <p:cNvCxnSpPr>
            <a:cxnSpLocks/>
          </p:cNvCxnSpPr>
          <p:nvPr/>
        </p:nvCxnSpPr>
        <p:spPr>
          <a:xfrm flipV="1">
            <a:off x="4203865" y="1822776"/>
            <a:ext cx="0" cy="201295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Arc 16">
            <a:extLst>
              <a:ext uri="{FF2B5EF4-FFF2-40B4-BE49-F238E27FC236}">
                <a16:creationId xmlns:a16="http://schemas.microsoft.com/office/drawing/2014/main" id="{683FC6F7-FABA-BAE6-3996-1FD4020331CD}"/>
              </a:ext>
            </a:extLst>
          </p:cNvPr>
          <p:cNvSpPr/>
          <p:nvPr/>
        </p:nvSpPr>
        <p:spPr>
          <a:xfrm rot="20483349">
            <a:off x="3840432" y="2207027"/>
            <a:ext cx="914400" cy="914400"/>
          </a:xfrm>
          <a:prstGeom prst="arc">
            <a:avLst>
              <a:gd name="adj1" fmla="val 16730062"/>
              <a:gd name="adj2" fmla="val 1915580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3808C4F-7030-98DF-3C26-875F9DAD52F0}"/>
              </a:ext>
            </a:extLst>
          </p:cNvPr>
          <p:cNvSpPr/>
          <p:nvPr/>
        </p:nvSpPr>
        <p:spPr>
          <a:xfrm flipH="1">
            <a:off x="4132613" y="3739076"/>
            <a:ext cx="142503" cy="1389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E09821-ADBC-2093-84C5-7BF73C2EBCB5}"/>
              </a:ext>
            </a:extLst>
          </p:cNvPr>
          <p:cNvSpPr txBox="1"/>
          <p:nvPr/>
        </p:nvSpPr>
        <p:spPr>
          <a:xfrm>
            <a:off x="4157762" y="2180531"/>
            <a:ext cx="343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l-G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θ</a:t>
            </a:r>
            <a:r>
              <a:rPr kumimoji="0" lang="en-US" sz="1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</a:t>
            </a:r>
            <a:endParaRPr kumimoji="0" lang="en-IN" sz="1400" b="0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026F488-6586-3962-AF96-EB311040B1ED}"/>
              </a:ext>
            </a:extLst>
          </p:cNvPr>
          <p:cNvSpPr/>
          <p:nvPr/>
        </p:nvSpPr>
        <p:spPr>
          <a:xfrm>
            <a:off x="4540350" y="1815584"/>
            <a:ext cx="388914" cy="3077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E60320-D8C6-CC59-5F30-1157E641EA27}"/>
              </a:ext>
            </a:extLst>
          </p:cNvPr>
          <p:cNvSpPr txBox="1"/>
          <p:nvPr/>
        </p:nvSpPr>
        <p:spPr>
          <a:xfrm>
            <a:off x="4824402" y="1642527"/>
            <a:ext cx="60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COM</a:t>
            </a:r>
            <a:endParaRPr kumimoji="0" lang="en-IN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AACC827-20EC-D215-3FB9-64471A653E6D}"/>
              </a:ext>
            </a:extLst>
          </p:cNvPr>
          <p:cNvGrpSpPr/>
          <p:nvPr/>
        </p:nvGrpSpPr>
        <p:grpSpPr>
          <a:xfrm>
            <a:off x="2970145" y="3016321"/>
            <a:ext cx="707290" cy="846467"/>
            <a:chOff x="2970145" y="3016321"/>
            <a:chExt cx="707290" cy="84646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F4EBE05-F7F4-D01C-59AD-7AE7E62D3810}"/>
                </a:ext>
              </a:extLst>
            </p:cNvPr>
            <p:cNvGrpSpPr/>
            <p:nvPr/>
          </p:nvGrpSpPr>
          <p:grpSpPr>
            <a:xfrm>
              <a:off x="3012187" y="3217391"/>
              <a:ext cx="665248" cy="613718"/>
              <a:chOff x="724165" y="3708900"/>
              <a:chExt cx="665248" cy="613718"/>
            </a:xfrm>
          </p:grpSpPr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4D61AB49-BB8B-B9CA-C873-A2B42522282C}"/>
                  </a:ext>
                </a:extLst>
              </p:cNvPr>
              <p:cNvCxnSpPr/>
              <p:nvPr/>
            </p:nvCxnSpPr>
            <p:spPr>
              <a:xfrm flipV="1">
                <a:off x="724165" y="3708900"/>
                <a:ext cx="0" cy="613718"/>
              </a:xfrm>
              <a:prstGeom prst="straightConnector1">
                <a:avLst/>
              </a:prstGeom>
              <a:ln w="28575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A9B486B0-2D02-FD19-9271-073F228C736C}"/>
                  </a:ext>
                </a:extLst>
              </p:cNvPr>
              <p:cNvCxnSpPr/>
              <p:nvPr/>
            </p:nvCxnSpPr>
            <p:spPr>
              <a:xfrm>
                <a:off x="724165" y="4322618"/>
                <a:ext cx="665248" cy="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69E77BE-9103-0EDB-9162-31E26DCC7824}"/>
                </a:ext>
              </a:extLst>
            </p:cNvPr>
            <p:cNvSpPr txBox="1"/>
            <p:nvPr/>
          </p:nvSpPr>
          <p:spPr>
            <a:xfrm>
              <a:off x="3372219" y="3555011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X</a:t>
              </a:r>
              <a:endPara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9D3C5F5-D2D7-D609-57C3-4A8D60B77D1C}"/>
                </a:ext>
              </a:extLst>
            </p:cNvPr>
            <p:cNvSpPr txBox="1"/>
            <p:nvPr/>
          </p:nvSpPr>
          <p:spPr>
            <a:xfrm>
              <a:off x="2970145" y="3016321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Y</a:t>
              </a:r>
              <a:endPara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B1D2B32-1248-486B-8D59-208608D908FB}"/>
              </a:ext>
            </a:extLst>
          </p:cNvPr>
          <p:cNvCxnSpPr>
            <a:cxnSpLocks/>
          </p:cNvCxnSpPr>
          <p:nvPr/>
        </p:nvCxnSpPr>
        <p:spPr>
          <a:xfrm>
            <a:off x="4203864" y="3808551"/>
            <a:ext cx="725400" cy="239158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7C55F6D-57BE-EF47-5BC7-FF951235AECE}"/>
              </a:ext>
            </a:extLst>
          </p:cNvPr>
          <p:cNvCxnSpPr>
            <a:cxnSpLocks/>
          </p:cNvCxnSpPr>
          <p:nvPr/>
        </p:nvCxnSpPr>
        <p:spPr>
          <a:xfrm>
            <a:off x="4708380" y="1953678"/>
            <a:ext cx="754031" cy="22068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380F724-AE72-AA12-668D-6B86241D80EC}"/>
              </a:ext>
            </a:extLst>
          </p:cNvPr>
          <p:cNvCxnSpPr>
            <a:cxnSpLocks/>
          </p:cNvCxnSpPr>
          <p:nvPr/>
        </p:nvCxnSpPr>
        <p:spPr>
          <a:xfrm flipV="1">
            <a:off x="4760552" y="2126735"/>
            <a:ext cx="559674" cy="188275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C1EC363-1FBC-A878-F0FA-3C1764DEFBF0}"/>
              </a:ext>
            </a:extLst>
          </p:cNvPr>
          <p:cNvSpPr txBox="1"/>
          <p:nvPr/>
        </p:nvSpPr>
        <p:spPr>
          <a:xfrm>
            <a:off x="5160886" y="2829252"/>
            <a:ext cx="3609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</a:t>
            </a:r>
            <a:r>
              <a:rPr kumimoji="0" lang="en-US" sz="1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</a:t>
            </a:r>
            <a:endParaRPr kumimoji="0" lang="en-IN" sz="1400" b="1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F93DBF-8EBF-078E-15B5-8791ED4DC804}"/>
              </a:ext>
            </a:extLst>
          </p:cNvPr>
          <p:cNvSpPr txBox="1"/>
          <p:nvPr/>
        </p:nvSpPr>
        <p:spPr>
          <a:xfrm>
            <a:off x="6198919" y="1174293"/>
            <a:ext cx="54133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000" b="1" dirty="0"/>
              <a:t>State-Space Model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of the Segway Robot Plant:</a:t>
            </a:r>
            <a:endParaRPr kumimoji="0" lang="en-I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03C1813-980D-80AB-7924-4D6067AD057E}"/>
                  </a:ext>
                </a:extLst>
              </p:cNvPr>
              <p:cNvSpPr txBox="1"/>
              <p:nvPr/>
            </p:nvSpPr>
            <p:spPr>
              <a:xfrm>
                <a:off x="5667338" y="2756419"/>
                <a:ext cx="6177550" cy="23456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ẋ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l-GR" dirty="0"/>
                                  <m:t>θ</m:t>
                                </m:r>
                                <m:r>
                                  <m:rPr>
                                    <m:nor/>
                                  </m:rPr>
                                  <a:rPr lang="en-US" baseline="-25000" dirty="0"/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en-IN" baseline="-25000" dirty="0"/>
                                  <m:t> 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l-GR" dirty="0"/>
                                      <m:t>θ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l-GR" dirty="0"/>
                                  <m:t>θ</m:t>
                                </m:r>
                                <m:r>
                                  <m:rPr>
                                    <m:nor/>
                                  </m:rPr>
                                  <a:rPr lang="en-US" baseline="-25000" dirty="0"/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en-IN" baseline="-25000" dirty="0"/>
                                  <m:t> 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̇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l-GR" dirty="0"/>
                                      <m:t>θ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̇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</a:rPr>
                            <m:t>τ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03C1813-980D-80AB-7924-4D6067AD0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7338" y="2756419"/>
                <a:ext cx="6177550" cy="23456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3" name="Picture 1">
            <a:extLst>
              <a:ext uri="{FF2B5EF4-FFF2-40B4-BE49-F238E27FC236}">
                <a16:creationId xmlns:a16="http://schemas.microsoft.com/office/drawing/2014/main" id="{75FD9EBF-C8F8-F549-ADC1-61D0E7326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8945CC27-CB52-844F-5923-214E8042E3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95EC94B-CE20-7D44-B05C-40463775C747}"/>
                  </a:ext>
                </a:extLst>
              </p:cNvPr>
              <p:cNvSpPr txBox="1"/>
              <p:nvPr/>
            </p:nvSpPr>
            <p:spPr>
              <a:xfrm>
                <a:off x="7185115" y="1941179"/>
                <a:ext cx="348050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b="0" dirty="0"/>
                  <a:t>     -- </a:t>
                </a:r>
                <a:r>
                  <a:rPr lang="en-US" b="1" dirty="0"/>
                  <a:t>State Equation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     -- </a:t>
                </a:r>
                <a:r>
                  <a:rPr lang="en-US" b="1" dirty="0"/>
                  <a:t>Output Equation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95EC94B-CE20-7D44-B05C-40463775C7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5115" y="1941179"/>
                <a:ext cx="3480505" cy="430887"/>
              </a:xfrm>
              <a:prstGeom prst="rect">
                <a:avLst/>
              </a:prstGeom>
              <a:blipFill>
                <a:blip r:embed="rId7"/>
                <a:stretch>
                  <a:fillRect l="-1926" t="-12676" r="-2277" b="-239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3694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5DD83A7-29E4-BA39-6FF3-ACF3BE302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2C441C05-1974-79E6-214E-9D727A301A21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6A0DE14B-F716-D34F-0F4C-F70A0EBEC5B2}"/>
              </a:ext>
            </a:extLst>
          </p:cNvPr>
          <p:cNvSpPr txBox="1"/>
          <p:nvPr/>
        </p:nvSpPr>
        <p:spPr>
          <a:xfrm>
            <a:off x="3873167" y="73293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12;g35aa9b09be0_0_25">
            <a:extLst>
              <a:ext uri="{FF2B5EF4-FFF2-40B4-BE49-F238E27FC236}">
                <a16:creationId xmlns:a16="http://schemas.microsoft.com/office/drawing/2014/main" id="{538D081D-7A2E-1CED-5072-CD9C48A08320}"/>
              </a:ext>
            </a:extLst>
          </p:cNvPr>
          <p:cNvSpPr txBox="1"/>
          <p:nvPr/>
        </p:nvSpPr>
        <p:spPr>
          <a:xfrm>
            <a:off x="417257" y="793498"/>
            <a:ext cx="6558773" cy="571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defRPr/>
            </a:pPr>
            <a:r>
              <a:rPr lang="en-US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PID Controller Implementation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9100297F-1176-0DEE-14CB-20E9D8E9F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B973EB17-E71F-CA70-0EFC-F07A86404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67B2A4B-05D6-79C6-448F-011F910FE2B2}"/>
              </a:ext>
            </a:extLst>
          </p:cNvPr>
          <p:cNvGrpSpPr/>
          <p:nvPr/>
        </p:nvGrpSpPr>
        <p:grpSpPr>
          <a:xfrm>
            <a:off x="8616067" y="1701140"/>
            <a:ext cx="2505693" cy="2814452"/>
            <a:chOff x="5019938" y="1687999"/>
            <a:chExt cx="2152121" cy="3434347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4454DB7-E3CA-1E1B-944C-8314B00D206C}"/>
                </a:ext>
              </a:extLst>
            </p:cNvPr>
            <p:cNvSpPr/>
            <p:nvPr/>
          </p:nvSpPr>
          <p:spPr>
            <a:xfrm>
              <a:off x="5019938" y="1687999"/>
              <a:ext cx="2152121" cy="2423410"/>
            </a:xfrm>
            <a:prstGeom prst="roundRect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8CC1A71-167B-1F3A-DDF7-BDE83E3DEA24}"/>
                </a:ext>
              </a:extLst>
            </p:cNvPr>
            <p:cNvSpPr txBox="1"/>
            <p:nvPr/>
          </p:nvSpPr>
          <p:spPr>
            <a:xfrm>
              <a:off x="5260769" y="4168239"/>
              <a:ext cx="171526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Plant </a:t>
              </a:r>
            </a:p>
            <a:p>
              <a:pPr algn="ctr"/>
              <a:r>
                <a:rPr lang="en-US" b="1" dirty="0"/>
                <a:t>(Physical Model / Transfer Function)</a:t>
              </a:r>
              <a:endParaRPr lang="en-IN" b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BCA248D-14F1-9E36-1EE4-5C96F420AD8D}"/>
                  </a:ext>
                </a:extLst>
              </p:cNvPr>
              <p:cNvSpPr/>
              <p:nvPr/>
            </p:nvSpPr>
            <p:spPr>
              <a:xfrm>
                <a:off x="3825629" y="2210213"/>
                <a:ext cx="2850611" cy="967553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PID Controller</a:t>
                </a:r>
              </a:p>
              <a:p>
                <a:pPr algn="ctr"/>
                <a:endParaRPr lang="en-US" b="1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𝒅𝒕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 + </m:t>
                          </m:r>
                        </m:e>
                      </m:nary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BCA248D-14F1-9E36-1EE4-5C96F420AD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5629" y="2210213"/>
                <a:ext cx="2850611" cy="967553"/>
              </a:xfrm>
              <a:prstGeom prst="rect">
                <a:avLst/>
              </a:prstGeom>
              <a:blipFill>
                <a:blip r:embed="rId6"/>
                <a:stretch>
                  <a:fillRect t="-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1ABC00C-DEE9-C3F8-3BE8-5699D7790652}"/>
              </a:ext>
            </a:extLst>
          </p:cNvPr>
          <p:cNvCxnSpPr>
            <a:cxnSpLocks/>
            <a:stCxn id="7" idx="3"/>
            <a:endCxn id="4" idx="1"/>
          </p:cNvCxnSpPr>
          <p:nvPr/>
        </p:nvCxnSpPr>
        <p:spPr>
          <a:xfrm>
            <a:off x="6676240" y="2693990"/>
            <a:ext cx="1939827" cy="1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2D87228-81F7-5A0A-F9F4-480306D79EE1}"/>
              </a:ext>
            </a:extLst>
          </p:cNvPr>
          <p:cNvSpPr txBox="1"/>
          <p:nvPr/>
        </p:nvSpPr>
        <p:spPr>
          <a:xfrm>
            <a:off x="6882586" y="2169099"/>
            <a:ext cx="14844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Control Signal</a:t>
            </a:r>
          </a:p>
          <a:p>
            <a:pPr algn="ctr"/>
            <a:r>
              <a:rPr lang="en-US" b="1" dirty="0"/>
              <a:t>(Wheel Torque)</a:t>
            </a:r>
            <a:endParaRPr lang="en-IN" b="1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A20E4C6-A817-7780-EF8A-F58CE7CC6D79}"/>
              </a:ext>
            </a:extLst>
          </p:cNvPr>
          <p:cNvGrpSpPr/>
          <p:nvPr/>
        </p:nvGrpSpPr>
        <p:grpSpPr>
          <a:xfrm>
            <a:off x="774953" y="2220729"/>
            <a:ext cx="2102122" cy="946810"/>
            <a:chOff x="417257" y="2220729"/>
            <a:chExt cx="2102122" cy="946810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081430BD-0D80-9391-0EEC-5BAFB74191F5}"/>
                </a:ext>
              </a:extLst>
            </p:cNvPr>
            <p:cNvSpPr/>
            <p:nvPr/>
          </p:nvSpPr>
          <p:spPr>
            <a:xfrm>
              <a:off x="1533727" y="2220729"/>
              <a:ext cx="985652" cy="94681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41D4FBD-921B-47A0-9031-FBD21A295C3C}"/>
                </a:ext>
              </a:extLst>
            </p:cNvPr>
            <p:cNvCxnSpPr>
              <a:stCxn id="33" idx="1"/>
              <a:endCxn id="33" idx="5"/>
            </p:cNvCxnSpPr>
            <p:nvPr/>
          </p:nvCxnSpPr>
          <p:spPr>
            <a:xfrm>
              <a:off x="1678072" y="2359386"/>
              <a:ext cx="696962" cy="66949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736C891-D355-FA09-4D0B-B3A8D31D546F}"/>
                </a:ext>
              </a:extLst>
            </p:cNvPr>
            <p:cNvCxnSpPr>
              <a:cxnSpLocks/>
              <a:stCxn id="33" idx="3"/>
              <a:endCxn id="33" idx="7"/>
            </p:cNvCxnSpPr>
            <p:nvPr/>
          </p:nvCxnSpPr>
          <p:spPr>
            <a:xfrm flipV="1">
              <a:off x="1678072" y="2359386"/>
              <a:ext cx="696962" cy="66949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8ABAA54-38A5-1590-2DC2-7AD7205D6009}"/>
                </a:ext>
              </a:extLst>
            </p:cNvPr>
            <p:cNvSpPr txBox="1"/>
            <p:nvPr/>
          </p:nvSpPr>
          <p:spPr>
            <a:xfrm>
              <a:off x="1577569" y="2539266"/>
              <a:ext cx="3663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+</a:t>
              </a:r>
              <a:endParaRPr lang="en-IN" b="1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E00FC65-599F-4D25-2526-6BDCC92E2C72}"/>
                </a:ext>
              </a:extLst>
            </p:cNvPr>
            <p:cNvSpPr txBox="1"/>
            <p:nvPr/>
          </p:nvSpPr>
          <p:spPr>
            <a:xfrm>
              <a:off x="1843390" y="2816605"/>
              <a:ext cx="3663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-</a:t>
              </a:r>
              <a:endParaRPr lang="en-IN" b="1" dirty="0"/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D850E8B1-5F75-E923-4555-B5E2F299E6E3}"/>
                </a:ext>
              </a:extLst>
            </p:cNvPr>
            <p:cNvCxnSpPr>
              <a:cxnSpLocks/>
              <a:endCxn id="33" idx="2"/>
            </p:cNvCxnSpPr>
            <p:nvPr/>
          </p:nvCxnSpPr>
          <p:spPr>
            <a:xfrm>
              <a:off x="417257" y="2694134"/>
              <a:ext cx="111647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0504983-FBF4-D003-5271-1ED204FAF3FA}"/>
                  </a:ext>
                </a:extLst>
              </p:cNvPr>
              <p:cNvSpPr txBox="1"/>
              <p:nvPr/>
            </p:nvSpPr>
            <p:spPr>
              <a:xfrm>
                <a:off x="914524" y="2376753"/>
                <a:ext cx="801109" cy="3250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0504983-FBF4-D003-5271-1ED204FAF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524" y="2376753"/>
                <a:ext cx="801109" cy="325025"/>
              </a:xfrm>
              <a:prstGeom prst="rect">
                <a:avLst/>
              </a:prstGeom>
              <a:blipFill>
                <a:blip r:embed="rId7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1CBBCB7-D670-54F4-B8B4-9B69F2406D3D}"/>
              </a:ext>
            </a:extLst>
          </p:cNvPr>
          <p:cNvCxnSpPr>
            <a:cxnSpLocks/>
            <a:stCxn id="33" idx="6"/>
            <a:endCxn id="7" idx="1"/>
          </p:cNvCxnSpPr>
          <p:nvPr/>
        </p:nvCxnSpPr>
        <p:spPr>
          <a:xfrm flipV="1">
            <a:off x="2877075" y="2693990"/>
            <a:ext cx="948554" cy="1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7F92152-89B7-FD12-24C5-9BED9CCDC86D}"/>
                  </a:ext>
                </a:extLst>
              </p:cNvPr>
              <p:cNvSpPr txBox="1"/>
              <p:nvPr/>
            </p:nvSpPr>
            <p:spPr>
              <a:xfrm>
                <a:off x="2992934" y="2419927"/>
                <a:ext cx="2560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7F92152-89B7-FD12-24C5-9BED9CCDC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2934" y="2419927"/>
                <a:ext cx="256086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239F8180-4514-2997-E531-8DB9DC0FC184}"/>
              </a:ext>
            </a:extLst>
          </p:cNvPr>
          <p:cNvCxnSpPr>
            <a:stCxn id="4" idx="3"/>
            <a:endCxn id="33" idx="4"/>
          </p:cNvCxnSpPr>
          <p:nvPr/>
        </p:nvCxnSpPr>
        <p:spPr>
          <a:xfrm flipH="1">
            <a:off x="2384249" y="2694134"/>
            <a:ext cx="8737511" cy="473405"/>
          </a:xfrm>
          <a:prstGeom prst="bentConnector4">
            <a:avLst>
              <a:gd name="adj1" fmla="val -2616"/>
              <a:gd name="adj2" fmla="val 44618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C99662B-FB64-CCCD-00A1-F090643B30A3}"/>
              </a:ext>
            </a:extLst>
          </p:cNvPr>
          <p:cNvSpPr txBox="1"/>
          <p:nvPr/>
        </p:nvSpPr>
        <p:spPr>
          <a:xfrm>
            <a:off x="5218035" y="4814962"/>
            <a:ext cx="30699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Feedback (Chassis Tilt Angle)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372853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DA3E305-96CE-2886-1632-3E3D970CE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aa9b09be0_0_25">
            <a:extLst>
              <a:ext uri="{FF2B5EF4-FFF2-40B4-BE49-F238E27FC236}">
                <a16:creationId xmlns:a16="http://schemas.microsoft.com/office/drawing/2014/main" id="{B3A7FB67-ED28-0B1E-A2C9-96C3CFCCA687}"/>
              </a:ext>
            </a:extLst>
          </p:cNvPr>
          <p:cNvSpPr txBox="1"/>
          <p:nvPr/>
        </p:nvSpPr>
        <p:spPr>
          <a:xfrm>
            <a:off x="838200" y="3524250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FAFEEDD5-1F2E-4510-7D8C-07EBD4B3A159}"/>
              </a:ext>
            </a:extLst>
          </p:cNvPr>
          <p:cNvSpPr txBox="1"/>
          <p:nvPr/>
        </p:nvSpPr>
        <p:spPr>
          <a:xfrm>
            <a:off x="3877929" y="-60354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F8DD1351-E4C8-DA82-FDE4-EE877CE73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6A5E6689-7729-1FE7-D1D3-E55AAAA8F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36A490F8-D6B6-BECD-8393-CD39773508DB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 t="20" b="16520"/>
          <a:stretch>
            <a:fillRect/>
          </a:stretch>
        </p:blipFill>
        <p:spPr>
          <a:xfrm>
            <a:off x="-1" y="-1"/>
            <a:ext cx="12163425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FB226D2D-64B0-F2EC-EB9B-BF6E6DED21E2}"/>
              </a:ext>
            </a:extLst>
          </p:cNvPr>
          <p:cNvGrpSpPr/>
          <p:nvPr/>
        </p:nvGrpSpPr>
        <p:grpSpPr>
          <a:xfrm>
            <a:off x="428596" y="281371"/>
            <a:ext cx="11609024" cy="6368636"/>
            <a:chOff x="87444" y="510683"/>
            <a:chExt cx="11609024" cy="6368636"/>
          </a:xfrm>
        </p:grpSpPr>
        <p:sp>
          <p:nvSpPr>
            <p:cNvPr id="2" name="Google Shape;112;g35aa9b09be0_0_25">
              <a:extLst>
                <a:ext uri="{FF2B5EF4-FFF2-40B4-BE49-F238E27FC236}">
                  <a16:creationId xmlns:a16="http://schemas.microsoft.com/office/drawing/2014/main" id="{B307BB15-5799-3ABE-8BDB-88712F56AFAC}"/>
                </a:ext>
              </a:extLst>
            </p:cNvPr>
            <p:cNvSpPr txBox="1"/>
            <p:nvPr/>
          </p:nvSpPr>
          <p:spPr>
            <a:xfrm>
              <a:off x="194319" y="510683"/>
              <a:ext cx="9439799" cy="571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Times New Roman"/>
                  <a:cs typeface="Times New Roman"/>
                  <a:sym typeface="Times New Roman"/>
                </a:rPr>
                <a:t>PID Controller Implementation: Tuning of PID Gains</a:t>
              </a:r>
              <a:endPara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B10C8AB0-E39B-0DEE-AD7D-AF05ABE747D4}"/>
                    </a:ext>
                  </a:extLst>
                </p:cNvPr>
                <p:cNvSpPr txBox="1"/>
                <p:nvPr/>
              </p:nvSpPr>
              <p:spPr>
                <a:xfrm>
                  <a:off x="161926" y="1513703"/>
                  <a:ext cx="6108246" cy="22088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b="1" dirty="0"/>
                    <a:t>M</a:t>
                  </a:r>
                  <a:r>
                    <a:rPr lang="en-US" b="1" baseline="-25000" dirty="0"/>
                    <a:t>c</a:t>
                  </a:r>
                  <a:r>
                    <a:rPr lang="en-US" dirty="0"/>
                    <a:t>  = Mass of Chassis = 1 kg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IN" b="1" dirty="0"/>
                    <a:t>M</a:t>
                  </a:r>
                  <a:r>
                    <a:rPr lang="en-IN" b="1" baseline="-25000" dirty="0"/>
                    <a:t>w</a:t>
                  </a:r>
                  <a:r>
                    <a:rPr lang="en-IN" dirty="0"/>
                    <a:t> = Mass of each Wheel = 0.1 kg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IN" b="1" dirty="0"/>
                    <a:t>L</a:t>
                  </a:r>
                  <a:r>
                    <a:rPr lang="en-IN" b="1" baseline="-25000" dirty="0"/>
                    <a:t>c</a:t>
                  </a:r>
                  <a:r>
                    <a:rPr lang="en-IN" dirty="0"/>
                    <a:t> = Distance of COM of the chassis from the axis of rotation of wheels</a:t>
                  </a:r>
                </a:p>
                <a:p>
                  <a:r>
                    <a:rPr lang="en-IN" dirty="0"/>
                    <a:t>          = 0.129 m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IN" b="1" dirty="0"/>
                    <a:t>R</a:t>
                  </a:r>
                  <a:r>
                    <a:rPr lang="en-IN" b="1" baseline="-25000" dirty="0"/>
                    <a:t>w</a:t>
                  </a:r>
                  <a:r>
                    <a:rPr lang="en-IN" dirty="0"/>
                    <a:t> = Radius of each wheel = 0.0325 m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IN" dirty="0"/>
                    <a:t>I</a:t>
                  </a:r>
                  <a:r>
                    <a:rPr lang="en-IN" baseline="-25000" dirty="0"/>
                    <a:t>c</a:t>
                  </a:r>
                  <a:r>
                    <a:rPr lang="en-IN" dirty="0"/>
                    <a:t> = Moment of Inertia of Chassis rotating abt. Wheel axis </a:t>
                  </a:r>
                </a:p>
                <a:p>
                  <a:r>
                    <a:rPr lang="en-IN" dirty="0"/>
                    <a:t>       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a14:m>
                  <a:endParaRPr lang="en-IN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IN" b="1" dirty="0"/>
                    <a:t>I</a:t>
                  </a:r>
                  <a:r>
                    <a:rPr lang="en-IN" b="1" baseline="-25000" dirty="0"/>
                    <a:t>w</a:t>
                  </a:r>
                  <a:r>
                    <a:rPr lang="en-IN" dirty="0"/>
                    <a:t> = Moment of Inertia of Wheel rotating abt. Wheel axis</a:t>
                  </a:r>
                </a:p>
                <a:p>
                  <a:r>
                    <a:rPr lang="en-IN" dirty="0"/>
                    <a:t>       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B10C8AB0-E39B-0DEE-AD7D-AF05ABE747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926" y="1513703"/>
                  <a:ext cx="6108246" cy="2208810"/>
                </a:xfrm>
                <a:prstGeom prst="rect">
                  <a:avLst/>
                </a:prstGeom>
                <a:blipFill>
                  <a:blip r:embed="rId5"/>
                  <a:stretch>
                    <a:fillRect l="-299" t="-552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38DEEEB-0C20-F958-CA3E-1CF65BE8A190}"/>
                </a:ext>
              </a:extLst>
            </p:cNvPr>
            <p:cNvSpPr txBox="1"/>
            <p:nvPr/>
          </p:nvSpPr>
          <p:spPr>
            <a:xfrm>
              <a:off x="152400" y="3718930"/>
              <a:ext cx="541338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Transfer Function of the Segway Robot Plant:</a:t>
              </a:r>
              <a:endParaRPr lang="en-IN" sz="16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15A6C5B-7AD5-984F-841F-50C8D05A3241}"/>
                    </a:ext>
                  </a:extLst>
                </p:cNvPr>
                <p:cNvSpPr txBox="1"/>
                <p:nvPr/>
              </p:nvSpPr>
              <p:spPr>
                <a:xfrm>
                  <a:off x="1628735" y="4128906"/>
                  <a:ext cx="1696353" cy="69044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IN" sz="1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l-GR" sz="1200" dirty="0"/>
                                  <m:t>θ</m:t>
                                </m:r>
                                <m:r>
                                  <m:rPr>
                                    <m:nor/>
                                  </m:rPr>
                                  <a:rPr lang="en-IN" sz="1200" dirty="0"/>
                                  <m:t> 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l-GR" sz="1200" i="1" smtClean="0">
                                <a:latin typeface="Cambria Math" panose="02040503050406030204" pitchFamily="18" charset="0"/>
                              </a:rPr>
                              <m:t>τ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 (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den>
                            </m:f>
                          </m:num>
                          <m:den>
                            <m:sSup>
                              <m:sSup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− </m:t>
                            </m:r>
                            <m:f>
                              <m:f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. 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den>
                            </m:f>
                          </m:den>
                        </m:f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15A6C5B-7AD5-984F-841F-50C8D05A32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8735" y="4128906"/>
                  <a:ext cx="1696353" cy="69044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4446152-EA7B-F4C9-6C73-9207AB4F3B21}"/>
                    </a:ext>
                  </a:extLst>
                </p:cNvPr>
                <p:cNvSpPr txBox="1"/>
                <p:nvPr/>
              </p:nvSpPr>
              <p:spPr>
                <a:xfrm>
                  <a:off x="87444" y="4852674"/>
                  <a:ext cx="6864939" cy="202664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l-GR" sz="1200" b="1" dirty="0"/>
                            <m:t>θ</m:t>
                          </m:r>
                          <m:r>
                            <m:rPr>
                              <m:nor/>
                            </m:rPr>
                            <a:rPr lang="en-IN" sz="1200" b="1" dirty="0"/>
                            <m:t> 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a14:m>
                  <a:r>
                    <a:rPr lang="en-IN" sz="1200" b="1" dirty="0"/>
                    <a:t> </a:t>
                  </a:r>
                  <a:r>
                    <a:rPr lang="en-IN" sz="1200" dirty="0"/>
                    <a:t>= </a:t>
                  </a:r>
                  <a:r>
                    <a:rPr lang="en-IN" sz="1100" dirty="0"/>
                    <a:t>Chassis Tilt Angle               </a:t>
                  </a:r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l-GR" sz="1200" b="1" i="1" smtClean="0">
                          <a:latin typeface="Cambria Math" panose="02040503050406030204" pitchFamily="18" charset="0"/>
                        </a:rPr>
                        <m:t>𝝉</m:t>
                      </m:r>
                    </m:oMath>
                  </a14:m>
                  <a:r>
                    <a:rPr lang="en-IN" sz="1200" dirty="0"/>
                    <a:t>  = </a:t>
                  </a:r>
                  <a:r>
                    <a:rPr lang="en-IN" sz="1100" dirty="0"/>
                    <a:t>Torque applied to each individual wheel              </a:t>
                  </a:r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200" b="1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p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a14:m>
                  <a:endParaRPr lang="en-IN" sz="1200" b="1" dirty="0"/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IN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p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p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</m:oMath>
                  </a14:m>
                  <a:endParaRPr lang="en-IN" sz="1200" b="1" dirty="0"/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a14:m>
                  <a:endParaRPr lang="en-US" sz="1200" b="1" dirty="0"/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𝒈</m:t>
                      </m:r>
                    </m:oMath>
                  </a14:m>
                  <a:endParaRPr lang="en-US" sz="1200" b="1" dirty="0"/>
                </a:p>
                <a:p>
                  <a:pPr marL="285750" indent="-285750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−</m:t>
                      </m:r>
                      <m:sSubSup>
                        <m:sSub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</m:oMath>
                  </a14:m>
                  <a:endParaRPr lang="en-IN" sz="1200" b="1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4446152-EA7B-F4C9-6C73-9207AB4F3B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44" y="4852674"/>
                  <a:ext cx="6864939" cy="2026645"/>
                </a:xfrm>
                <a:prstGeom prst="rect">
                  <a:avLst/>
                </a:prstGeom>
                <a:blipFill>
                  <a:blip r:embed="rId7"/>
                  <a:stretch>
                    <a:fillRect b="-60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8196A8D-3652-1C3F-3B2F-6E4855B1A137}"/>
                </a:ext>
              </a:extLst>
            </p:cNvPr>
            <p:cNvCxnSpPr/>
            <p:nvPr/>
          </p:nvCxnSpPr>
          <p:spPr>
            <a:xfrm>
              <a:off x="6270172" y="1364819"/>
              <a:ext cx="0" cy="5404116"/>
            </a:xfrm>
            <a:prstGeom prst="line">
              <a:avLst/>
            </a:prstGeom>
            <a:ln w="381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C6390158-5581-7408-658F-1D03F98DDB2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34044" y="1364819"/>
              <a:ext cx="4962424" cy="5363948"/>
            </a:xfrm>
            <a:prstGeom prst="rect">
              <a:avLst/>
            </a:prstGeom>
          </p:spPr>
        </p:pic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17841553-74DB-8234-631E-07F1A0267D32}"/>
                </a:ext>
              </a:extLst>
            </p:cNvPr>
            <p:cNvSpPr/>
            <p:nvPr/>
          </p:nvSpPr>
          <p:spPr>
            <a:xfrm>
              <a:off x="5263652" y="3888207"/>
              <a:ext cx="978408" cy="484632"/>
            </a:xfrm>
            <a:prstGeom prst="rightArrow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4088B02-1272-D7CC-8460-A83888043235}"/>
                </a:ext>
              </a:extLst>
            </p:cNvPr>
            <p:cNvSpPr txBox="1"/>
            <p:nvPr/>
          </p:nvSpPr>
          <p:spPr>
            <a:xfrm>
              <a:off x="6646217" y="997527"/>
              <a:ext cx="46234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MATLAB Code For Getting Tuned PID Parameters:</a:t>
              </a:r>
              <a:endParaRPr lang="en-IN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714237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755F4EF-7207-4CB7-6526-17609853D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4A78F1C2-D763-0351-388A-B30E63640690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5aa9b09be0_0_25">
            <a:extLst>
              <a:ext uri="{FF2B5EF4-FFF2-40B4-BE49-F238E27FC236}">
                <a16:creationId xmlns:a16="http://schemas.microsoft.com/office/drawing/2014/main" id="{AA1B6C46-A5D2-976C-800C-E4280BFF1BEE}"/>
              </a:ext>
            </a:extLst>
          </p:cNvPr>
          <p:cNvSpPr txBox="1"/>
          <p:nvPr/>
        </p:nvSpPr>
        <p:spPr>
          <a:xfrm>
            <a:off x="838200" y="3524250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12E12548-9847-6660-A94D-8BFB1638607F}"/>
              </a:ext>
            </a:extLst>
          </p:cNvPr>
          <p:cNvSpPr txBox="1"/>
          <p:nvPr/>
        </p:nvSpPr>
        <p:spPr>
          <a:xfrm>
            <a:off x="3877930" y="-51189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12;g35aa9b09be0_0_25">
            <a:extLst>
              <a:ext uri="{FF2B5EF4-FFF2-40B4-BE49-F238E27FC236}">
                <a16:creationId xmlns:a16="http://schemas.microsoft.com/office/drawing/2014/main" id="{E10702D0-60F4-0D0E-7F15-45222152E843}"/>
              </a:ext>
            </a:extLst>
          </p:cNvPr>
          <p:cNvSpPr txBox="1"/>
          <p:nvPr/>
        </p:nvSpPr>
        <p:spPr>
          <a:xfrm>
            <a:off x="718454" y="467768"/>
            <a:ext cx="10107875" cy="571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defRPr/>
            </a:pPr>
            <a:r>
              <a:rPr lang="en-US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PID Controller Implementation: Tuning of PID Gains</a:t>
            </a: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DD795BC9-E22F-00D8-BF3F-3B7E5C9A50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3C6981E5-E3AE-8325-F1A2-D41C9B57E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77C6595-1F66-4C0B-B264-FCAE5BBD5C4A}"/>
              </a:ext>
            </a:extLst>
          </p:cNvPr>
          <p:cNvCxnSpPr>
            <a:cxnSpLocks/>
          </p:cNvCxnSpPr>
          <p:nvPr/>
        </p:nvCxnSpPr>
        <p:spPr>
          <a:xfrm>
            <a:off x="6836226" y="1420759"/>
            <a:ext cx="0" cy="460267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001D5369-A67F-5EF4-F550-43EBAEA84C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454" y="1266570"/>
            <a:ext cx="4962424" cy="5363948"/>
          </a:xfrm>
          <a:prstGeom prst="rect">
            <a:avLst/>
          </a:prstGeom>
        </p:spPr>
      </p:pic>
      <p:sp>
        <p:nvSpPr>
          <p:cNvPr id="24" name="Arrow: Right 23">
            <a:extLst>
              <a:ext uri="{FF2B5EF4-FFF2-40B4-BE49-F238E27FC236}">
                <a16:creationId xmlns:a16="http://schemas.microsoft.com/office/drawing/2014/main" id="{AEE9860A-82DF-93E7-0A79-17C26C400942}"/>
              </a:ext>
            </a:extLst>
          </p:cNvPr>
          <p:cNvSpPr/>
          <p:nvPr/>
        </p:nvSpPr>
        <p:spPr>
          <a:xfrm>
            <a:off x="5829706" y="3888207"/>
            <a:ext cx="978408" cy="484632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0BBECE-4B20-2302-B600-A4C73ABE4A09}"/>
              </a:ext>
            </a:extLst>
          </p:cNvPr>
          <p:cNvSpPr txBox="1"/>
          <p:nvPr/>
        </p:nvSpPr>
        <p:spPr>
          <a:xfrm>
            <a:off x="718454" y="1003793"/>
            <a:ext cx="4623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Code For Getting Tuned PID Parameters:</a:t>
            </a:r>
            <a:endParaRPr kumimoji="0" lang="en-IN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143944-26A0-B426-D7D0-5A9D1DF8B6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7390" y="2403294"/>
            <a:ext cx="3408942" cy="296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06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CE52D20-7521-46AE-394C-BA3B3EA09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135ED0B6-80FF-60E5-57F6-1C84F03511DC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5aa9b09be0_0_25">
            <a:extLst>
              <a:ext uri="{FF2B5EF4-FFF2-40B4-BE49-F238E27FC236}">
                <a16:creationId xmlns:a16="http://schemas.microsoft.com/office/drawing/2014/main" id="{D38A188C-CC04-C8A6-DF4C-35E59503BB95}"/>
              </a:ext>
            </a:extLst>
          </p:cNvPr>
          <p:cNvSpPr txBox="1"/>
          <p:nvPr/>
        </p:nvSpPr>
        <p:spPr>
          <a:xfrm>
            <a:off x="838200" y="3524250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43ABD8DB-90B2-C8B6-0577-2683498870C1}"/>
              </a:ext>
            </a:extLst>
          </p:cNvPr>
          <p:cNvSpPr txBox="1"/>
          <p:nvPr/>
        </p:nvSpPr>
        <p:spPr>
          <a:xfrm>
            <a:off x="3877930" y="28470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12;g35aa9b09be0_0_25">
            <a:extLst>
              <a:ext uri="{FF2B5EF4-FFF2-40B4-BE49-F238E27FC236}">
                <a16:creationId xmlns:a16="http://schemas.microsoft.com/office/drawing/2014/main" id="{7F578847-7A81-12BB-4A6E-83AB74B8F8B5}"/>
              </a:ext>
            </a:extLst>
          </p:cNvPr>
          <p:cNvSpPr txBox="1"/>
          <p:nvPr/>
        </p:nvSpPr>
        <p:spPr>
          <a:xfrm>
            <a:off x="407763" y="777145"/>
            <a:ext cx="10802544" cy="571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defRPr/>
            </a:pPr>
            <a:r>
              <a:rPr lang="en-US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PID Controller Implementation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: Simulink Block Diagram of PID Controller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CDE2385B-8C17-9DC2-74F0-D88611A69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91212D1D-A870-6C15-2801-5DCDE20C8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7A82F4-7A0B-8C7E-C8BB-3C688D8C170B}"/>
              </a:ext>
            </a:extLst>
          </p:cNvPr>
          <p:cNvSpPr txBox="1"/>
          <p:nvPr/>
        </p:nvSpPr>
        <p:spPr>
          <a:xfrm>
            <a:off x="1440872" y="5738159"/>
            <a:ext cx="9310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Figure </a:t>
            </a:r>
            <a:r>
              <a:rPr lang="en-US" b="1" i="1" dirty="0"/>
              <a:t>4</a:t>
            </a:r>
            <a:r>
              <a:rPr kumimoji="0" lang="en-US" sz="1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. Block Diagram of PID Controller as implemented in Simulink</a:t>
            </a:r>
            <a:endParaRPr kumimoji="0" lang="en-IN" sz="14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328005-A216-BD3B-DCD2-4207D1B254F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" r="-1"/>
          <a:stretch>
            <a:fillRect/>
          </a:stretch>
        </p:blipFill>
        <p:spPr>
          <a:xfrm>
            <a:off x="1665202" y="1310341"/>
            <a:ext cx="9085924" cy="4427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270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7FE46124-0C23-0B0F-EA45-E533D01A3312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2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12;g35aa9b09be0_0_25">
            <a:extLst>
              <a:ext uri="{FF2B5EF4-FFF2-40B4-BE49-F238E27FC236}">
                <a16:creationId xmlns:a16="http://schemas.microsoft.com/office/drawing/2014/main" id="{AB63D598-22A8-7C1E-1898-BDC9C1B41F08}"/>
              </a:ext>
            </a:extLst>
          </p:cNvPr>
          <p:cNvSpPr txBox="1"/>
          <p:nvPr/>
        </p:nvSpPr>
        <p:spPr>
          <a:xfrm>
            <a:off x="3877930" y="28470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Google Shape;112;g35aa9b09be0_0_25">
            <a:extLst>
              <a:ext uri="{FF2B5EF4-FFF2-40B4-BE49-F238E27FC236}">
                <a16:creationId xmlns:a16="http://schemas.microsoft.com/office/drawing/2014/main" id="{0612BD9C-B566-AC9E-806B-8DBA442107AF}"/>
              </a:ext>
            </a:extLst>
          </p:cNvPr>
          <p:cNvSpPr txBox="1"/>
          <p:nvPr/>
        </p:nvSpPr>
        <p:spPr>
          <a:xfrm>
            <a:off x="419638" y="1099093"/>
            <a:ext cx="10802544" cy="571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defRPr/>
            </a:pPr>
            <a:r>
              <a:rPr lang="en-US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PID Controller Implementation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: Simulink Block Diagram of Complete Project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F4E508-F366-6941-A4B8-D69F1E489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21816"/>
            <a:ext cx="12192000" cy="373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80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E55A40F-C311-E7DE-39B5-5D4E77F9D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8369FFB1-5E23-B76E-A28E-BE70560C578B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5aa9b09be0_0_25">
            <a:extLst>
              <a:ext uri="{FF2B5EF4-FFF2-40B4-BE49-F238E27FC236}">
                <a16:creationId xmlns:a16="http://schemas.microsoft.com/office/drawing/2014/main" id="{BC1B83AB-ED2C-CC27-790D-85BCB76AD202}"/>
              </a:ext>
            </a:extLst>
          </p:cNvPr>
          <p:cNvSpPr txBox="1"/>
          <p:nvPr/>
        </p:nvSpPr>
        <p:spPr>
          <a:xfrm>
            <a:off x="838200" y="3524250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EAA79B1B-FDE6-E1E2-2D62-650FEFAA356D}"/>
              </a:ext>
            </a:extLst>
          </p:cNvPr>
          <p:cNvSpPr txBox="1"/>
          <p:nvPr/>
        </p:nvSpPr>
        <p:spPr>
          <a:xfrm>
            <a:off x="3877930" y="28470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53DDF01E-BA51-FC29-220D-20028C737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243BE4F9-13DB-ED15-AFF5-33DD2DF43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B44300-B5B7-2DC8-925B-758B1B2ED3E6}"/>
                  </a:ext>
                </a:extLst>
              </p:cNvPr>
              <p:cNvSpPr txBox="1"/>
              <p:nvPr/>
            </p:nvSpPr>
            <p:spPr>
              <a:xfrm>
                <a:off x="1959066" y="5601184"/>
                <a:ext cx="827386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>
                  <a:defRPr/>
                </a:pPr>
                <a:r>
                  <a:rPr lang="en-US" b="1" i="1" dirty="0"/>
                  <a:t>Figure 5</a:t>
                </a:r>
                <a:r>
                  <a:rPr kumimoji="0" lang="en-US" sz="14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:  Chassis Tilt Angle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/>
                      <m:t>θ</m:t>
                    </m:r>
                    <m:r>
                      <m:rPr>
                        <m:nor/>
                      </m:rPr>
                      <a:rPr lang="en-US" baseline="-25000" dirty="0"/>
                      <m:t>c</m:t>
                    </m:r>
                  </m:oMath>
                </a14:m>
                <a:r>
                  <a:rPr kumimoji="0" lang="en-US" sz="14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) v/s Time </a:t>
                </a:r>
                <a:r>
                  <a:rPr lang="en-US" b="1" i="1" dirty="0"/>
                  <a:t>Graph from PID Controlled Segway Robot Simulation in MATLAB-SIMULINK </a:t>
                </a:r>
                <a:endParaRPr kumimoji="0" lang="en-IN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B44300-B5B7-2DC8-925B-758B1B2ED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9066" y="5601184"/>
                <a:ext cx="8273867" cy="523220"/>
              </a:xfrm>
              <a:prstGeom prst="rect">
                <a:avLst/>
              </a:prstGeom>
              <a:blipFill>
                <a:blip r:embed="rId5"/>
                <a:stretch>
                  <a:fillRect t="-2326" r="-74" b="-104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4CA96F9D-2649-C42A-8D72-0B0EC272F42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979" b="-1"/>
          <a:stretch>
            <a:fillRect/>
          </a:stretch>
        </p:blipFill>
        <p:spPr>
          <a:xfrm>
            <a:off x="921327" y="662520"/>
            <a:ext cx="10349346" cy="495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75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E2BDF8B-A1AA-7F43-AD6E-64264833B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4D272E48-3FDD-06B8-DD22-1050AF503973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5aa9b09be0_0_25">
            <a:extLst>
              <a:ext uri="{FF2B5EF4-FFF2-40B4-BE49-F238E27FC236}">
                <a16:creationId xmlns:a16="http://schemas.microsoft.com/office/drawing/2014/main" id="{D25172DF-DA69-95EE-E4AF-E8AA88D83566}"/>
              </a:ext>
            </a:extLst>
          </p:cNvPr>
          <p:cNvSpPr txBox="1"/>
          <p:nvPr/>
        </p:nvSpPr>
        <p:spPr>
          <a:xfrm>
            <a:off x="838200" y="3524250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19730640-D776-0695-8A63-7EB5D91A6478}"/>
              </a:ext>
            </a:extLst>
          </p:cNvPr>
          <p:cNvSpPr txBox="1"/>
          <p:nvPr/>
        </p:nvSpPr>
        <p:spPr>
          <a:xfrm>
            <a:off x="3589140" y="-28451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6AE4AEBC-472E-1116-812F-B4F6F4BD7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E18E5A6B-750D-2DF8-A07C-B8274064D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B2F15E7-EB3B-6F16-F355-940D4D92EE55}"/>
                  </a:ext>
                </a:extLst>
              </p:cNvPr>
              <p:cNvSpPr txBox="1"/>
              <p:nvPr/>
            </p:nvSpPr>
            <p:spPr>
              <a:xfrm>
                <a:off x="2361194" y="5512346"/>
                <a:ext cx="690156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>
                  <a:defRPr/>
                </a:pPr>
                <a:r>
                  <a:rPr kumimoji="0" lang="en-US" sz="14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Figure 5:  Control Action/Torque</a:t>
                </a:r>
                <a:r>
                  <a:rPr kumimoji="0" lang="en-US" sz="1400" b="1" i="1" u="none" strike="noStrike" kern="0" cap="none" spc="0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 </a:t>
                </a:r>
                <a:r>
                  <a:rPr kumimoji="0" lang="en-US" sz="14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τ</m:t>
                    </m:r>
                  </m:oMath>
                </a14:m>
                <a:r>
                  <a:rPr kumimoji="0" lang="en-US" sz="14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) v/s Time Graph from PID Controlled Segway Robot Simulation in MATLAB-SIMULINK </a:t>
                </a:r>
                <a:endParaRPr kumimoji="0" lang="en-IN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B2F15E7-EB3B-6F16-F355-940D4D92E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1194" y="5512346"/>
                <a:ext cx="6901560" cy="523220"/>
              </a:xfrm>
              <a:prstGeom prst="rect">
                <a:avLst/>
              </a:prstGeom>
              <a:blipFill>
                <a:blip r:embed="rId5"/>
                <a:stretch>
                  <a:fillRect t="-1163" b="-116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67653392-2F65-DD15-A364-18555C7E5BA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176"/>
          <a:stretch>
            <a:fillRect/>
          </a:stretch>
        </p:blipFill>
        <p:spPr>
          <a:xfrm>
            <a:off x="2361194" y="691754"/>
            <a:ext cx="7095511" cy="478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3016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D1924928-AC04-D436-65AB-B5EDA3BDA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2421C440-50E4-A18D-BD5E-E89D5406044F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5aa9b09be0_0_25">
            <a:extLst>
              <a:ext uri="{FF2B5EF4-FFF2-40B4-BE49-F238E27FC236}">
                <a16:creationId xmlns:a16="http://schemas.microsoft.com/office/drawing/2014/main" id="{FDE871EC-DBCC-641F-AD36-2A47CF0B2E39}"/>
              </a:ext>
            </a:extLst>
          </p:cNvPr>
          <p:cNvSpPr txBox="1"/>
          <p:nvPr/>
        </p:nvSpPr>
        <p:spPr>
          <a:xfrm>
            <a:off x="838200" y="3524250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FFD2C336-D813-6CBF-8A56-3F183FFE8978}"/>
              </a:ext>
            </a:extLst>
          </p:cNvPr>
          <p:cNvSpPr txBox="1"/>
          <p:nvPr/>
        </p:nvSpPr>
        <p:spPr>
          <a:xfrm>
            <a:off x="3873167" y="129368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B0FDE941-84FC-ECBA-3649-8FF352182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F0958F61-B876-18C7-7D78-BD68DEF68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DA48B96-B0F1-ADC3-0F2C-113260728947}"/>
              </a:ext>
            </a:extLst>
          </p:cNvPr>
          <p:cNvSpPr txBox="1"/>
          <p:nvPr/>
        </p:nvSpPr>
        <p:spPr>
          <a:xfrm>
            <a:off x="2113058" y="888917"/>
            <a:ext cx="7965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Video: PID Controlled Segway Robot Simulation in MATLAB-SIMULINK</a:t>
            </a:r>
            <a:endParaRPr kumimoji="0" lang="en-IN" sz="18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Self_Balancing_Robot_Using_PID_Controller_Video">
            <a:hlinkClick r:id="" action="ppaction://media"/>
            <a:extLst>
              <a:ext uri="{FF2B5EF4-FFF2-40B4-BE49-F238E27FC236}">
                <a16:creationId xmlns:a16="http://schemas.microsoft.com/office/drawing/2014/main" id="{CC8B6D93-BC20-D1B3-D7E9-69A2110A7159}"/>
              </a:ext>
            </a:extLst>
          </p:cNvPr>
          <p:cNvPicPr>
            <a:picLocks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675644" y="1336936"/>
            <a:ext cx="8876242" cy="4396207"/>
          </a:xfrm>
          <a:prstGeom prst="rect">
            <a:avLst/>
          </a:prstGeom>
          <a:ln>
            <a:noFill/>
          </a:ln>
          <a:effectLst>
            <a:glow rad="228600">
              <a:srgbClr val="FFFFFF">
                <a:alpha val="40000"/>
              </a:srgbClr>
            </a:glow>
          </a:effectLst>
          <a:scene3d>
            <a:camera prst="orthographicFront"/>
            <a:lightRig rig="threePt" dir="t">
              <a:rot lat="0" lon="0" rev="2100000"/>
            </a:lightRig>
          </a:scene3d>
          <a:sp3d>
            <a:bevelT w="152400" h="101600" prst="slope"/>
          </a:sp3d>
        </p:spPr>
      </p:pic>
    </p:spTree>
    <p:extLst>
      <p:ext uri="{BB962C8B-B14F-4D97-AF65-F5344CB8AC3E}">
        <p14:creationId xmlns:p14="http://schemas.microsoft.com/office/powerpoint/2010/main" val="203613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1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E8D7A94-0775-1A0A-B0CE-AB9C75D7E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02C7A926-48C4-2D83-75DB-684AFDE203A4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5aa9b09be0_0_25">
            <a:extLst>
              <a:ext uri="{FF2B5EF4-FFF2-40B4-BE49-F238E27FC236}">
                <a16:creationId xmlns:a16="http://schemas.microsoft.com/office/drawing/2014/main" id="{6BE3DEB3-68BC-0844-C9EB-E8F9805F8086}"/>
              </a:ext>
            </a:extLst>
          </p:cNvPr>
          <p:cNvSpPr txBox="1"/>
          <p:nvPr/>
        </p:nvSpPr>
        <p:spPr>
          <a:xfrm>
            <a:off x="838200" y="3524250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5aa9b09be0_0_25">
            <a:extLst>
              <a:ext uri="{FF2B5EF4-FFF2-40B4-BE49-F238E27FC236}">
                <a16:creationId xmlns:a16="http://schemas.microsoft.com/office/drawing/2014/main" id="{0E196871-7836-FDE6-2E09-8C00CFB54F83}"/>
              </a:ext>
            </a:extLst>
          </p:cNvPr>
          <p:cNvSpPr txBox="1"/>
          <p:nvPr/>
        </p:nvSpPr>
        <p:spPr>
          <a:xfrm>
            <a:off x="3873167" y="129368"/>
            <a:ext cx="4445665" cy="72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3200" b="1" dirty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A0421099-00A1-9745-C0EA-6C02A89C5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411C8167-EB85-E0CB-1908-2474819AD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BF9259-7908-221A-4424-7627AF5F1FC3}"/>
              </a:ext>
            </a:extLst>
          </p:cNvPr>
          <p:cNvSpPr txBox="1"/>
          <p:nvPr/>
        </p:nvSpPr>
        <p:spPr>
          <a:xfrm>
            <a:off x="676893" y="978941"/>
            <a:ext cx="1083821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800" dirty="0"/>
              <a:t>Mudeng, V., Hassanah, B., Priyanto, Y. T. K., &amp; Saputra, O. (2020). Design and simulation of two-wheeled balancing mobile robot with PID controller. </a:t>
            </a:r>
            <a:r>
              <a:rPr lang="en-IN" sz="1800" i="1" dirty="0"/>
              <a:t>International Journal of Sustainable Transportation Technology, 3</a:t>
            </a:r>
            <a:r>
              <a:rPr lang="en-IN" sz="1800" dirty="0"/>
              <a:t>(1), 12-19.</a:t>
            </a:r>
          </a:p>
          <a:p>
            <a:pPr marL="342900" indent="-342900">
              <a:buFont typeface="+mj-lt"/>
              <a:buAutoNum type="arabicPeriod"/>
            </a:pPr>
            <a:endParaRPr lang="en-IN" sz="1800" dirty="0"/>
          </a:p>
          <a:p>
            <a:pPr marL="342900" indent="-342900">
              <a:buFont typeface="+mj-lt"/>
              <a:buAutoNum type="arabicPeriod"/>
            </a:pPr>
            <a:r>
              <a:rPr lang="en-IN" sz="1800" dirty="0"/>
              <a:t>Putra, L. G. B., Wahab, F., &amp; Tamba, T. A. (2025). Design and implementation of linear quadratic regulator control for two-wheeled self-balancing robot. </a:t>
            </a:r>
            <a:r>
              <a:rPr lang="en-IN" sz="1800" i="1" dirty="0"/>
              <a:t>Bulletin of Electrical Engineering and Informatics, 14</a:t>
            </a:r>
            <a:r>
              <a:rPr lang="en-IN" sz="1800" dirty="0"/>
              <a:t>(2), 931-939.* </a:t>
            </a:r>
            <a:r>
              <a:rPr lang="en-IN" sz="1800" b="1" dirty="0">
                <a:hlinkClick r:id="rId5"/>
              </a:rPr>
              <a:t>https://doi.org/10.11591/eei.v14i2.8689</a:t>
            </a:r>
            <a:endParaRPr lang="en-IN" sz="1800" b="1" dirty="0"/>
          </a:p>
          <a:p>
            <a:pPr marL="342900" indent="-342900">
              <a:buFont typeface="+mj-lt"/>
              <a:buAutoNum type="arabicPeriod"/>
            </a:pPr>
            <a:endParaRPr lang="en-IN" sz="1800" dirty="0"/>
          </a:p>
          <a:p>
            <a:pPr marL="342900" indent="-342900">
              <a:buFont typeface="+mj-lt"/>
              <a:buAutoNum type="arabicPeriod"/>
            </a:pPr>
            <a:r>
              <a:rPr lang="en-IN" sz="1800" dirty="0"/>
              <a:t>Mohammed, I. K., &amp; Abdulla, A. I. (2020). Balancing a Segway robot using LQR controller based on genetic and bacteria foraging optimization algorithms. </a:t>
            </a:r>
            <a:r>
              <a:rPr lang="en-IN" sz="1800" i="1" dirty="0"/>
              <a:t>TELKOMNIKA Telecommunication, Computing, Electronics and Control, 18</a:t>
            </a:r>
            <a:r>
              <a:rPr lang="en-IN" sz="1800" dirty="0"/>
              <a:t>(5), 2642-2653.* </a:t>
            </a:r>
            <a:r>
              <a:rPr lang="en-IN" sz="1800" b="1" dirty="0">
                <a:hlinkClick r:id="rId6"/>
              </a:rPr>
              <a:t>https://doi.org/10.12928/telkomnika.v18i5.14717</a:t>
            </a:r>
            <a:endParaRPr lang="en-IN" sz="1800" b="1" dirty="0"/>
          </a:p>
          <a:p>
            <a:pPr marL="342900" indent="-342900">
              <a:buFont typeface="+mj-lt"/>
              <a:buAutoNum type="arabicPeriod"/>
            </a:pPr>
            <a:endParaRPr lang="en-IN" sz="1800" dirty="0"/>
          </a:p>
          <a:p>
            <a:pPr marL="342900" indent="-342900">
              <a:buFont typeface="+mj-lt"/>
              <a:buAutoNum type="arabicPeriod"/>
            </a:pPr>
            <a:r>
              <a:rPr lang="en-IN" sz="1800" dirty="0"/>
              <a:t>Feriyonika, F., &amp; Hidayat, A. (2020). Balancing control of two-wheeled robot by using linear quadratic Gaussian (LQG). </a:t>
            </a:r>
            <a:r>
              <a:rPr lang="en-IN" sz="1800" i="1" dirty="0"/>
              <a:t>Journal of Telecommunication, Electronic and Computer Engineering, 12</a:t>
            </a:r>
            <a:r>
              <a:rPr lang="en-IN" sz="1800" dirty="0"/>
              <a:t>(3), 55-61.</a:t>
            </a:r>
          </a:p>
          <a:p>
            <a:pPr marL="342900" indent="-342900">
              <a:buFont typeface="+mj-lt"/>
              <a:buAutoNum type="arabicPeriod"/>
            </a:pPr>
            <a:endParaRPr lang="en-IN" sz="1800" dirty="0"/>
          </a:p>
          <a:p>
            <a:pPr marL="342900" indent="-342900">
              <a:buFont typeface="+mj-lt"/>
              <a:buAutoNum type="arabicPeriod"/>
            </a:pPr>
            <a:r>
              <a:rPr lang="en-IN" sz="1800" dirty="0"/>
              <a:t>Burkan, R., &amp; Ozguney, O. (2017). Balance control of Segway robots using adaptive-robust controller. </a:t>
            </a:r>
            <a:r>
              <a:rPr lang="en-IN" sz="1800" i="1" dirty="0"/>
              <a:t>International Scientific Journal Industry 4.0, 2</a:t>
            </a:r>
            <a:r>
              <a:rPr lang="en-IN" sz="1800" dirty="0"/>
              <a:t>(1), 38-41.</a:t>
            </a:r>
          </a:p>
        </p:txBody>
      </p:sp>
    </p:spTree>
    <p:extLst>
      <p:ext uri="{BB962C8B-B14F-4D97-AF65-F5344CB8AC3E}">
        <p14:creationId xmlns:p14="http://schemas.microsoft.com/office/powerpoint/2010/main" val="33841314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10;g35aa9b09be0_0_25" descr="A picture containing screenshot, line, plot&#10;&#10;Description automatically generated">
            <a:extLst>
              <a:ext uri="{FF2B5EF4-FFF2-40B4-BE49-F238E27FC236}">
                <a16:creationId xmlns:a16="http://schemas.microsoft.com/office/drawing/2014/main" id="{6A082A04-F2BF-8DE7-3BFB-DEB47A643C28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2">
            <a:alphaModFix/>
          </a:blip>
          <a:srcRect t="1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95A79E-A258-7EC9-09CB-8547BA16668D}"/>
              </a:ext>
            </a:extLst>
          </p:cNvPr>
          <p:cNvSpPr txBox="1"/>
          <p:nvPr/>
        </p:nvSpPr>
        <p:spPr>
          <a:xfrm>
            <a:off x="3904343" y="2413337"/>
            <a:ext cx="43833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Algerian" panose="04020705040A02060702" pitchFamily="82" charset="0"/>
              </a:rPr>
              <a:t>Thank You</a:t>
            </a:r>
            <a:endParaRPr lang="en-IN" sz="6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322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1601</TotalTime>
  <Words>1664</Words>
  <Application>Microsoft Office PowerPoint</Application>
  <PresentationFormat>Widescreen</PresentationFormat>
  <Paragraphs>181</Paragraphs>
  <Slides>19</Slides>
  <Notes>17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Algerian</vt:lpstr>
      <vt:lpstr>Arial</vt:lpstr>
      <vt:lpstr>Calibri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Sukeshi Parnami</dc:creator>
  <cp:lastModifiedBy>Pritam Kalita</cp:lastModifiedBy>
  <cp:revision>9</cp:revision>
  <dcterms:created xsi:type="dcterms:W3CDTF">2023-06-27T05:32:28Z</dcterms:created>
  <dcterms:modified xsi:type="dcterms:W3CDTF">2025-11-13T05:20:25Z</dcterms:modified>
</cp:coreProperties>
</file>